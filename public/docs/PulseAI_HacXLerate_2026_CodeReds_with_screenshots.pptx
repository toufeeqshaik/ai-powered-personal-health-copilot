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Opening. Introduce the team and the project: PulseAI, an AI-powered Personal Health Copilot built for the HacXLerate 2026 Altrix Labs HealthTech challenge. One-line pitch: it turns confusing medical documents into plain-language, ABDM-ready records. Replace the bracketed placeholders with your team name and member names.</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The screenshot is the live PulseAI dashboard overview.</a:t>
            </a:r>
            <a:endParaRPr/>
          </a:p>
        </p:txBody>
      </p:sp>
      <p:sp>
        <p:nvSpPr>
          <p:cNvPr id="28" name="Google Shape;2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 name="Google Shape;4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problem: health information is fragmented across lab tests, discharge summaries and handwritten prescriptions. It is written for clinicians, often not in the patient's language, and there is no single longitudinal view. This is the communication gap between medical documentation and patient understanding.</a:t>
            </a:r>
            <a:endParaRPr/>
          </a:p>
        </p:txBody>
      </p:sp>
      <p:sp>
        <p:nvSpPr>
          <p:cNvPr id="50" name="Google Shape;5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The solution in four steps: Upload, Extract, Explain, Act. Patients upload a report, Gemini vision extracts the structured data, the app explains it in plain language in English, Hindi, Telugu or Tamil, and then the patient can act on it through the timeline, triage, chat and FHIR export.</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Under the hood (pipeline): Follow one record end to end. 1) The patient drops in a PDF, JPEG or PNG, up to 4 MB. 2) POST /api/process-record parses the multipart form and stores the file in a private Supabase bucket. 3) Gemini vision extracts the summary, medicines, test values with abnormal flags, and diagnoses, in the language the user selected. 4) The structured result is saved in the health_timeline table as JSONB. 5) The UI shows it on the timeline with plain-language explanations, and offers FHIR export and a printable summary. If Gemini is not configured, uploads are saved for manual review rather than faking results.</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Screenshots, left to right: Health Records (upload), Medications (extracted medicines), Copilot Chat (plain-language explanation), Emergency Triage (act).</a:t>
            </a:r>
            <a:endParaRPr/>
          </a:p>
        </p:txBody>
      </p:sp>
      <p:sp>
        <p:nvSpPr>
          <p:cNvPr id="82" name="Google Shape;8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Six capabilities, mapped directly to the challenge scope: record upload and extraction, plain-language summaries, a unified profile and timeline, regional language support, ABDM/FHIR export, and interactive demo modules (emergency triage, medication adherence, wearable simulation, chat and a printable summary).</a:t>
            </a:r>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Screenshots: unified records with lab trends (top) and device sync (bottom).</a:t>
            </a:r>
            <a:endParaRPr/>
          </a:p>
        </p:txBody>
      </p:sp>
      <p:sp>
        <p:nvSpPr>
          <p:cNvPr id="117" name="Google Shape;11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Walk top to bottom. The patient uses a web or mobile PWA view with three entry points: drag-and-drop upload, the Copilot chat dock, and emergency triage and sync. Requests go over HTTPS to the Next.js 16 API router, which exposes three routes: process-record, chat and translate. Behind it sit Supabase Storage (private bucket), PostgreSQL with the health_timeline JSONB table, Google Gemini for multimodal OCR and chat, and the client-side localization engine for English, Hindi, Telugu and Tamil.</a:t>
            </a:r>
            <a:endParaRPr/>
          </a:p>
        </p:txBody>
      </p:sp>
      <p:sp>
        <p:nvSpPr>
          <p:cNvPr id="156" name="Google Shape;15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Three REST endpoints. process-record takes a multipart file and returns the saved record with AI summary and structured data. chat takes a message, history and an optional base64 image. translate converts summaries into Hindi, Telugu or Tamil. Records live in a health_timeline PostgreSQL table where the fhir_data JSONB column holds the structured extraction. The FHIR export is a client-side JSON Bundle with Patient/ABHA, MedicationRequest, Observation and DiagnosticReport resources.</a:t>
            </a:r>
            <a:endParaRPr/>
          </a:p>
        </p:txBody>
      </p:sp>
      <p:sp>
        <p:nvSpPr>
          <p:cNvPr id="217" name="Google Shape;21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stack: Next.js 16 with TypeScript and Turbopack for the UI and API routes, Google Gemini 3.8 Flash for multimodal extraction, summaries and chat, Supabase for PostgreSQL and private storage, ABDM FHIR R4 as the interoperability standard, and Vercel for deployment. The dashboard demo and offline chat work even without external credentials.</a:t>
            </a:r>
            <a:endParaRPr/>
          </a:p>
        </p:txBody>
      </p:sp>
      <p:sp>
        <p:nvSpPr>
          <p:cNvPr id="258" name="Google Shape;25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Trust matters in health tech. Records are stored in a private bucket and shared only via time-limited signed links. Service keys stay server-side. PulseAI never diagnoses or changes prescriptions and escalates emergencies to 112/108. When AI or database credentials are missing, it fails truthfully. Be upfront about prototype scope: device readings are simulated, ABHA is a mock ID, and there is no live ABDM gateway connection yet.</a:t>
            </a:r>
            <a:endParaRPr/>
          </a:p>
        </p:txBody>
      </p:sp>
      <p:sp>
        <p:nvSpPr>
          <p:cNvPr id="301" name="Google Shape;30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Close with what's next: connect to a real ABDM gateway, replace simulated device readings with live sync, and add a direct-to-storage upload flow for larger files. Point judges to the live demo and the GitHub repository, then open for questions. Replace the bracketed placeholders with your names.</a:t>
            </a:r>
            <a:endParaRPr/>
          </a:p>
        </p:txBody>
      </p:sp>
      <p:sp>
        <p:nvSpPr>
          <p:cNvPr id="333" name="Google Shape;33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_DARK">
  <p:cSld name="TITLE_DARK">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731520" y="1417320"/>
            <a:ext cx="7498080" cy="118872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6600"/>
              <a:buFont typeface="Calibri"/>
              <a:buNone/>
              <a:defRPr sz="66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
          <p:cNvSpPr txBox="1">
            <a:spLocks noGrp="1"/>
          </p:cNvSpPr>
          <p:nvPr>
            <p:ph type="body" idx="1"/>
          </p:nvPr>
        </p:nvSpPr>
        <p:spPr>
          <a:xfrm>
            <a:off x="731520" y="2697480"/>
            <a:ext cx="7498080" cy="54864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560"/>
              </a:spcBef>
              <a:spcAft>
                <a:spcPts val="0"/>
              </a:spcAft>
              <a:buClr>
                <a:schemeClr val="accent3"/>
              </a:buClr>
              <a:buSzPts val="2800"/>
              <a:buFont typeface="Arial"/>
              <a:buNone/>
              <a:defRPr sz="2800" b="0" i="0" u="none" strike="noStrike" cap="none">
                <a:solidFill>
                  <a:schemeClr val="accent3"/>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ODY_WHITE">
  <p:cSld name="BODY_WHITE">
    <p:bg>
      <p:bgPr>
        <a:blipFill>
          <a:blip r:embed="rId2">
            <a:alphaModFix/>
          </a:blip>
          <a:stretch>
            <a:fillRect/>
          </a:stretch>
        </a:blip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548640" y="365760"/>
            <a:ext cx="11064240" cy="8229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3"/>
          <p:cNvSpPr/>
          <p:nvPr/>
        </p:nvSpPr>
        <p:spPr>
          <a:xfrm>
            <a:off x="548640" y="6400800"/>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F8F7F"/>
              </a:buClr>
              <a:buSzPts val="1100"/>
              <a:buFont typeface="Calibri"/>
              <a:buNone/>
            </a:pPr>
            <a:r>
              <a:rPr lang="en-US" sz="1100" b="0" i="0" u="none" strike="noStrike" cap="none">
                <a:solidFill>
                  <a:srgbClr val="6F8F7F"/>
                </a:solidFill>
                <a:latin typeface="Calibri"/>
                <a:ea typeface="Calibri"/>
                <a:cs typeface="Calibri"/>
                <a:sym typeface="Calibri"/>
              </a:rPr>
              <a:t>PulseAI  |  HacXLerate 2026</a:t>
            </a:r>
            <a:endParaRPr sz="1100" b="0" i="0" u="none" strike="noStrike" cap="none">
              <a:solidFill>
                <a:schemeClr val="dk1"/>
              </a:solidFill>
              <a:latin typeface="Calibri"/>
              <a:ea typeface="Calibri"/>
              <a:cs typeface="Calibri"/>
              <a:sym typeface="Calibri"/>
            </a:endParaRPr>
          </a:p>
        </p:txBody>
      </p:sp>
      <p:sp>
        <p:nvSpPr>
          <p:cNvPr id="17" name="Google Shape;17;p3"/>
          <p:cNvSpPr txBox="1">
            <a:spLocks noGrp="1"/>
          </p:cNvSpPr>
          <p:nvPr>
            <p:ph type="sldNum" idx="12"/>
          </p:nvPr>
        </p:nvSpPr>
        <p:spPr>
          <a:xfrm>
            <a:off x="11064240" y="6400800"/>
            <a:ext cx="548640" cy="27432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100" b="0" i="0" u="none" strike="noStrike" cap="none">
                <a:solidFill>
                  <a:srgbClr val="6F8F7F"/>
                </a:solidFill>
                <a:latin typeface="Calibri"/>
                <a:ea typeface="Calibri"/>
                <a:cs typeface="Calibri"/>
                <a:sym typeface="Calibri"/>
              </a:defRPr>
            </a:lvl1pPr>
            <a:lvl2pPr marL="0" marR="0" lvl="1" indent="0" algn="r">
              <a:spcBef>
                <a:spcPts val="0"/>
              </a:spcBef>
              <a:buNone/>
              <a:defRPr sz="1100" b="0" i="0" u="none" strike="noStrike" cap="none">
                <a:solidFill>
                  <a:srgbClr val="6F8F7F"/>
                </a:solidFill>
                <a:latin typeface="Calibri"/>
                <a:ea typeface="Calibri"/>
                <a:cs typeface="Calibri"/>
                <a:sym typeface="Calibri"/>
              </a:defRPr>
            </a:lvl2pPr>
            <a:lvl3pPr marL="0" marR="0" lvl="2" indent="0" algn="r">
              <a:spcBef>
                <a:spcPts val="0"/>
              </a:spcBef>
              <a:buNone/>
              <a:defRPr sz="1100" b="0" i="0" u="none" strike="noStrike" cap="none">
                <a:solidFill>
                  <a:srgbClr val="6F8F7F"/>
                </a:solidFill>
                <a:latin typeface="Calibri"/>
                <a:ea typeface="Calibri"/>
                <a:cs typeface="Calibri"/>
                <a:sym typeface="Calibri"/>
              </a:defRPr>
            </a:lvl3pPr>
            <a:lvl4pPr marL="0" marR="0" lvl="3" indent="0" algn="r">
              <a:spcBef>
                <a:spcPts val="0"/>
              </a:spcBef>
              <a:buNone/>
              <a:defRPr sz="1100" b="0" i="0" u="none" strike="noStrike" cap="none">
                <a:solidFill>
                  <a:srgbClr val="6F8F7F"/>
                </a:solidFill>
                <a:latin typeface="Calibri"/>
                <a:ea typeface="Calibri"/>
                <a:cs typeface="Calibri"/>
                <a:sym typeface="Calibri"/>
              </a:defRPr>
            </a:lvl4pPr>
            <a:lvl5pPr marL="0" marR="0" lvl="4" indent="0" algn="r">
              <a:spcBef>
                <a:spcPts val="0"/>
              </a:spcBef>
              <a:buNone/>
              <a:defRPr sz="1100" b="0" i="0" u="none" strike="noStrike" cap="none">
                <a:solidFill>
                  <a:srgbClr val="6F8F7F"/>
                </a:solidFill>
                <a:latin typeface="Calibri"/>
                <a:ea typeface="Calibri"/>
                <a:cs typeface="Calibri"/>
                <a:sym typeface="Calibri"/>
              </a:defRPr>
            </a:lvl5pPr>
            <a:lvl6pPr marL="0" marR="0" lvl="5" indent="0" algn="r">
              <a:spcBef>
                <a:spcPts val="0"/>
              </a:spcBef>
              <a:buNone/>
              <a:defRPr sz="1100" b="0" i="0" u="none" strike="noStrike" cap="none">
                <a:solidFill>
                  <a:srgbClr val="6F8F7F"/>
                </a:solidFill>
                <a:latin typeface="Calibri"/>
                <a:ea typeface="Calibri"/>
                <a:cs typeface="Calibri"/>
                <a:sym typeface="Calibri"/>
              </a:defRPr>
            </a:lvl6pPr>
            <a:lvl7pPr marL="0" marR="0" lvl="6" indent="0" algn="r">
              <a:spcBef>
                <a:spcPts val="0"/>
              </a:spcBef>
              <a:buNone/>
              <a:defRPr sz="1100" b="0" i="0" u="none" strike="noStrike" cap="none">
                <a:solidFill>
                  <a:srgbClr val="6F8F7F"/>
                </a:solidFill>
                <a:latin typeface="Calibri"/>
                <a:ea typeface="Calibri"/>
                <a:cs typeface="Calibri"/>
                <a:sym typeface="Calibri"/>
              </a:defRPr>
            </a:lvl7pPr>
            <a:lvl8pPr marL="0" marR="0" lvl="7" indent="0" algn="r">
              <a:spcBef>
                <a:spcPts val="0"/>
              </a:spcBef>
              <a:buNone/>
              <a:defRPr sz="1100" b="0" i="0" u="none" strike="noStrike" cap="none">
                <a:solidFill>
                  <a:srgbClr val="6F8F7F"/>
                </a:solidFill>
                <a:latin typeface="Calibri"/>
                <a:ea typeface="Calibri"/>
                <a:cs typeface="Calibri"/>
                <a:sym typeface="Calibri"/>
              </a:defRPr>
            </a:lvl8pPr>
            <a:lvl9pPr marL="0" marR="0" lvl="8" indent="0" algn="r">
              <a:spcBef>
                <a:spcPts val="0"/>
              </a:spcBef>
              <a:buNone/>
              <a:defRPr sz="1100" b="0" i="0" u="none" strike="noStrike" cap="none">
                <a:solidFill>
                  <a:srgbClr val="6F8F7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ODY_TINT">
  <p:cSld name="BODY_TINT">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548640" y="365760"/>
            <a:ext cx="11064240" cy="8229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4"/>
          <p:cNvSpPr/>
          <p:nvPr/>
        </p:nvSpPr>
        <p:spPr>
          <a:xfrm>
            <a:off x="548640" y="6400800"/>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F8F7F"/>
              </a:buClr>
              <a:buSzPts val="1100"/>
              <a:buFont typeface="Calibri"/>
              <a:buNone/>
            </a:pPr>
            <a:r>
              <a:rPr lang="en-US" sz="1100" b="0" i="0" u="none" strike="noStrike" cap="none">
                <a:solidFill>
                  <a:srgbClr val="6F8F7F"/>
                </a:solidFill>
                <a:latin typeface="Calibri"/>
                <a:ea typeface="Calibri"/>
                <a:cs typeface="Calibri"/>
                <a:sym typeface="Calibri"/>
              </a:rPr>
              <a:t>PulseAI  |  HacXLerate 2026</a:t>
            </a:r>
            <a:endParaRPr sz="1100" b="0" i="0" u="none" strike="noStrike" cap="none">
              <a:solidFill>
                <a:schemeClr val="dk1"/>
              </a:solidFill>
              <a:latin typeface="Calibri"/>
              <a:ea typeface="Calibri"/>
              <a:cs typeface="Calibri"/>
              <a:sym typeface="Calibri"/>
            </a:endParaRPr>
          </a:p>
        </p:txBody>
      </p:sp>
      <p:sp>
        <p:nvSpPr>
          <p:cNvPr id="21" name="Google Shape;21;p4"/>
          <p:cNvSpPr txBox="1">
            <a:spLocks noGrp="1"/>
          </p:cNvSpPr>
          <p:nvPr>
            <p:ph type="sldNum" idx="12"/>
          </p:nvPr>
        </p:nvSpPr>
        <p:spPr>
          <a:xfrm>
            <a:off x="11064240" y="6400800"/>
            <a:ext cx="548640" cy="27432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100" b="0" i="0" u="none" strike="noStrike" cap="none">
                <a:solidFill>
                  <a:srgbClr val="6F8F7F"/>
                </a:solidFill>
                <a:latin typeface="Calibri"/>
                <a:ea typeface="Calibri"/>
                <a:cs typeface="Calibri"/>
                <a:sym typeface="Calibri"/>
              </a:defRPr>
            </a:lvl1pPr>
            <a:lvl2pPr marL="0" marR="0" lvl="1" indent="0" algn="r">
              <a:spcBef>
                <a:spcPts val="0"/>
              </a:spcBef>
              <a:buNone/>
              <a:defRPr sz="1100" b="0" i="0" u="none" strike="noStrike" cap="none">
                <a:solidFill>
                  <a:srgbClr val="6F8F7F"/>
                </a:solidFill>
                <a:latin typeface="Calibri"/>
                <a:ea typeface="Calibri"/>
                <a:cs typeface="Calibri"/>
                <a:sym typeface="Calibri"/>
              </a:defRPr>
            </a:lvl2pPr>
            <a:lvl3pPr marL="0" marR="0" lvl="2" indent="0" algn="r">
              <a:spcBef>
                <a:spcPts val="0"/>
              </a:spcBef>
              <a:buNone/>
              <a:defRPr sz="1100" b="0" i="0" u="none" strike="noStrike" cap="none">
                <a:solidFill>
                  <a:srgbClr val="6F8F7F"/>
                </a:solidFill>
                <a:latin typeface="Calibri"/>
                <a:ea typeface="Calibri"/>
                <a:cs typeface="Calibri"/>
                <a:sym typeface="Calibri"/>
              </a:defRPr>
            </a:lvl3pPr>
            <a:lvl4pPr marL="0" marR="0" lvl="3" indent="0" algn="r">
              <a:spcBef>
                <a:spcPts val="0"/>
              </a:spcBef>
              <a:buNone/>
              <a:defRPr sz="1100" b="0" i="0" u="none" strike="noStrike" cap="none">
                <a:solidFill>
                  <a:srgbClr val="6F8F7F"/>
                </a:solidFill>
                <a:latin typeface="Calibri"/>
                <a:ea typeface="Calibri"/>
                <a:cs typeface="Calibri"/>
                <a:sym typeface="Calibri"/>
              </a:defRPr>
            </a:lvl4pPr>
            <a:lvl5pPr marL="0" marR="0" lvl="4" indent="0" algn="r">
              <a:spcBef>
                <a:spcPts val="0"/>
              </a:spcBef>
              <a:buNone/>
              <a:defRPr sz="1100" b="0" i="0" u="none" strike="noStrike" cap="none">
                <a:solidFill>
                  <a:srgbClr val="6F8F7F"/>
                </a:solidFill>
                <a:latin typeface="Calibri"/>
                <a:ea typeface="Calibri"/>
                <a:cs typeface="Calibri"/>
                <a:sym typeface="Calibri"/>
              </a:defRPr>
            </a:lvl5pPr>
            <a:lvl6pPr marL="0" marR="0" lvl="5" indent="0" algn="r">
              <a:spcBef>
                <a:spcPts val="0"/>
              </a:spcBef>
              <a:buNone/>
              <a:defRPr sz="1100" b="0" i="0" u="none" strike="noStrike" cap="none">
                <a:solidFill>
                  <a:srgbClr val="6F8F7F"/>
                </a:solidFill>
                <a:latin typeface="Calibri"/>
                <a:ea typeface="Calibri"/>
                <a:cs typeface="Calibri"/>
                <a:sym typeface="Calibri"/>
              </a:defRPr>
            </a:lvl6pPr>
            <a:lvl7pPr marL="0" marR="0" lvl="6" indent="0" algn="r">
              <a:spcBef>
                <a:spcPts val="0"/>
              </a:spcBef>
              <a:buNone/>
              <a:defRPr sz="1100" b="0" i="0" u="none" strike="noStrike" cap="none">
                <a:solidFill>
                  <a:srgbClr val="6F8F7F"/>
                </a:solidFill>
                <a:latin typeface="Calibri"/>
                <a:ea typeface="Calibri"/>
                <a:cs typeface="Calibri"/>
                <a:sym typeface="Calibri"/>
              </a:defRPr>
            </a:lvl7pPr>
            <a:lvl8pPr marL="0" marR="0" lvl="7" indent="0" algn="r">
              <a:spcBef>
                <a:spcPts val="0"/>
              </a:spcBef>
              <a:buNone/>
              <a:defRPr sz="1100" b="0" i="0" u="none" strike="noStrike" cap="none">
                <a:solidFill>
                  <a:srgbClr val="6F8F7F"/>
                </a:solidFill>
                <a:latin typeface="Calibri"/>
                <a:ea typeface="Calibri"/>
                <a:cs typeface="Calibri"/>
                <a:sym typeface="Calibri"/>
              </a:defRPr>
            </a:lvl8pPr>
            <a:lvl9pPr marL="0" marR="0" lvl="8" indent="0" algn="r">
              <a:spcBef>
                <a:spcPts val="0"/>
              </a:spcBef>
              <a:buNone/>
              <a:defRPr sz="1100" b="0" i="0" u="none" strike="noStrike" cap="none">
                <a:solidFill>
                  <a:srgbClr val="6F8F7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LOSING_DARK">
  <p:cSld name="CLOSING_DARK">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731520" y="457200"/>
            <a:ext cx="10698480" cy="100584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4800"/>
              <a:buFont typeface="Calibri"/>
              <a:buNone/>
              <a:defRPr sz="48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0" name="Google Shape;10;p1"/>
          <p:cNvSpPr txBox="1">
            <a:spLocks noGrp="1"/>
          </p:cNvSpPr>
          <p:nvPr>
            <p:ph type="sldNum" idx="12"/>
          </p:nvPr>
        </p:nvSpPr>
        <p:spPr>
          <a:xfrm>
            <a:off x="11064240" y="6400800"/>
            <a:ext cx="548640" cy="2743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100" b="0" i="0" u="none" strike="noStrike" cap="none">
                <a:solidFill>
                  <a:srgbClr val="6F8F7F"/>
                </a:solidFill>
                <a:latin typeface="Calibri"/>
                <a:ea typeface="Calibri"/>
                <a:cs typeface="Calibri"/>
                <a:sym typeface="Calibri"/>
              </a:defRPr>
            </a:lvl1pPr>
            <a:lvl2pPr marL="0" marR="0" lvl="1" indent="0" algn="r" rtl="0">
              <a:spcBef>
                <a:spcPts val="0"/>
              </a:spcBef>
              <a:buNone/>
              <a:defRPr sz="1100" b="0" i="0" u="none" strike="noStrike" cap="none">
                <a:solidFill>
                  <a:srgbClr val="6F8F7F"/>
                </a:solidFill>
                <a:latin typeface="Calibri"/>
                <a:ea typeface="Calibri"/>
                <a:cs typeface="Calibri"/>
                <a:sym typeface="Calibri"/>
              </a:defRPr>
            </a:lvl2pPr>
            <a:lvl3pPr marL="0" marR="0" lvl="2" indent="0" algn="r" rtl="0">
              <a:spcBef>
                <a:spcPts val="0"/>
              </a:spcBef>
              <a:buNone/>
              <a:defRPr sz="1100" b="0" i="0" u="none" strike="noStrike" cap="none">
                <a:solidFill>
                  <a:srgbClr val="6F8F7F"/>
                </a:solidFill>
                <a:latin typeface="Calibri"/>
                <a:ea typeface="Calibri"/>
                <a:cs typeface="Calibri"/>
                <a:sym typeface="Calibri"/>
              </a:defRPr>
            </a:lvl3pPr>
            <a:lvl4pPr marL="0" marR="0" lvl="3" indent="0" algn="r" rtl="0">
              <a:spcBef>
                <a:spcPts val="0"/>
              </a:spcBef>
              <a:buNone/>
              <a:defRPr sz="1100" b="0" i="0" u="none" strike="noStrike" cap="none">
                <a:solidFill>
                  <a:srgbClr val="6F8F7F"/>
                </a:solidFill>
                <a:latin typeface="Calibri"/>
                <a:ea typeface="Calibri"/>
                <a:cs typeface="Calibri"/>
                <a:sym typeface="Calibri"/>
              </a:defRPr>
            </a:lvl4pPr>
            <a:lvl5pPr marL="0" marR="0" lvl="4" indent="0" algn="r" rtl="0">
              <a:spcBef>
                <a:spcPts val="0"/>
              </a:spcBef>
              <a:buNone/>
              <a:defRPr sz="1100" b="0" i="0" u="none" strike="noStrike" cap="none">
                <a:solidFill>
                  <a:srgbClr val="6F8F7F"/>
                </a:solidFill>
                <a:latin typeface="Calibri"/>
                <a:ea typeface="Calibri"/>
                <a:cs typeface="Calibri"/>
                <a:sym typeface="Calibri"/>
              </a:defRPr>
            </a:lvl5pPr>
            <a:lvl6pPr marL="0" marR="0" lvl="5" indent="0" algn="r" rtl="0">
              <a:spcBef>
                <a:spcPts val="0"/>
              </a:spcBef>
              <a:buNone/>
              <a:defRPr sz="1100" b="0" i="0" u="none" strike="noStrike" cap="none">
                <a:solidFill>
                  <a:srgbClr val="6F8F7F"/>
                </a:solidFill>
                <a:latin typeface="Calibri"/>
                <a:ea typeface="Calibri"/>
                <a:cs typeface="Calibri"/>
                <a:sym typeface="Calibri"/>
              </a:defRPr>
            </a:lvl6pPr>
            <a:lvl7pPr marL="0" marR="0" lvl="6" indent="0" algn="r" rtl="0">
              <a:spcBef>
                <a:spcPts val="0"/>
              </a:spcBef>
              <a:buNone/>
              <a:defRPr sz="1100" b="0" i="0" u="none" strike="noStrike" cap="none">
                <a:solidFill>
                  <a:srgbClr val="6F8F7F"/>
                </a:solidFill>
                <a:latin typeface="Calibri"/>
                <a:ea typeface="Calibri"/>
                <a:cs typeface="Calibri"/>
                <a:sym typeface="Calibri"/>
              </a:defRPr>
            </a:lvl7pPr>
            <a:lvl8pPr marL="0" marR="0" lvl="7" indent="0" algn="r" rtl="0">
              <a:spcBef>
                <a:spcPts val="0"/>
              </a:spcBef>
              <a:buNone/>
              <a:defRPr sz="1100" b="0" i="0" u="none" strike="noStrike" cap="none">
                <a:solidFill>
                  <a:srgbClr val="6F8F7F"/>
                </a:solidFill>
                <a:latin typeface="Calibri"/>
                <a:ea typeface="Calibri"/>
                <a:cs typeface="Calibri"/>
                <a:sym typeface="Calibri"/>
              </a:defRPr>
            </a:lvl8pPr>
            <a:lvl9pPr marL="0" marR="0" lvl="8" indent="0" algn="r" rtl="0">
              <a:spcBef>
                <a:spcPts val="0"/>
              </a:spcBef>
              <a:buNone/>
              <a:defRPr sz="1100" b="0" i="0" u="none" strike="noStrike" cap="none">
                <a:solidFill>
                  <a:srgbClr val="6F8F7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1.png"/><Relationship Id="rId7"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9.png"/><Relationship Id="rId10" Type="http://schemas.openxmlformats.org/officeDocument/2006/relationships/image" Target="../media/image17.jpg"/><Relationship Id="rId4" Type="http://schemas.openxmlformats.org/officeDocument/2006/relationships/image" Target="../media/image12.png"/><Relationship Id="rId9" Type="http://schemas.openxmlformats.org/officeDocument/2006/relationships/image" Target="../media/image16.jp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10" Type="http://schemas.openxmlformats.org/officeDocument/2006/relationships/image" Target="../media/image23.jpg"/><Relationship Id="rId4" Type="http://schemas.openxmlformats.org/officeDocument/2006/relationships/image" Target="../media/image19.png"/><Relationship Id="rId9" Type="http://schemas.openxmlformats.org/officeDocument/2006/relationships/image" Target="../media/image22.jp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1.png"/><Relationship Id="rId4" Type="http://schemas.openxmlformats.org/officeDocument/2006/relationships/image" Target="../media/image25.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0.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hyperlink" Target="https://github.com/Toufeeqshaik/AI-Powered-Personal-Health-Copilot"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hyperlink" Target="https://ai-powered-personal-health-copilot-sigma.vercel.app" TargetMode="External"/><Relationship Id="rId5" Type="http://schemas.openxmlformats.org/officeDocument/2006/relationships/image" Target="../media/image24.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7"/>
          <p:cNvSpPr txBox="1"/>
          <p:nvPr/>
        </p:nvSpPr>
        <p:spPr>
          <a:xfrm>
            <a:off x="731520" y="914400"/>
            <a:ext cx="78638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400" b="1" i="0" u="none" strike="noStrike" cap="none" spc="300">
                <a:solidFill>
                  <a:schemeClr val="accent2"/>
                </a:solidFill>
                <a:latin typeface="Calibri"/>
                <a:ea typeface="Calibri"/>
                <a:cs typeface="Calibri"/>
                <a:sym typeface="Calibri"/>
              </a:rPr>
              <a:t>HACXLERATE 2026  |  ALTRIX LABS HEALTHTECH CHALLENGE</a:t>
            </a:r>
            <a:endParaRPr sz="1400" b="0" i="0" u="none" strike="noStrike" cap="none">
              <a:solidFill>
                <a:schemeClr val="dk1"/>
              </a:solidFill>
              <a:latin typeface="Calibri"/>
              <a:ea typeface="Calibri"/>
              <a:cs typeface="Calibri"/>
              <a:sym typeface="Calibri"/>
            </a:endParaRPr>
          </a:p>
        </p:txBody>
      </p:sp>
      <p:sp>
        <p:nvSpPr>
          <p:cNvPr id="31" name="Google Shape;31;p7"/>
          <p:cNvSpPr txBox="1">
            <a:spLocks noGrp="1"/>
          </p:cNvSpPr>
          <p:nvPr>
            <p:ph type="title"/>
          </p:nvPr>
        </p:nvSpPr>
        <p:spPr>
          <a:xfrm>
            <a:off x="731520" y="1417320"/>
            <a:ext cx="7498080" cy="118872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6600"/>
              <a:buFont typeface="Calibri"/>
              <a:buNone/>
            </a:pPr>
            <a:r>
              <a:rPr lang="en-US" sz="6600" b="1">
                <a:solidFill>
                  <a:schemeClr val="dk1"/>
                </a:solidFill>
              </a:rPr>
              <a:t>PulseAI</a:t>
            </a:r>
            <a:endParaRPr sz="6600"/>
          </a:p>
        </p:txBody>
      </p:sp>
      <p:sp>
        <p:nvSpPr>
          <p:cNvPr id="32" name="Google Shape;32;p7"/>
          <p:cNvSpPr txBox="1">
            <a:spLocks noGrp="1"/>
          </p:cNvSpPr>
          <p:nvPr>
            <p:ph type="body" idx="1"/>
          </p:nvPr>
        </p:nvSpPr>
        <p:spPr>
          <a:xfrm>
            <a:off x="731520" y="2697480"/>
            <a:ext cx="7498080" cy="54864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3"/>
              </a:buClr>
              <a:buSzPts val="2800"/>
              <a:buNone/>
            </a:pPr>
            <a:r>
              <a:rPr lang="en-US" sz="2800">
                <a:solidFill>
                  <a:schemeClr val="accent3"/>
                </a:solidFill>
              </a:rPr>
              <a:t>Your AI-powered Personal Health Copilot</a:t>
            </a:r>
            <a:endParaRPr sz="2800"/>
          </a:p>
        </p:txBody>
      </p:sp>
      <p:sp>
        <p:nvSpPr>
          <p:cNvPr id="33" name="Google Shape;33;p7"/>
          <p:cNvSpPr txBox="1"/>
          <p:nvPr/>
        </p:nvSpPr>
        <p:spPr>
          <a:xfrm>
            <a:off x="731520" y="3474720"/>
            <a:ext cx="694944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3EBDD"/>
              </a:buClr>
              <a:buSzPts val="1800"/>
              <a:buFont typeface="Calibri"/>
              <a:buNone/>
            </a:pPr>
            <a:r>
              <a:rPr lang="en-US" sz="1800" b="0" i="0" u="none" strike="noStrike" cap="none">
                <a:solidFill>
                  <a:srgbClr val="D3EBDD"/>
                </a:solidFill>
                <a:latin typeface="Calibri"/>
                <a:ea typeface="Calibri"/>
                <a:cs typeface="Calibri"/>
                <a:sym typeface="Calibri"/>
              </a:rPr>
              <a:t>Turning lab reports, discharge summaries and handwritten prescriptions into plain-language, ABDM-ready health records.</a:t>
            </a:r>
            <a:endParaRPr sz="1800" b="0" i="0" u="none" strike="noStrike" cap="none">
              <a:solidFill>
                <a:schemeClr val="dk1"/>
              </a:solidFill>
              <a:latin typeface="Calibri"/>
              <a:ea typeface="Calibri"/>
              <a:cs typeface="Calibri"/>
              <a:sym typeface="Calibri"/>
            </a:endParaRPr>
          </a:p>
        </p:txBody>
      </p:sp>
      <p:sp>
        <p:nvSpPr>
          <p:cNvPr id="34" name="Google Shape;34;p7"/>
          <p:cNvSpPr/>
          <p:nvPr/>
        </p:nvSpPr>
        <p:spPr>
          <a:xfrm>
            <a:off x="731520" y="4526280"/>
            <a:ext cx="10698480" cy="731520"/>
          </a:xfrm>
          <a:custGeom>
            <a:avLst/>
            <a:gdLst/>
            <a:ahLst/>
            <a:cxnLst/>
            <a:rect l="l" t="t" r="r" b="b"/>
            <a:pathLst>
              <a:path w="10698480" h="731520" extrusionOk="0">
                <a:moveTo>
                  <a:pt x="0" y="365760"/>
                </a:moveTo>
                <a:lnTo>
                  <a:pt x="3291840" y="365760"/>
                </a:lnTo>
                <a:lnTo>
                  <a:pt x="3520440" y="256032"/>
                </a:lnTo>
                <a:lnTo>
                  <a:pt x="3749040" y="365760"/>
                </a:lnTo>
                <a:lnTo>
                  <a:pt x="4480560" y="365760"/>
                </a:lnTo>
                <a:lnTo>
                  <a:pt x="4663440" y="457200"/>
                </a:lnTo>
                <a:lnTo>
                  <a:pt x="4892040" y="0"/>
                </a:lnTo>
                <a:lnTo>
                  <a:pt x="5120640" y="731520"/>
                </a:lnTo>
                <a:lnTo>
                  <a:pt x="5303520" y="365760"/>
                </a:lnTo>
                <a:lnTo>
                  <a:pt x="5760720" y="365760"/>
                </a:lnTo>
                <a:lnTo>
                  <a:pt x="6035040" y="201168"/>
                </a:lnTo>
                <a:lnTo>
                  <a:pt x="6355080" y="365760"/>
                </a:lnTo>
                <a:lnTo>
                  <a:pt x="10698480" y="365760"/>
                </a:lnTo>
              </a:path>
            </a:pathLst>
          </a:custGeom>
          <a:noFill/>
          <a:ln w="38100" cap="flat" cmpd="sng">
            <a:solidFill>
              <a:schemeClr val="accent2"/>
            </a:solidFill>
            <a:prstDash val="solid"/>
            <a:round/>
            <a:headEnd type="none" w="sm" len="sm"/>
            <a:tailEnd type="none" w="sm" len="sm"/>
          </a:ln>
        </p:spPr>
      </p:sp>
      <p:sp>
        <p:nvSpPr>
          <p:cNvPr id="35" name="Google Shape;35;p7"/>
          <p:cNvSpPr txBox="1"/>
          <p:nvPr/>
        </p:nvSpPr>
        <p:spPr>
          <a:xfrm>
            <a:off x="731520" y="5166360"/>
            <a:ext cx="5486400" cy="54864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chemeClr val="accent3"/>
              </a:buClr>
              <a:buSzPts val="1400"/>
              <a:buFont typeface="Calibri"/>
              <a:buNone/>
            </a:pPr>
            <a:r>
              <a:rPr lang="en-US" sz="1400" b="1" i="0" u="none" strike="noStrike" cap="none" spc="200">
                <a:solidFill>
                  <a:schemeClr val="accent3"/>
                </a:solidFill>
                <a:latin typeface="Calibri"/>
                <a:ea typeface="Calibri"/>
                <a:cs typeface="Calibri"/>
                <a:sym typeface="Calibri"/>
              </a:rPr>
              <a:t>TEAM  |  </a:t>
            </a:r>
            <a:r>
              <a:rPr lang="en-US" sz="3200" b="1" i="0" u="none" strike="noStrike" cap="none" spc="400">
                <a:solidFill>
                  <a:schemeClr val="accent2"/>
                </a:solidFill>
                <a:latin typeface="Calibri"/>
                <a:ea typeface="Calibri"/>
                <a:cs typeface="Calibri"/>
                <a:sym typeface="Calibri"/>
              </a:rPr>
              <a:t>CODE REDS</a:t>
            </a:r>
            <a:endParaRPr sz="1400" b="0" i="0" u="none" strike="noStrike" cap="none">
              <a:solidFill>
                <a:schemeClr val="dk1"/>
              </a:solidFill>
              <a:latin typeface="Calibri"/>
              <a:ea typeface="Calibri"/>
              <a:cs typeface="Calibri"/>
              <a:sym typeface="Calibri"/>
            </a:endParaRPr>
          </a:p>
        </p:txBody>
      </p:sp>
      <p:sp>
        <p:nvSpPr>
          <p:cNvPr id="36" name="Google Shape;36;p7"/>
          <p:cNvSpPr/>
          <p:nvPr/>
        </p:nvSpPr>
        <p:spPr>
          <a:xfrm>
            <a:off x="731520" y="5806440"/>
            <a:ext cx="3566160" cy="640080"/>
          </a:xfrm>
          <a:prstGeom prst="roundRect">
            <a:avLst>
              <a:gd name="adj" fmla="val 50000"/>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7"/>
          <p:cNvSpPr txBox="1"/>
          <p:nvPr/>
        </p:nvSpPr>
        <p:spPr>
          <a:xfrm>
            <a:off x="731520" y="5806440"/>
            <a:ext cx="356616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000"/>
              <a:buFont typeface="Calibri"/>
              <a:buNone/>
            </a:pPr>
            <a:r>
              <a:rPr lang="en-US" sz="1000" b="1" i="0" u="none" strike="noStrike" cap="none" spc="300">
                <a:solidFill>
                  <a:schemeClr val="lt1"/>
                </a:solidFill>
                <a:latin typeface="Calibri"/>
                <a:ea typeface="Calibri"/>
                <a:cs typeface="Calibri"/>
                <a:sym typeface="Calibri"/>
              </a:rPr>
              <a:t>TEAM LEAD</a:t>
            </a:r>
            <a:endParaRPr/>
          </a:p>
          <a:p>
            <a:pPr marL="0" marR="0" lvl="0" indent="0" algn="ctr" rtl="0">
              <a:spcBef>
                <a:spcPts val="0"/>
              </a:spcBef>
              <a:spcAft>
                <a:spcPts val="0"/>
              </a:spcAft>
              <a:buClr>
                <a:schemeClr val="lt1"/>
              </a:buClr>
              <a:buSzPts val="2000"/>
              <a:buFont typeface="Calibri"/>
              <a:buNone/>
            </a:pPr>
            <a:r>
              <a:rPr lang="en-US" sz="2000" b="1" i="0" u="none" strike="noStrike" cap="none">
                <a:solidFill>
                  <a:schemeClr val="lt1"/>
                </a:solidFill>
                <a:latin typeface="Calibri"/>
                <a:ea typeface="Calibri"/>
                <a:cs typeface="Calibri"/>
                <a:sym typeface="Calibri"/>
              </a:rPr>
              <a:t>Mohammad Toufeeq Shaik</a:t>
            </a:r>
            <a:endParaRPr/>
          </a:p>
        </p:txBody>
      </p:sp>
      <p:sp>
        <p:nvSpPr>
          <p:cNvPr id="38" name="Google Shape;38;p7"/>
          <p:cNvSpPr/>
          <p:nvPr/>
        </p:nvSpPr>
        <p:spPr>
          <a:xfrm>
            <a:off x="4434840" y="5897880"/>
            <a:ext cx="1645920" cy="457200"/>
          </a:xfrm>
          <a:prstGeom prst="roundRect">
            <a:avLst>
              <a:gd name="adj" fmla="val 50000"/>
            </a:avLst>
          </a:prstGeom>
          <a:solidFill>
            <a:schemeClr val="dk1">
              <a:alpha val="10196"/>
            </a:schemeClr>
          </a:solidFill>
          <a:ln w="12700" cap="flat" cmpd="sng">
            <a:solidFill>
              <a:schemeClr val="accent1">
                <a:alpha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p:nvPr/>
        </p:nvSpPr>
        <p:spPr>
          <a:xfrm>
            <a:off x="4434840" y="5897880"/>
            <a:ext cx="1645920" cy="457200"/>
          </a:xfrm>
          <a:prstGeom prst="rect">
            <a:avLst/>
          </a:prstGeom>
          <a:noFill/>
          <a:ln>
            <a:noFill/>
          </a:ln>
        </p:spPr>
        <p:txBody>
          <a:bodyPr spcFirstLastPara="1" wrap="square" lIns="0" tIns="0" rIns="0" bIns="0" anchor="ctr" anchorCtr="0">
            <a:noAutofit/>
          </a:bodyPr>
          <a:lstStyle/>
          <a:p>
            <a:pPr lvl="0" algn="ctr">
              <a:buClr>
                <a:schemeClr val="dk1"/>
              </a:buClr>
              <a:buSzPts val="1400"/>
            </a:pPr>
            <a:r>
              <a:rPr lang="en-US">
                <a:solidFill>
                  <a:schemeClr val="dk1"/>
                </a:solidFill>
                <a:latin typeface="Calibri"/>
                <a:ea typeface="Calibri"/>
                <a:cs typeface="Calibri"/>
                <a:sym typeface="Calibri"/>
              </a:rPr>
              <a:t>Satya Karthik</a:t>
            </a:r>
            <a:endParaRPr lang="en-US" dirty="0">
              <a:solidFill>
                <a:schemeClr val="dk1"/>
              </a:solidFill>
              <a:latin typeface="Calibri"/>
              <a:ea typeface="Calibri"/>
              <a:cs typeface="Calibri"/>
              <a:sym typeface="Calibri"/>
            </a:endParaRPr>
          </a:p>
        </p:txBody>
      </p:sp>
      <p:sp>
        <p:nvSpPr>
          <p:cNvPr id="40" name="Google Shape;40;p7"/>
          <p:cNvSpPr/>
          <p:nvPr/>
        </p:nvSpPr>
        <p:spPr>
          <a:xfrm>
            <a:off x="6217920" y="5897880"/>
            <a:ext cx="1645920" cy="457200"/>
          </a:xfrm>
          <a:prstGeom prst="roundRect">
            <a:avLst>
              <a:gd name="adj" fmla="val 50000"/>
            </a:avLst>
          </a:prstGeom>
          <a:solidFill>
            <a:schemeClr val="dk1">
              <a:alpha val="10196"/>
            </a:schemeClr>
          </a:solidFill>
          <a:ln w="12700" cap="flat" cmpd="sng">
            <a:solidFill>
              <a:schemeClr val="accent1">
                <a:alpha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txBox="1"/>
          <p:nvPr/>
        </p:nvSpPr>
        <p:spPr>
          <a:xfrm>
            <a:off x="6217920" y="5897880"/>
            <a:ext cx="1645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Namratha</a:t>
            </a:r>
            <a:endParaRPr sz="1400" b="0" i="0" u="none" strike="noStrike" cap="none" dirty="0">
              <a:solidFill>
                <a:schemeClr val="dk1"/>
              </a:solidFill>
              <a:latin typeface="Calibri"/>
              <a:ea typeface="Calibri"/>
              <a:cs typeface="Calibri"/>
              <a:sym typeface="Calibri"/>
            </a:endParaRPr>
          </a:p>
        </p:txBody>
      </p:sp>
      <p:sp>
        <p:nvSpPr>
          <p:cNvPr id="42" name="Google Shape;42;p7"/>
          <p:cNvSpPr/>
          <p:nvPr/>
        </p:nvSpPr>
        <p:spPr>
          <a:xfrm>
            <a:off x="8001000" y="5897880"/>
            <a:ext cx="1645920" cy="457200"/>
          </a:xfrm>
          <a:prstGeom prst="roundRect">
            <a:avLst>
              <a:gd name="adj" fmla="val 50000"/>
            </a:avLst>
          </a:prstGeom>
          <a:solidFill>
            <a:schemeClr val="dk1">
              <a:alpha val="10196"/>
            </a:schemeClr>
          </a:solidFill>
          <a:ln w="12700" cap="flat" cmpd="sng">
            <a:solidFill>
              <a:schemeClr val="accent1">
                <a:alpha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7"/>
          <p:cNvSpPr txBox="1"/>
          <p:nvPr/>
        </p:nvSpPr>
        <p:spPr>
          <a:xfrm>
            <a:off x="8001000" y="5897880"/>
            <a:ext cx="1645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Prathyusha</a:t>
            </a:r>
            <a:endParaRPr sz="1400" b="0" i="0" u="none" strike="noStrike" cap="none">
              <a:solidFill>
                <a:schemeClr val="dk1"/>
              </a:solidFill>
              <a:latin typeface="Calibri"/>
              <a:ea typeface="Calibri"/>
              <a:cs typeface="Calibri"/>
              <a:sym typeface="Calibri"/>
            </a:endParaRPr>
          </a:p>
        </p:txBody>
      </p:sp>
      <p:sp>
        <p:nvSpPr>
          <p:cNvPr id="44" name="Google Shape;44;p7"/>
          <p:cNvSpPr/>
          <p:nvPr/>
        </p:nvSpPr>
        <p:spPr>
          <a:xfrm>
            <a:off x="9784080" y="5897880"/>
            <a:ext cx="1645920" cy="457200"/>
          </a:xfrm>
          <a:prstGeom prst="roundRect">
            <a:avLst>
              <a:gd name="adj" fmla="val 50000"/>
            </a:avLst>
          </a:prstGeom>
          <a:solidFill>
            <a:schemeClr val="dk1">
              <a:alpha val="10196"/>
            </a:schemeClr>
          </a:solidFill>
          <a:ln w="12700" cap="flat" cmpd="sng">
            <a:solidFill>
              <a:schemeClr val="accent1">
                <a:alpha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7"/>
          <p:cNvSpPr txBox="1"/>
          <p:nvPr/>
        </p:nvSpPr>
        <p:spPr>
          <a:xfrm>
            <a:off x="9784080" y="5897880"/>
            <a:ext cx="1645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Shanmukha</a:t>
            </a:r>
            <a:endParaRPr sz="1400" b="0" i="0" u="none" strike="noStrike" cap="none">
              <a:solidFill>
                <a:schemeClr val="dk1"/>
              </a:solidFill>
              <a:latin typeface="Calibri"/>
              <a:ea typeface="Calibri"/>
              <a:cs typeface="Calibri"/>
              <a:sym typeface="Calibri"/>
            </a:endParaRPr>
          </a:p>
        </p:txBody>
      </p:sp>
      <p:pic>
        <p:nvPicPr>
          <p:cNvPr id="46" name="Google Shape;46;p7" descr="PulseAI dashboard overview: health score, vitals, medications and insights"/>
          <p:cNvPicPr preferRelativeResize="0"/>
          <p:nvPr/>
        </p:nvPicPr>
        <p:blipFill rotWithShape="1">
          <a:blip r:embed="rId3">
            <a:alphaModFix/>
          </a:blip>
          <a:srcRect/>
          <a:stretch/>
        </p:blipFill>
        <p:spPr>
          <a:xfrm>
            <a:off x="7589520" y="960120"/>
            <a:ext cx="4023360" cy="2514600"/>
          </a:xfrm>
          <a:prstGeom prst="roundRect">
            <a:avLst>
              <a:gd name="adj" fmla="val 3500"/>
            </a:avLst>
          </a:prstGeom>
          <a:noFill/>
          <a:ln w="12700" cap="flat" cmpd="sng">
            <a:solidFill>
              <a:srgbClr val="39E07A"/>
            </a:solidFill>
            <a:prstDash val="solid"/>
            <a:round/>
            <a:headEnd type="none" w="sm" len="sm"/>
            <a:tailEnd type="none" w="sm" len="sm"/>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8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50"/>
                                        <p:tgtEl>
                                          <p:spTgt spid="30"/>
                                        </p:tgtEl>
                                      </p:cBhvr>
                                    </p:animEffect>
                                  </p:childTnLst>
                                </p:cTn>
                              </p:par>
                              <p:par>
                                <p:cTn id="8" presetID="10" presetClass="entr" presetSubtype="0" fill="hold" nodeType="withEffect">
                                  <p:stCondLst>
                                    <p:cond delay="38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50"/>
                                        <p:tgtEl>
                                          <p:spTgt spid="33"/>
                                        </p:tgtEl>
                                      </p:cBhvr>
                                    </p:animEffect>
                                  </p:childTnLst>
                                </p:cTn>
                              </p:par>
                              <p:par>
                                <p:cTn id="11" presetID="10" presetClass="entr" presetSubtype="0" fill="hold" nodeType="withEffect">
                                  <p:stCondLst>
                                    <p:cond delay="38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550"/>
                                        <p:tgtEl>
                                          <p:spTgt spid="34"/>
                                        </p:tgtEl>
                                      </p:cBhvr>
                                    </p:animEffect>
                                  </p:childTnLst>
                                </p:cTn>
                              </p:par>
                              <p:par>
                                <p:cTn id="14" presetID="10" presetClass="entr" presetSubtype="0" fill="hold" nodeType="withEffect">
                                  <p:stCondLst>
                                    <p:cond delay="76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50"/>
                                        <p:tgtEl>
                                          <p:spTgt spid="35"/>
                                        </p:tgtEl>
                                      </p:cBhvr>
                                    </p:animEffect>
                                  </p:childTnLst>
                                </p:cTn>
                              </p:par>
                              <p:par>
                                <p:cTn id="17" presetID="10" presetClass="entr" presetSubtype="0" fill="hold" nodeType="withEffect">
                                  <p:stCondLst>
                                    <p:cond delay="76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50"/>
                                        <p:tgtEl>
                                          <p:spTgt spid="36"/>
                                        </p:tgtEl>
                                      </p:cBhvr>
                                    </p:animEffect>
                                  </p:childTnLst>
                                </p:cTn>
                              </p:par>
                              <p:par>
                                <p:cTn id="20" presetID="10" presetClass="entr" presetSubtype="0" fill="hold" nodeType="withEffect">
                                  <p:stCondLst>
                                    <p:cond delay="76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550"/>
                                        <p:tgtEl>
                                          <p:spTgt spid="37"/>
                                        </p:tgtEl>
                                      </p:cBhvr>
                                    </p:animEffect>
                                  </p:childTnLst>
                                </p:cTn>
                              </p:par>
                              <p:par>
                                <p:cTn id="23" presetID="10" presetClass="entr" presetSubtype="0" fill="hold" nodeType="withEffect">
                                  <p:stCondLst>
                                    <p:cond delay="76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50"/>
                                        <p:tgtEl>
                                          <p:spTgt spid="38"/>
                                        </p:tgtEl>
                                      </p:cBhvr>
                                    </p:animEffect>
                                  </p:childTnLst>
                                </p:cTn>
                              </p:par>
                              <p:par>
                                <p:cTn id="26" presetID="10" presetClass="entr" presetSubtype="0" fill="hold" nodeType="withEffect">
                                  <p:stCondLst>
                                    <p:cond delay="76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550"/>
                                        <p:tgtEl>
                                          <p:spTgt spid="39"/>
                                        </p:tgtEl>
                                      </p:cBhvr>
                                    </p:animEffect>
                                  </p:childTnLst>
                                </p:cTn>
                              </p:par>
                              <p:par>
                                <p:cTn id="29" presetID="10" presetClass="entr" presetSubtype="0" fill="hold" nodeType="withEffect">
                                  <p:stCondLst>
                                    <p:cond delay="76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550"/>
                                        <p:tgtEl>
                                          <p:spTgt spid="40"/>
                                        </p:tgtEl>
                                      </p:cBhvr>
                                    </p:animEffect>
                                  </p:childTnLst>
                                </p:cTn>
                              </p:par>
                              <p:par>
                                <p:cTn id="32" presetID="10" presetClass="entr" presetSubtype="0" fill="hold" nodeType="withEffect">
                                  <p:stCondLst>
                                    <p:cond delay="760"/>
                                  </p:stCondLst>
                                  <p:childTnLst>
                                    <p:set>
                                      <p:cBhvr>
                                        <p:cTn id="33" dur="1" fill="hold">
                                          <p:stCondLst>
                                            <p:cond delay="0"/>
                                          </p:stCondLst>
                                        </p:cTn>
                                        <p:tgtEl>
                                          <p:spTgt spid="41"/>
                                        </p:tgtEl>
                                        <p:attrNameLst>
                                          <p:attrName>style.visibility</p:attrName>
                                        </p:attrNameLst>
                                      </p:cBhvr>
                                      <p:to>
                                        <p:strVal val="visible"/>
                                      </p:to>
                                    </p:set>
                                    <p:animEffect transition="in" filter="fade">
                                      <p:cBhvr>
                                        <p:cTn id="34" dur="550"/>
                                        <p:tgtEl>
                                          <p:spTgt spid="41"/>
                                        </p:tgtEl>
                                      </p:cBhvr>
                                    </p:animEffect>
                                  </p:childTnLst>
                                </p:cTn>
                              </p:par>
                              <p:par>
                                <p:cTn id="35" presetID="10" presetClass="entr" presetSubtype="0" fill="hold" nodeType="withEffect">
                                  <p:stCondLst>
                                    <p:cond delay="76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550"/>
                                        <p:tgtEl>
                                          <p:spTgt spid="42"/>
                                        </p:tgtEl>
                                      </p:cBhvr>
                                    </p:animEffect>
                                  </p:childTnLst>
                                </p:cTn>
                              </p:par>
                              <p:par>
                                <p:cTn id="38" presetID="10" presetClass="entr" presetSubtype="0" fill="hold" nodeType="withEffect">
                                  <p:stCondLst>
                                    <p:cond delay="76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550"/>
                                        <p:tgtEl>
                                          <p:spTgt spid="43"/>
                                        </p:tgtEl>
                                      </p:cBhvr>
                                    </p:animEffect>
                                  </p:childTnLst>
                                </p:cTn>
                              </p:par>
                              <p:par>
                                <p:cTn id="41" presetID="10" presetClass="entr" presetSubtype="0" fill="hold" nodeType="withEffect">
                                  <p:stCondLst>
                                    <p:cond delay="76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550"/>
                                        <p:tgtEl>
                                          <p:spTgt spid="44"/>
                                        </p:tgtEl>
                                      </p:cBhvr>
                                    </p:animEffect>
                                  </p:childTnLst>
                                </p:cTn>
                              </p:par>
                              <p:par>
                                <p:cTn id="44" presetID="10" presetClass="entr" presetSubtype="0" fill="hold" nodeType="withEffect">
                                  <p:stCondLst>
                                    <p:cond delay="76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5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548640" y="365760"/>
            <a:ext cx="11064240" cy="82296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libri"/>
              <a:buNone/>
            </a:pPr>
            <a:r>
              <a:rPr lang="en-US" sz="3600" b="1">
                <a:solidFill>
                  <a:schemeClr val="dk1"/>
                </a:solidFill>
              </a:rPr>
              <a:t>Patients can't read their own health records</a:t>
            </a:r>
            <a:endParaRPr sz="3600"/>
          </a:p>
        </p:txBody>
      </p:sp>
      <p:sp>
        <p:nvSpPr>
          <p:cNvPr id="53" name="Google Shape;53;p8"/>
          <p:cNvSpPr/>
          <p:nvPr/>
        </p:nvSpPr>
        <p:spPr>
          <a:xfrm>
            <a:off x="548640" y="1554480"/>
            <a:ext cx="3840480" cy="4572000"/>
          </a:xfrm>
          <a:prstGeom prst="roundRect">
            <a:avLst>
              <a:gd name="adj" fmla="val 3333"/>
            </a:avLst>
          </a:prstGeom>
          <a:solidFill>
            <a:schemeClr val="accent1">
              <a:alpha val="14118"/>
            </a:schemeClr>
          </a:solidFill>
          <a:ln w="12700" cap="flat" cmpd="sng">
            <a:solidFill>
              <a:schemeClr val="accent1">
                <a:alpha val="54902"/>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a:off x="914400" y="1920240"/>
            <a:ext cx="868680" cy="8686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 name="Google Shape;55;p8" descr="preencoded.png"/>
          <p:cNvPicPr preferRelativeResize="0"/>
          <p:nvPr/>
        </p:nvPicPr>
        <p:blipFill rotWithShape="1">
          <a:blip r:embed="rId3">
            <a:alphaModFix/>
          </a:blip>
          <a:srcRect/>
          <a:stretch/>
        </p:blipFill>
        <p:spPr>
          <a:xfrm>
            <a:off x="1140257" y="2146097"/>
            <a:ext cx="416966" cy="416966"/>
          </a:xfrm>
          <a:prstGeom prst="rect">
            <a:avLst/>
          </a:prstGeom>
          <a:noFill/>
          <a:ln>
            <a:noFill/>
          </a:ln>
        </p:spPr>
      </p:pic>
      <p:sp>
        <p:nvSpPr>
          <p:cNvPr id="56" name="Google Shape;56;p8"/>
          <p:cNvSpPr txBox="1"/>
          <p:nvPr/>
        </p:nvSpPr>
        <p:spPr>
          <a:xfrm>
            <a:off x="914400" y="3017520"/>
            <a:ext cx="3200400" cy="1737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600"/>
              <a:buFont typeface="Calibri"/>
              <a:buNone/>
            </a:pPr>
            <a:r>
              <a:rPr lang="en-US" sz="2600" b="1" i="0" u="none" strike="noStrike" cap="none">
                <a:solidFill>
                  <a:schemeClr val="dk1"/>
                </a:solidFill>
                <a:latin typeface="Calibri"/>
                <a:ea typeface="Calibri"/>
                <a:cs typeface="Calibri"/>
                <a:sym typeface="Calibri"/>
              </a:rPr>
              <a:t>The gap between medical documents and patient understanding</a:t>
            </a:r>
            <a:endParaRPr sz="2600" b="0" i="0" u="none" strike="noStrike" cap="none">
              <a:solidFill>
                <a:schemeClr val="dk1"/>
              </a:solidFill>
              <a:latin typeface="Calibri"/>
              <a:ea typeface="Calibri"/>
              <a:cs typeface="Calibri"/>
              <a:sym typeface="Calibri"/>
            </a:endParaRPr>
          </a:p>
        </p:txBody>
      </p:sp>
      <p:sp>
        <p:nvSpPr>
          <p:cNvPr id="57" name="Google Shape;57;p8"/>
          <p:cNvSpPr txBox="1"/>
          <p:nvPr/>
        </p:nvSpPr>
        <p:spPr>
          <a:xfrm>
            <a:off x="914400" y="5120640"/>
            <a:ext cx="32004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2000"/>
              <a:buFont typeface="Calibri"/>
              <a:buNone/>
            </a:pPr>
            <a:r>
              <a:rPr lang="en-US" sz="2000" b="1" i="0" u="none" strike="noStrike" cap="none">
                <a:solidFill>
                  <a:schemeClr val="accent3"/>
                </a:solidFill>
                <a:latin typeface="Calibri"/>
                <a:ea typeface="Calibri"/>
                <a:cs typeface="Calibri"/>
                <a:sym typeface="Calibri"/>
              </a:rPr>
              <a:t>PulseAI closes it.</a:t>
            </a:r>
            <a:endParaRPr sz="2000" b="0" i="0" u="none" strike="noStrike" cap="none">
              <a:solidFill>
                <a:schemeClr val="dk1"/>
              </a:solidFill>
              <a:latin typeface="Calibri"/>
              <a:ea typeface="Calibri"/>
              <a:cs typeface="Calibri"/>
              <a:sym typeface="Calibri"/>
            </a:endParaRPr>
          </a:p>
        </p:txBody>
      </p:sp>
      <p:sp>
        <p:nvSpPr>
          <p:cNvPr id="58" name="Google Shape;58;p8"/>
          <p:cNvSpPr/>
          <p:nvPr/>
        </p:nvSpPr>
        <p:spPr>
          <a:xfrm>
            <a:off x="4754880" y="1554480"/>
            <a:ext cx="3264408" cy="2103120"/>
          </a:xfrm>
          <a:prstGeom prst="roundRect">
            <a:avLst>
              <a:gd name="adj" fmla="val 6087"/>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8"/>
          <p:cNvSpPr/>
          <p:nvPr/>
        </p:nvSpPr>
        <p:spPr>
          <a:xfrm>
            <a:off x="4983480" y="1783080"/>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 name="Google Shape;60;p8" descr="preencoded.png"/>
          <p:cNvPicPr preferRelativeResize="0"/>
          <p:nvPr/>
        </p:nvPicPr>
        <p:blipFill rotWithShape="1">
          <a:blip r:embed="rId4">
            <a:alphaModFix/>
          </a:blip>
          <a:srcRect/>
          <a:stretch/>
        </p:blipFill>
        <p:spPr>
          <a:xfrm>
            <a:off x="5138014" y="1937614"/>
            <a:ext cx="285293" cy="285293"/>
          </a:xfrm>
          <a:prstGeom prst="rect">
            <a:avLst/>
          </a:prstGeom>
          <a:noFill/>
          <a:ln>
            <a:noFill/>
          </a:ln>
        </p:spPr>
      </p:pic>
      <p:sp>
        <p:nvSpPr>
          <p:cNvPr id="61" name="Google Shape;61;p8"/>
          <p:cNvSpPr txBox="1"/>
          <p:nvPr/>
        </p:nvSpPr>
        <p:spPr>
          <a:xfrm>
            <a:off x="4983480" y="2468880"/>
            <a:ext cx="28346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Scattered records</a:t>
            </a:r>
            <a:endParaRPr sz="1800" b="0" i="0" u="none" strike="noStrike" cap="none">
              <a:solidFill>
                <a:schemeClr val="dk1"/>
              </a:solidFill>
              <a:latin typeface="Calibri"/>
              <a:ea typeface="Calibri"/>
              <a:cs typeface="Calibri"/>
              <a:sym typeface="Calibri"/>
            </a:endParaRPr>
          </a:p>
        </p:txBody>
      </p:sp>
      <p:sp>
        <p:nvSpPr>
          <p:cNvPr id="62" name="Google Shape;62;p8"/>
          <p:cNvSpPr txBox="1"/>
          <p:nvPr/>
        </p:nvSpPr>
        <p:spPr>
          <a:xfrm>
            <a:off x="4983480" y="2834640"/>
            <a:ext cx="28346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Lab tests, discharge summaries and handwritten prescriptions live in separate places.</a:t>
            </a:r>
            <a:endParaRPr sz="1400" b="0" i="0" u="none" strike="noStrike" cap="none">
              <a:solidFill>
                <a:schemeClr val="dk1"/>
              </a:solidFill>
              <a:latin typeface="Calibri"/>
              <a:ea typeface="Calibri"/>
              <a:cs typeface="Calibri"/>
              <a:sym typeface="Calibri"/>
            </a:endParaRPr>
          </a:p>
        </p:txBody>
      </p:sp>
      <p:sp>
        <p:nvSpPr>
          <p:cNvPr id="63" name="Google Shape;63;p8"/>
          <p:cNvSpPr/>
          <p:nvPr/>
        </p:nvSpPr>
        <p:spPr>
          <a:xfrm>
            <a:off x="8385048" y="1554480"/>
            <a:ext cx="3264408" cy="2103120"/>
          </a:xfrm>
          <a:prstGeom prst="roundRect">
            <a:avLst>
              <a:gd name="adj" fmla="val 6087"/>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8"/>
          <p:cNvSpPr/>
          <p:nvPr/>
        </p:nvSpPr>
        <p:spPr>
          <a:xfrm>
            <a:off x="8613648" y="1783080"/>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5" name="Google Shape;65;p8" descr="preencoded.png"/>
          <p:cNvPicPr preferRelativeResize="0"/>
          <p:nvPr/>
        </p:nvPicPr>
        <p:blipFill rotWithShape="1">
          <a:blip r:embed="rId5">
            <a:alphaModFix/>
          </a:blip>
          <a:srcRect/>
          <a:stretch/>
        </p:blipFill>
        <p:spPr>
          <a:xfrm>
            <a:off x="8768182" y="1937614"/>
            <a:ext cx="285293" cy="285293"/>
          </a:xfrm>
          <a:prstGeom prst="rect">
            <a:avLst/>
          </a:prstGeom>
          <a:noFill/>
          <a:ln>
            <a:noFill/>
          </a:ln>
        </p:spPr>
      </p:pic>
      <p:sp>
        <p:nvSpPr>
          <p:cNvPr id="66" name="Google Shape;66;p8"/>
          <p:cNvSpPr txBox="1"/>
          <p:nvPr/>
        </p:nvSpPr>
        <p:spPr>
          <a:xfrm>
            <a:off x="8613648" y="2468880"/>
            <a:ext cx="28346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Written for clinicians</a:t>
            </a:r>
            <a:endParaRPr sz="1800" b="0" i="0" u="none" strike="noStrike" cap="none">
              <a:solidFill>
                <a:schemeClr val="dk1"/>
              </a:solidFill>
              <a:latin typeface="Calibri"/>
              <a:ea typeface="Calibri"/>
              <a:cs typeface="Calibri"/>
              <a:sym typeface="Calibri"/>
            </a:endParaRPr>
          </a:p>
        </p:txBody>
      </p:sp>
      <p:sp>
        <p:nvSpPr>
          <p:cNvPr id="67" name="Google Shape;67;p8"/>
          <p:cNvSpPr txBox="1"/>
          <p:nvPr/>
        </p:nvSpPr>
        <p:spPr>
          <a:xfrm>
            <a:off x="8613648" y="2834640"/>
            <a:ext cx="28346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Jargon and raw values leave patients guessing which results actually matter.</a:t>
            </a:r>
            <a:endParaRPr sz="1400" b="0" i="0" u="none" strike="noStrike" cap="none">
              <a:solidFill>
                <a:schemeClr val="dk1"/>
              </a:solidFill>
              <a:latin typeface="Calibri"/>
              <a:ea typeface="Calibri"/>
              <a:cs typeface="Calibri"/>
              <a:sym typeface="Calibri"/>
            </a:endParaRPr>
          </a:p>
        </p:txBody>
      </p:sp>
      <p:sp>
        <p:nvSpPr>
          <p:cNvPr id="68" name="Google Shape;68;p8"/>
          <p:cNvSpPr/>
          <p:nvPr/>
        </p:nvSpPr>
        <p:spPr>
          <a:xfrm>
            <a:off x="4754880" y="4023360"/>
            <a:ext cx="3264408" cy="2103120"/>
          </a:xfrm>
          <a:prstGeom prst="roundRect">
            <a:avLst>
              <a:gd name="adj" fmla="val 6087"/>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8"/>
          <p:cNvSpPr/>
          <p:nvPr/>
        </p:nvSpPr>
        <p:spPr>
          <a:xfrm>
            <a:off x="4983480" y="4251960"/>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 name="Google Shape;70;p8" descr="preencoded.png"/>
          <p:cNvPicPr preferRelativeResize="0"/>
          <p:nvPr/>
        </p:nvPicPr>
        <p:blipFill rotWithShape="1">
          <a:blip r:embed="rId6">
            <a:alphaModFix/>
          </a:blip>
          <a:srcRect/>
          <a:stretch/>
        </p:blipFill>
        <p:spPr>
          <a:xfrm>
            <a:off x="5138014" y="4406494"/>
            <a:ext cx="285293" cy="285293"/>
          </a:xfrm>
          <a:prstGeom prst="rect">
            <a:avLst/>
          </a:prstGeom>
          <a:noFill/>
          <a:ln>
            <a:noFill/>
          </a:ln>
        </p:spPr>
      </p:pic>
      <p:sp>
        <p:nvSpPr>
          <p:cNvPr id="71" name="Google Shape;71;p8"/>
          <p:cNvSpPr txBox="1"/>
          <p:nvPr/>
        </p:nvSpPr>
        <p:spPr>
          <a:xfrm>
            <a:off x="4983480" y="4937760"/>
            <a:ext cx="28346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Language barriers</a:t>
            </a:r>
            <a:endParaRPr sz="1800" b="0" i="0" u="none" strike="noStrike" cap="none">
              <a:solidFill>
                <a:schemeClr val="dk1"/>
              </a:solidFill>
              <a:latin typeface="Calibri"/>
              <a:ea typeface="Calibri"/>
              <a:cs typeface="Calibri"/>
              <a:sym typeface="Calibri"/>
            </a:endParaRPr>
          </a:p>
        </p:txBody>
      </p:sp>
      <p:sp>
        <p:nvSpPr>
          <p:cNvPr id="72" name="Google Shape;72;p8"/>
          <p:cNvSpPr txBox="1"/>
          <p:nvPr/>
        </p:nvSpPr>
        <p:spPr>
          <a:xfrm>
            <a:off x="4983480" y="5303520"/>
            <a:ext cx="28346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Records rarely speak the patient's own language, so key instructions get lost.</a:t>
            </a:r>
            <a:endParaRPr sz="1400" b="0" i="0" u="none" strike="noStrike" cap="none">
              <a:solidFill>
                <a:schemeClr val="dk1"/>
              </a:solidFill>
              <a:latin typeface="Calibri"/>
              <a:ea typeface="Calibri"/>
              <a:cs typeface="Calibri"/>
              <a:sym typeface="Calibri"/>
            </a:endParaRPr>
          </a:p>
        </p:txBody>
      </p:sp>
      <p:sp>
        <p:nvSpPr>
          <p:cNvPr id="73" name="Google Shape;73;p8"/>
          <p:cNvSpPr/>
          <p:nvPr/>
        </p:nvSpPr>
        <p:spPr>
          <a:xfrm>
            <a:off x="8385048" y="4023360"/>
            <a:ext cx="3264408" cy="2103120"/>
          </a:xfrm>
          <a:prstGeom prst="roundRect">
            <a:avLst>
              <a:gd name="adj" fmla="val 6087"/>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a:off x="8613648" y="4251960"/>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 name="Google Shape;75;p8" descr="preencoded.png"/>
          <p:cNvPicPr preferRelativeResize="0"/>
          <p:nvPr/>
        </p:nvPicPr>
        <p:blipFill rotWithShape="1">
          <a:blip r:embed="rId7">
            <a:alphaModFix/>
          </a:blip>
          <a:srcRect/>
          <a:stretch/>
        </p:blipFill>
        <p:spPr>
          <a:xfrm>
            <a:off x="8768182" y="4406494"/>
            <a:ext cx="285293" cy="285293"/>
          </a:xfrm>
          <a:prstGeom prst="rect">
            <a:avLst/>
          </a:prstGeom>
          <a:noFill/>
          <a:ln>
            <a:noFill/>
          </a:ln>
        </p:spPr>
      </p:pic>
      <p:sp>
        <p:nvSpPr>
          <p:cNvPr id="76" name="Google Shape;76;p8"/>
          <p:cNvSpPr txBox="1"/>
          <p:nvPr/>
        </p:nvSpPr>
        <p:spPr>
          <a:xfrm>
            <a:off x="8613648" y="4937760"/>
            <a:ext cx="28346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No single timeline</a:t>
            </a:r>
            <a:endParaRPr sz="1800" b="0" i="0" u="none" strike="noStrike" cap="none">
              <a:solidFill>
                <a:schemeClr val="dk1"/>
              </a:solidFill>
              <a:latin typeface="Calibri"/>
              <a:ea typeface="Calibri"/>
              <a:cs typeface="Calibri"/>
              <a:sym typeface="Calibri"/>
            </a:endParaRPr>
          </a:p>
        </p:txBody>
      </p:sp>
      <p:sp>
        <p:nvSpPr>
          <p:cNvPr id="77" name="Google Shape;77;p8"/>
          <p:cNvSpPr txBox="1"/>
          <p:nvPr/>
        </p:nvSpPr>
        <p:spPr>
          <a:xfrm>
            <a:off x="8613648" y="5303520"/>
            <a:ext cx="28346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No unified view of conditions, medicines and results in a shareable standard format.</a:t>
            </a:r>
            <a:endParaRPr sz="1400" b="0" i="0" u="none" strike="noStrike" cap="none">
              <a:solidFill>
                <a:schemeClr val="dk1"/>
              </a:solidFill>
              <a:latin typeface="Calibri"/>
              <a:ea typeface="Calibri"/>
              <a:cs typeface="Calibri"/>
              <a:sym typeface="Calibri"/>
            </a:endParaRPr>
          </a:p>
        </p:txBody>
      </p:sp>
      <p:sp>
        <p:nvSpPr>
          <p:cNvPr id="78" name="Google Shape;78;p8"/>
          <p:cNvSpPr txBox="1">
            <a:spLocks noGrp="1"/>
          </p:cNvSpPr>
          <p:nvPr>
            <p:ph type="sldNum" idx="4294967295"/>
          </p:nvPr>
        </p:nvSpPr>
        <p:spPr>
          <a:xfrm>
            <a:off x="11064240" y="6400800"/>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100" b="0" i="0" u="none" strike="noStrike" cap="none">
                <a:solidFill>
                  <a:srgbClr val="6F8F7F"/>
                </a:solidFill>
                <a:latin typeface="Calibri"/>
                <a:ea typeface="Calibri"/>
                <a:cs typeface="Calibri"/>
                <a:sym typeface="Calibri"/>
              </a:rPr>
              <a:t>2</a:t>
            </a:fld>
            <a:endParaRPr sz="1100" b="0" i="0" u="none" strike="noStrike" cap="none">
              <a:solidFill>
                <a:srgbClr val="6F8F7F"/>
              </a:solidFill>
              <a:latin typeface="Calibri"/>
              <a:ea typeface="Calibri"/>
              <a:cs typeface="Calibri"/>
              <a:sym typeface="Calibri"/>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50"/>
                                        <p:tgtEl>
                                          <p:spTgt spid="53"/>
                                        </p:tgtEl>
                                      </p:cBhvr>
                                    </p:animEffect>
                                  </p:childTnLst>
                                </p:cTn>
                              </p:par>
                              <p:par>
                                <p:cTn id="8" presetID="10" presetClass="entr" presetSubtype="0" fill="hold"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550"/>
                                        <p:tgtEl>
                                          <p:spTgt spid="54"/>
                                        </p:tgtEl>
                                      </p:cBhvr>
                                    </p:animEffect>
                                  </p:childTnLst>
                                </p:cTn>
                              </p:par>
                              <p:par>
                                <p:cTn id="11" presetID="10"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fade">
                                      <p:cBhvr>
                                        <p:cTn id="13" dur="550"/>
                                        <p:tgtEl>
                                          <p:spTgt spid="55"/>
                                        </p:tgtEl>
                                      </p:cBhvr>
                                    </p:animEffect>
                                  </p:childTnLst>
                                </p:cTn>
                              </p:par>
                              <p:par>
                                <p:cTn id="14" presetID="10" presetClass="entr" presetSubtype="0" fill="hold" nodeType="withEffect">
                                  <p:stCondLst>
                                    <p:cond delay="0"/>
                                  </p:stCondLst>
                                  <p:childTnLst>
                                    <p:set>
                                      <p:cBhvr>
                                        <p:cTn id="15" dur="1" fill="hold">
                                          <p:stCondLst>
                                            <p:cond delay="0"/>
                                          </p:stCondLst>
                                        </p:cTn>
                                        <p:tgtEl>
                                          <p:spTgt spid="56"/>
                                        </p:tgtEl>
                                        <p:attrNameLst>
                                          <p:attrName>style.visibility</p:attrName>
                                        </p:attrNameLst>
                                      </p:cBhvr>
                                      <p:to>
                                        <p:strVal val="visible"/>
                                      </p:to>
                                    </p:set>
                                    <p:animEffect transition="in" filter="fade">
                                      <p:cBhvr>
                                        <p:cTn id="16" dur="550"/>
                                        <p:tgtEl>
                                          <p:spTgt spid="56"/>
                                        </p:tgtEl>
                                      </p:cBhvr>
                                    </p:animEffect>
                                  </p:childTnLst>
                                </p:cTn>
                              </p:par>
                              <p:par>
                                <p:cTn id="17" presetID="10"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50"/>
                                        <p:tgtEl>
                                          <p:spTgt spid="57"/>
                                        </p:tgtEl>
                                      </p:cBhvr>
                                    </p:animEffect>
                                  </p:childTnLst>
                                </p:cTn>
                              </p:par>
                              <p:par>
                                <p:cTn id="20" presetID="10" presetClass="entr" presetSubtype="0" fill="hold" nodeType="withEffect">
                                  <p:stCondLst>
                                    <p:cond delay="380"/>
                                  </p:stCondLst>
                                  <p:childTnLst>
                                    <p:set>
                                      <p:cBhvr>
                                        <p:cTn id="21" dur="1" fill="hold">
                                          <p:stCondLst>
                                            <p:cond delay="0"/>
                                          </p:stCondLst>
                                        </p:cTn>
                                        <p:tgtEl>
                                          <p:spTgt spid="58"/>
                                        </p:tgtEl>
                                        <p:attrNameLst>
                                          <p:attrName>style.visibility</p:attrName>
                                        </p:attrNameLst>
                                      </p:cBhvr>
                                      <p:to>
                                        <p:strVal val="visible"/>
                                      </p:to>
                                    </p:set>
                                    <p:animEffect transition="in" filter="fade">
                                      <p:cBhvr>
                                        <p:cTn id="22" dur="550"/>
                                        <p:tgtEl>
                                          <p:spTgt spid="58"/>
                                        </p:tgtEl>
                                      </p:cBhvr>
                                    </p:animEffect>
                                  </p:childTnLst>
                                </p:cTn>
                              </p:par>
                              <p:par>
                                <p:cTn id="23" presetID="10" presetClass="entr" presetSubtype="0" fill="hold" nodeType="withEffect">
                                  <p:stCondLst>
                                    <p:cond delay="38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550"/>
                                        <p:tgtEl>
                                          <p:spTgt spid="59"/>
                                        </p:tgtEl>
                                      </p:cBhvr>
                                    </p:animEffect>
                                  </p:childTnLst>
                                </p:cTn>
                              </p:par>
                              <p:par>
                                <p:cTn id="26" presetID="10" presetClass="entr" presetSubtype="0" fill="hold" nodeType="withEffect">
                                  <p:stCondLst>
                                    <p:cond delay="380"/>
                                  </p:stCondLst>
                                  <p:childTnLst>
                                    <p:set>
                                      <p:cBhvr>
                                        <p:cTn id="27" dur="1" fill="hold">
                                          <p:stCondLst>
                                            <p:cond delay="0"/>
                                          </p:stCondLst>
                                        </p:cTn>
                                        <p:tgtEl>
                                          <p:spTgt spid="60"/>
                                        </p:tgtEl>
                                        <p:attrNameLst>
                                          <p:attrName>style.visibility</p:attrName>
                                        </p:attrNameLst>
                                      </p:cBhvr>
                                      <p:to>
                                        <p:strVal val="visible"/>
                                      </p:to>
                                    </p:set>
                                    <p:animEffect transition="in" filter="fade">
                                      <p:cBhvr>
                                        <p:cTn id="28" dur="550"/>
                                        <p:tgtEl>
                                          <p:spTgt spid="60"/>
                                        </p:tgtEl>
                                      </p:cBhvr>
                                    </p:animEffect>
                                  </p:childTnLst>
                                </p:cTn>
                              </p:par>
                              <p:par>
                                <p:cTn id="29" presetID="10" presetClass="entr" presetSubtype="0" fill="hold" nodeType="withEffect">
                                  <p:stCondLst>
                                    <p:cond delay="38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550"/>
                                        <p:tgtEl>
                                          <p:spTgt spid="61"/>
                                        </p:tgtEl>
                                      </p:cBhvr>
                                    </p:animEffect>
                                  </p:childTnLst>
                                </p:cTn>
                              </p:par>
                              <p:par>
                                <p:cTn id="32" presetID="10" presetClass="entr" presetSubtype="0" fill="hold" nodeType="withEffect">
                                  <p:stCondLst>
                                    <p:cond delay="380"/>
                                  </p:stCondLst>
                                  <p:childTnLst>
                                    <p:set>
                                      <p:cBhvr>
                                        <p:cTn id="33" dur="1" fill="hold">
                                          <p:stCondLst>
                                            <p:cond delay="0"/>
                                          </p:stCondLst>
                                        </p:cTn>
                                        <p:tgtEl>
                                          <p:spTgt spid="62"/>
                                        </p:tgtEl>
                                        <p:attrNameLst>
                                          <p:attrName>style.visibility</p:attrName>
                                        </p:attrNameLst>
                                      </p:cBhvr>
                                      <p:to>
                                        <p:strVal val="visible"/>
                                      </p:to>
                                    </p:set>
                                    <p:animEffect transition="in" filter="fade">
                                      <p:cBhvr>
                                        <p:cTn id="34" dur="550"/>
                                        <p:tgtEl>
                                          <p:spTgt spid="62"/>
                                        </p:tgtEl>
                                      </p:cBhvr>
                                    </p:animEffect>
                                  </p:childTnLst>
                                </p:cTn>
                              </p:par>
                              <p:par>
                                <p:cTn id="35" presetID="10" presetClass="entr" presetSubtype="0" fill="hold" nodeType="withEffect">
                                  <p:stCondLst>
                                    <p:cond delay="760"/>
                                  </p:stCondLst>
                                  <p:childTnLst>
                                    <p:set>
                                      <p:cBhvr>
                                        <p:cTn id="36" dur="1" fill="hold">
                                          <p:stCondLst>
                                            <p:cond delay="0"/>
                                          </p:stCondLst>
                                        </p:cTn>
                                        <p:tgtEl>
                                          <p:spTgt spid="63"/>
                                        </p:tgtEl>
                                        <p:attrNameLst>
                                          <p:attrName>style.visibility</p:attrName>
                                        </p:attrNameLst>
                                      </p:cBhvr>
                                      <p:to>
                                        <p:strVal val="visible"/>
                                      </p:to>
                                    </p:set>
                                    <p:animEffect transition="in" filter="fade">
                                      <p:cBhvr>
                                        <p:cTn id="37" dur="550"/>
                                        <p:tgtEl>
                                          <p:spTgt spid="63"/>
                                        </p:tgtEl>
                                      </p:cBhvr>
                                    </p:animEffect>
                                  </p:childTnLst>
                                </p:cTn>
                              </p:par>
                              <p:par>
                                <p:cTn id="38" presetID="10" presetClass="entr" presetSubtype="0" fill="hold" nodeType="withEffect">
                                  <p:stCondLst>
                                    <p:cond delay="760"/>
                                  </p:stCondLst>
                                  <p:childTnLst>
                                    <p:set>
                                      <p:cBhvr>
                                        <p:cTn id="39" dur="1" fill="hold">
                                          <p:stCondLst>
                                            <p:cond delay="0"/>
                                          </p:stCondLst>
                                        </p:cTn>
                                        <p:tgtEl>
                                          <p:spTgt spid="64"/>
                                        </p:tgtEl>
                                        <p:attrNameLst>
                                          <p:attrName>style.visibility</p:attrName>
                                        </p:attrNameLst>
                                      </p:cBhvr>
                                      <p:to>
                                        <p:strVal val="visible"/>
                                      </p:to>
                                    </p:set>
                                    <p:animEffect transition="in" filter="fade">
                                      <p:cBhvr>
                                        <p:cTn id="40" dur="550"/>
                                        <p:tgtEl>
                                          <p:spTgt spid="64"/>
                                        </p:tgtEl>
                                      </p:cBhvr>
                                    </p:animEffect>
                                  </p:childTnLst>
                                </p:cTn>
                              </p:par>
                              <p:par>
                                <p:cTn id="41" presetID="10" presetClass="entr" presetSubtype="0" fill="hold" nodeType="withEffect">
                                  <p:stCondLst>
                                    <p:cond delay="760"/>
                                  </p:stCondLst>
                                  <p:childTnLst>
                                    <p:set>
                                      <p:cBhvr>
                                        <p:cTn id="42" dur="1" fill="hold">
                                          <p:stCondLst>
                                            <p:cond delay="0"/>
                                          </p:stCondLst>
                                        </p:cTn>
                                        <p:tgtEl>
                                          <p:spTgt spid="65"/>
                                        </p:tgtEl>
                                        <p:attrNameLst>
                                          <p:attrName>style.visibility</p:attrName>
                                        </p:attrNameLst>
                                      </p:cBhvr>
                                      <p:to>
                                        <p:strVal val="visible"/>
                                      </p:to>
                                    </p:set>
                                    <p:animEffect transition="in" filter="fade">
                                      <p:cBhvr>
                                        <p:cTn id="43" dur="550"/>
                                        <p:tgtEl>
                                          <p:spTgt spid="65"/>
                                        </p:tgtEl>
                                      </p:cBhvr>
                                    </p:animEffect>
                                  </p:childTnLst>
                                </p:cTn>
                              </p:par>
                              <p:par>
                                <p:cTn id="44" presetID="10" presetClass="entr" presetSubtype="0" fill="hold" nodeType="withEffect">
                                  <p:stCondLst>
                                    <p:cond delay="760"/>
                                  </p:stCondLst>
                                  <p:childTnLst>
                                    <p:set>
                                      <p:cBhvr>
                                        <p:cTn id="45" dur="1" fill="hold">
                                          <p:stCondLst>
                                            <p:cond delay="0"/>
                                          </p:stCondLst>
                                        </p:cTn>
                                        <p:tgtEl>
                                          <p:spTgt spid="66"/>
                                        </p:tgtEl>
                                        <p:attrNameLst>
                                          <p:attrName>style.visibility</p:attrName>
                                        </p:attrNameLst>
                                      </p:cBhvr>
                                      <p:to>
                                        <p:strVal val="visible"/>
                                      </p:to>
                                    </p:set>
                                    <p:animEffect transition="in" filter="fade">
                                      <p:cBhvr>
                                        <p:cTn id="46" dur="550"/>
                                        <p:tgtEl>
                                          <p:spTgt spid="66"/>
                                        </p:tgtEl>
                                      </p:cBhvr>
                                    </p:animEffect>
                                  </p:childTnLst>
                                </p:cTn>
                              </p:par>
                              <p:par>
                                <p:cTn id="47" presetID="10" presetClass="entr" presetSubtype="0" fill="hold" nodeType="withEffect">
                                  <p:stCondLst>
                                    <p:cond delay="760"/>
                                  </p:stCondLst>
                                  <p:childTnLst>
                                    <p:set>
                                      <p:cBhvr>
                                        <p:cTn id="48" dur="1" fill="hold">
                                          <p:stCondLst>
                                            <p:cond delay="0"/>
                                          </p:stCondLst>
                                        </p:cTn>
                                        <p:tgtEl>
                                          <p:spTgt spid="67"/>
                                        </p:tgtEl>
                                        <p:attrNameLst>
                                          <p:attrName>style.visibility</p:attrName>
                                        </p:attrNameLst>
                                      </p:cBhvr>
                                      <p:to>
                                        <p:strVal val="visible"/>
                                      </p:to>
                                    </p:set>
                                    <p:animEffect transition="in" filter="fade">
                                      <p:cBhvr>
                                        <p:cTn id="49" dur="550"/>
                                        <p:tgtEl>
                                          <p:spTgt spid="67"/>
                                        </p:tgtEl>
                                      </p:cBhvr>
                                    </p:animEffect>
                                  </p:childTnLst>
                                </p:cTn>
                              </p:par>
                              <p:par>
                                <p:cTn id="50" presetID="10" presetClass="entr" presetSubtype="0" fill="hold" nodeType="withEffect">
                                  <p:stCondLst>
                                    <p:cond delay="1140"/>
                                  </p:stCondLst>
                                  <p:childTnLst>
                                    <p:set>
                                      <p:cBhvr>
                                        <p:cTn id="51" dur="1" fill="hold">
                                          <p:stCondLst>
                                            <p:cond delay="0"/>
                                          </p:stCondLst>
                                        </p:cTn>
                                        <p:tgtEl>
                                          <p:spTgt spid="68"/>
                                        </p:tgtEl>
                                        <p:attrNameLst>
                                          <p:attrName>style.visibility</p:attrName>
                                        </p:attrNameLst>
                                      </p:cBhvr>
                                      <p:to>
                                        <p:strVal val="visible"/>
                                      </p:to>
                                    </p:set>
                                    <p:animEffect transition="in" filter="fade">
                                      <p:cBhvr>
                                        <p:cTn id="52" dur="550"/>
                                        <p:tgtEl>
                                          <p:spTgt spid="68"/>
                                        </p:tgtEl>
                                      </p:cBhvr>
                                    </p:animEffect>
                                  </p:childTnLst>
                                </p:cTn>
                              </p:par>
                              <p:par>
                                <p:cTn id="53" presetID="10" presetClass="entr" presetSubtype="0" fill="hold" nodeType="withEffect">
                                  <p:stCondLst>
                                    <p:cond delay="1140"/>
                                  </p:stCondLst>
                                  <p:childTnLst>
                                    <p:set>
                                      <p:cBhvr>
                                        <p:cTn id="54" dur="1" fill="hold">
                                          <p:stCondLst>
                                            <p:cond delay="0"/>
                                          </p:stCondLst>
                                        </p:cTn>
                                        <p:tgtEl>
                                          <p:spTgt spid="69"/>
                                        </p:tgtEl>
                                        <p:attrNameLst>
                                          <p:attrName>style.visibility</p:attrName>
                                        </p:attrNameLst>
                                      </p:cBhvr>
                                      <p:to>
                                        <p:strVal val="visible"/>
                                      </p:to>
                                    </p:set>
                                    <p:animEffect transition="in" filter="fade">
                                      <p:cBhvr>
                                        <p:cTn id="55" dur="550"/>
                                        <p:tgtEl>
                                          <p:spTgt spid="69"/>
                                        </p:tgtEl>
                                      </p:cBhvr>
                                    </p:animEffect>
                                  </p:childTnLst>
                                </p:cTn>
                              </p:par>
                              <p:par>
                                <p:cTn id="56" presetID="10" presetClass="entr" presetSubtype="0" fill="hold" nodeType="withEffect">
                                  <p:stCondLst>
                                    <p:cond delay="1140"/>
                                  </p:stCondLst>
                                  <p:childTnLst>
                                    <p:set>
                                      <p:cBhvr>
                                        <p:cTn id="57" dur="1" fill="hold">
                                          <p:stCondLst>
                                            <p:cond delay="0"/>
                                          </p:stCondLst>
                                        </p:cTn>
                                        <p:tgtEl>
                                          <p:spTgt spid="70"/>
                                        </p:tgtEl>
                                        <p:attrNameLst>
                                          <p:attrName>style.visibility</p:attrName>
                                        </p:attrNameLst>
                                      </p:cBhvr>
                                      <p:to>
                                        <p:strVal val="visible"/>
                                      </p:to>
                                    </p:set>
                                    <p:animEffect transition="in" filter="fade">
                                      <p:cBhvr>
                                        <p:cTn id="58" dur="550"/>
                                        <p:tgtEl>
                                          <p:spTgt spid="70"/>
                                        </p:tgtEl>
                                      </p:cBhvr>
                                    </p:animEffect>
                                  </p:childTnLst>
                                </p:cTn>
                              </p:par>
                              <p:par>
                                <p:cTn id="59" presetID="10" presetClass="entr" presetSubtype="0" fill="hold" nodeType="withEffect">
                                  <p:stCondLst>
                                    <p:cond delay="1140"/>
                                  </p:stCondLst>
                                  <p:childTnLst>
                                    <p:set>
                                      <p:cBhvr>
                                        <p:cTn id="60" dur="1" fill="hold">
                                          <p:stCondLst>
                                            <p:cond delay="0"/>
                                          </p:stCondLst>
                                        </p:cTn>
                                        <p:tgtEl>
                                          <p:spTgt spid="71"/>
                                        </p:tgtEl>
                                        <p:attrNameLst>
                                          <p:attrName>style.visibility</p:attrName>
                                        </p:attrNameLst>
                                      </p:cBhvr>
                                      <p:to>
                                        <p:strVal val="visible"/>
                                      </p:to>
                                    </p:set>
                                    <p:animEffect transition="in" filter="fade">
                                      <p:cBhvr>
                                        <p:cTn id="61" dur="550"/>
                                        <p:tgtEl>
                                          <p:spTgt spid="71"/>
                                        </p:tgtEl>
                                      </p:cBhvr>
                                    </p:animEffect>
                                  </p:childTnLst>
                                </p:cTn>
                              </p:par>
                              <p:par>
                                <p:cTn id="62" presetID="10" presetClass="entr" presetSubtype="0" fill="hold" nodeType="withEffect">
                                  <p:stCondLst>
                                    <p:cond delay="1140"/>
                                  </p:stCondLst>
                                  <p:childTnLst>
                                    <p:set>
                                      <p:cBhvr>
                                        <p:cTn id="63" dur="1" fill="hold">
                                          <p:stCondLst>
                                            <p:cond delay="0"/>
                                          </p:stCondLst>
                                        </p:cTn>
                                        <p:tgtEl>
                                          <p:spTgt spid="72"/>
                                        </p:tgtEl>
                                        <p:attrNameLst>
                                          <p:attrName>style.visibility</p:attrName>
                                        </p:attrNameLst>
                                      </p:cBhvr>
                                      <p:to>
                                        <p:strVal val="visible"/>
                                      </p:to>
                                    </p:set>
                                    <p:animEffect transition="in" filter="fade">
                                      <p:cBhvr>
                                        <p:cTn id="64" dur="550"/>
                                        <p:tgtEl>
                                          <p:spTgt spid="72"/>
                                        </p:tgtEl>
                                      </p:cBhvr>
                                    </p:animEffect>
                                  </p:childTnLst>
                                </p:cTn>
                              </p:par>
                              <p:par>
                                <p:cTn id="65" presetID="10" presetClass="entr" presetSubtype="0" fill="hold" nodeType="withEffect">
                                  <p:stCondLst>
                                    <p:cond delay="1520"/>
                                  </p:stCondLst>
                                  <p:childTnLst>
                                    <p:set>
                                      <p:cBhvr>
                                        <p:cTn id="66" dur="1" fill="hold">
                                          <p:stCondLst>
                                            <p:cond delay="0"/>
                                          </p:stCondLst>
                                        </p:cTn>
                                        <p:tgtEl>
                                          <p:spTgt spid="73"/>
                                        </p:tgtEl>
                                        <p:attrNameLst>
                                          <p:attrName>style.visibility</p:attrName>
                                        </p:attrNameLst>
                                      </p:cBhvr>
                                      <p:to>
                                        <p:strVal val="visible"/>
                                      </p:to>
                                    </p:set>
                                    <p:animEffect transition="in" filter="fade">
                                      <p:cBhvr>
                                        <p:cTn id="67" dur="550"/>
                                        <p:tgtEl>
                                          <p:spTgt spid="73"/>
                                        </p:tgtEl>
                                      </p:cBhvr>
                                    </p:animEffect>
                                  </p:childTnLst>
                                </p:cTn>
                              </p:par>
                              <p:par>
                                <p:cTn id="68" presetID="10" presetClass="entr" presetSubtype="0" fill="hold" nodeType="withEffect">
                                  <p:stCondLst>
                                    <p:cond delay="1520"/>
                                  </p:stCondLst>
                                  <p:childTnLst>
                                    <p:set>
                                      <p:cBhvr>
                                        <p:cTn id="69" dur="1" fill="hold">
                                          <p:stCondLst>
                                            <p:cond delay="0"/>
                                          </p:stCondLst>
                                        </p:cTn>
                                        <p:tgtEl>
                                          <p:spTgt spid="74"/>
                                        </p:tgtEl>
                                        <p:attrNameLst>
                                          <p:attrName>style.visibility</p:attrName>
                                        </p:attrNameLst>
                                      </p:cBhvr>
                                      <p:to>
                                        <p:strVal val="visible"/>
                                      </p:to>
                                    </p:set>
                                    <p:animEffect transition="in" filter="fade">
                                      <p:cBhvr>
                                        <p:cTn id="70" dur="550"/>
                                        <p:tgtEl>
                                          <p:spTgt spid="74"/>
                                        </p:tgtEl>
                                      </p:cBhvr>
                                    </p:animEffect>
                                  </p:childTnLst>
                                </p:cTn>
                              </p:par>
                              <p:par>
                                <p:cTn id="71" presetID="10" presetClass="entr" presetSubtype="0" fill="hold" nodeType="withEffect">
                                  <p:stCondLst>
                                    <p:cond delay="1520"/>
                                  </p:stCondLst>
                                  <p:childTnLst>
                                    <p:set>
                                      <p:cBhvr>
                                        <p:cTn id="72" dur="1" fill="hold">
                                          <p:stCondLst>
                                            <p:cond delay="0"/>
                                          </p:stCondLst>
                                        </p:cTn>
                                        <p:tgtEl>
                                          <p:spTgt spid="75"/>
                                        </p:tgtEl>
                                        <p:attrNameLst>
                                          <p:attrName>style.visibility</p:attrName>
                                        </p:attrNameLst>
                                      </p:cBhvr>
                                      <p:to>
                                        <p:strVal val="visible"/>
                                      </p:to>
                                    </p:set>
                                    <p:animEffect transition="in" filter="fade">
                                      <p:cBhvr>
                                        <p:cTn id="73" dur="550"/>
                                        <p:tgtEl>
                                          <p:spTgt spid="75"/>
                                        </p:tgtEl>
                                      </p:cBhvr>
                                    </p:animEffect>
                                  </p:childTnLst>
                                </p:cTn>
                              </p:par>
                              <p:par>
                                <p:cTn id="74" presetID="10" presetClass="entr" presetSubtype="0" fill="hold" nodeType="withEffect">
                                  <p:stCondLst>
                                    <p:cond delay="1520"/>
                                  </p:stCondLst>
                                  <p:childTnLst>
                                    <p:set>
                                      <p:cBhvr>
                                        <p:cTn id="75" dur="1" fill="hold">
                                          <p:stCondLst>
                                            <p:cond delay="0"/>
                                          </p:stCondLst>
                                        </p:cTn>
                                        <p:tgtEl>
                                          <p:spTgt spid="76"/>
                                        </p:tgtEl>
                                        <p:attrNameLst>
                                          <p:attrName>style.visibility</p:attrName>
                                        </p:attrNameLst>
                                      </p:cBhvr>
                                      <p:to>
                                        <p:strVal val="visible"/>
                                      </p:to>
                                    </p:set>
                                    <p:animEffect transition="in" filter="fade">
                                      <p:cBhvr>
                                        <p:cTn id="76" dur="550"/>
                                        <p:tgtEl>
                                          <p:spTgt spid="76"/>
                                        </p:tgtEl>
                                      </p:cBhvr>
                                    </p:animEffect>
                                  </p:childTnLst>
                                </p:cTn>
                              </p:par>
                              <p:par>
                                <p:cTn id="77" presetID="10" presetClass="entr" presetSubtype="0" fill="hold" nodeType="withEffect">
                                  <p:stCondLst>
                                    <p:cond delay="1520"/>
                                  </p:stCondLst>
                                  <p:childTnLst>
                                    <p:set>
                                      <p:cBhvr>
                                        <p:cTn id="78" dur="1" fill="hold">
                                          <p:stCondLst>
                                            <p:cond delay="0"/>
                                          </p:stCondLst>
                                        </p:cTn>
                                        <p:tgtEl>
                                          <p:spTgt spid="77"/>
                                        </p:tgtEl>
                                        <p:attrNameLst>
                                          <p:attrName>style.visibility</p:attrName>
                                        </p:attrNameLst>
                                      </p:cBhvr>
                                      <p:to>
                                        <p:strVal val="visible"/>
                                      </p:to>
                                    </p:set>
                                    <p:animEffect transition="in" filter="fade">
                                      <p:cBhvr>
                                        <p:cTn id="79" dur="55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9"/>
          <p:cNvSpPr txBox="1">
            <a:spLocks noGrp="1"/>
          </p:cNvSpPr>
          <p:nvPr>
            <p:ph type="title"/>
          </p:nvPr>
        </p:nvSpPr>
        <p:spPr>
          <a:xfrm>
            <a:off x="548640" y="365760"/>
            <a:ext cx="11064240" cy="82296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libri"/>
              <a:buNone/>
            </a:pPr>
            <a:r>
              <a:rPr lang="en-US" sz="3600" b="1">
                <a:solidFill>
                  <a:schemeClr val="dk1"/>
                </a:solidFill>
              </a:rPr>
              <a:t>Meet PulseAI: one copilot, four steps</a:t>
            </a:r>
            <a:endParaRPr sz="3600"/>
          </a:p>
        </p:txBody>
      </p:sp>
      <p:sp>
        <p:nvSpPr>
          <p:cNvPr id="85" name="Google Shape;85;p9"/>
          <p:cNvSpPr txBox="1"/>
          <p:nvPr/>
        </p:nvSpPr>
        <p:spPr>
          <a:xfrm>
            <a:off x="548640" y="1417320"/>
            <a:ext cx="11064240" cy="868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PulseAI ingests lab tests, discharge summaries and prescriptions and converts them into </a:t>
            </a:r>
            <a:r>
              <a:rPr lang="en-US" sz="1800" b="1" i="0" u="none" strike="noStrike" cap="none">
                <a:solidFill>
                  <a:schemeClr val="dk2"/>
                </a:solidFill>
                <a:latin typeface="Calibri"/>
                <a:ea typeface="Calibri"/>
                <a:cs typeface="Calibri"/>
                <a:sym typeface="Calibri"/>
              </a:rPr>
              <a:t>structured, FHIR R4-compliant health records</a:t>
            </a:r>
            <a:r>
              <a:rPr lang="en-US" sz="1800" b="0" i="0" u="none" strike="noStrike" cap="none">
                <a:solidFill>
                  <a:schemeClr val="dk1"/>
                </a:solidFill>
                <a:latin typeface="Calibri"/>
                <a:ea typeface="Calibri"/>
                <a:cs typeface="Calibri"/>
                <a:sym typeface="Calibri"/>
              </a:rPr>
              <a:t> for the Ayushman Bharat Digital Mission (ABDM) ecosystem.</a:t>
            </a:r>
            <a:endParaRPr sz="1800" b="0" i="0" u="none" strike="noStrike" cap="none">
              <a:solidFill>
                <a:schemeClr val="dk1"/>
              </a:solidFill>
              <a:latin typeface="Calibri"/>
              <a:ea typeface="Calibri"/>
              <a:cs typeface="Calibri"/>
              <a:sym typeface="Calibri"/>
            </a:endParaRPr>
          </a:p>
        </p:txBody>
      </p:sp>
      <p:sp>
        <p:nvSpPr>
          <p:cNvPr id="86" name="Google Shape;86;p9"/>
          <p:cNvSpPr txBox="1"/>
          <p:nvPr/>
        </p:nvSpPr>
        <p:spPr>
          <a:xfrm>
            <a:off x="548640" y="2176272"/>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spc="200">
                <a:solidFill>
                  <a:schemeClr val="accent2"/>
                </a:solidFill>
                <a:latin typeface="Calibri"/>
                <a:ea typeface="Calibri"/>
                <a:cs typeface="Calibri"/>
                <a:sym typeface="Calibri"/>
              </a:rPr>
              <a:t>STEP 01</a:t>
            </a:r>
            <a:endParaRPr sz="1200" b="0" i="0" u="none" strike="noStrike" cap="none">
              <a:solidFill>
                <a:schemeClr val="dk1"/>
              </a:solidFill>
              <a:latin typeface="Calibri"/>
              <a:ea typeface="Calibri"/>
              <a:cs typeface="Calibri"/>
              <a:sym typeface="Calibri"/>
            </a:endParaRPr>
          </a:p>
        </p:txBody>
      </p:sp>
      <p:sp>
        <p:nvSpPr>
          <p:cNvPr id="87" name="Google Shape;87;p9"/>
          <p:cNvSpPr/>
          <p:nvPr/>
        </p:nvSpPr>
        <p:spPr>
          <a:xfrm>
            <a:off x="548640" y="2487168"/>
            <a:ext cx="731520" cy="7315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8" name="Google Shape;88;p9" descr="preencoded.png"/>
          <p:cNvPicPr preferRelativeResize="0"/>
          <p:nvPr/>
        </p:nvPicPr>
        <p:blipFill rotWithShape="1">
          <a:blip r:embed="rId3">
            <a:alphaModFix/>
          </a:blip>
          <a:srcRect/>
          <a:stretch/>
        </p:blipFill>
        <p:spPr>
          <a:xfrm>
            <a:off x="740664" y="2679192"/>
            <a:ext cx="347472" cy="347472"/>
          </a:xfrm>
          <a:prstGeom prst="rect">
            <a:avLst/>
          </a:prstGeom>
          <a:noFill/>
          <a:ln>
            <a:noFill/>
          </a:ln>
        </p:spPr>
      </p:pic>
      <p:sp>
        <p:nvSpPr>
          <p:cNvPr id="89" name="Google Shape;89;p9"/>
          <p:cNvSpPr txBox="1"/>
          <p:nvPr/>
        </p:nvSpPr>
        <p:spPr>
          <a:xfrm>
            <a:off x="548640" y="3346704"/>
            <a:ext cx="25146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a:buNone/>
            </a:pPr>
            <a:r>
              <a:rPr lang="en-US" sz="2400" b="1" i="0" u="none" strike="noStrike" cap="none">
                <a:solidFill>
                  <a:schemeClr val="dk1"/>
                </a:solidFill>
                <a:latin typeface="Calibri"/>
                <a:ea typeface="Calibri"/>
                <a:cs typeface="Calibri"/>
                <a:sym typeface="Calibri"/>
              </a:rPr>
              <a:t>Upload</a:t>
            </a:r>
            <a:endParaRPr sz="2400" b="0" i="0" u="none" strike="noStrike" cap="none">
              <a:solidFill>
                <a:schemeClr val="dk1"/>
              </a:solidFill>
              <a:latin typeface="Calibri"/>
              <a:ea typeface="Calibri"/>
              <a:cs typeface="Calibri"/>
              <a:sym typeface="Calibri"/>
            </a:endParaRPr>
          </a:p>
        </p:txBody>
      </p:sp>
      <p:sp>
        <p:nvSpPr>
          <p:cNvPr id="90" name="Google Shape;90;p9"/>
          <p:cNvSpPr txBox="1"/>
          <p:nvPr/>
        </p:nvSpPr>
        <p:spPr>
          <a:xfrm>
            <a:off x="548640" y="3776472"/>
            <a:ext cx="246888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Drop in PDF, JPG or PNG reports, including scans and handwritten notes.</a:t>
            </a:r>
            <a:endParaRPr sz="1600" b="0" i="0" u="none" strike="noStrike" cap="none">
              <a:solidFill>
                <a:schemeClr val="dk1"/>
              </a:solidFill>
              <a:latin typeface="Calibri"/>
              <a:ea typeface="Calibri"/>
              <a:cs typeface="Calibri"/>
              <a:sym typeface="Calibri"/>
            </a:endParaRPr>
          </a:p>
        </p:txBody>
      </p:sp>
      <p:sp>
        <p:nvSpPr>
          <p:cNvPr id="91" name="Google Shape;91;p9"/>
          <p:cNvSpPr txBox="1"/>
          <p:nvPr/>
        </p:nvSpPr>
        <p:spPr>
          <a:xfrm>
            <a:off x="3401568" y="2176272"/>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spc="200">
                <a:solidFill>
                  <a:schemeClr val="accent2"/>
                </a:solidFill>
                <a:latin typeface="Calibri"/>
                <a:ea typeface="Calibri"/>
                <a:cs typeface="Calibri"/>
                <a:sym typeface="Calibri"/>
              </a:rPr>
              <a:t>STEP 02</a:t>
            </a:r>
            <a:endParaRPr sz="1200" b="0" i="0" u="none" strike="noStrike" cap="none">
              <a:solidFill>
                <a:schemeClr val="dk1"/>
              </a:solidFill>
              <a:latin typeface="Calibri"/>
              <a:ea typeface="Calibri"/>
              <a:cs typeface="Calibri"/>
              <a:sym typeface="Calibri"/>
            </a:endParaRPr>
          </a:p>
        </p:txBody>
      </p:sp>
      <p:sp>
        <p:nvSpPr>
          <p:cNvPr id="92" name="Google Shape;92;p9"/>
          <p:cNvSpPr/>
          <p:nvPr/>
        </p:nvSpPr>
        <p:spPr>
          <a:xfrm>
            <a:off x="3401568" y="2487168"/>
            <a:ext cx="731520" cy="7315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3" name="Google Shape;93;p9" descr="preencoded.png"/>
          <p:cNvPicPr preferRelativeResize="0"/>
          <p:nvPr/>
        </p:nvPicPr>
        <p:blipFill rotWithShape="1">
          <a:blip r:embed="rId4">
            <a:alphaModFix/>
          </a:blip>
          <a:srcRect/>
          <a:stretch/>
        </p:blipFill>
        <p:spPr>
          <a:xfrm>
            <a:off x="3593592" y="2679192"/>
            <a:ext cx="347472" cy="347472"/>
          </a:xfrm>
          <a:prstGeom prst="rect">
            <a:avLst/>
          </a:prstGeom>
          <a:noFill/>
          <a:ln>
            <a:noFill/>
          </a:ln>
        </p:spPr>
      </p:pic>
      <p:sp>
        <p:nvSpPr>
          <p:cNvPr id="94" name="Google Shape;94;p9"/>
          <p:cNvSpPr txBox="1"/>
          <p:nvPr/>
        </p:nvSpPr>
        <p:spPr>
          <a:xfrm>
            <a:off x="3401568" y="3346704"/>
            <a:ext cx="25146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a:buNone/>
            </a:pPr>
            <a:r>
              <a:rPr lang="en-US" sz="2400" b="1" i="0" u="none" strike="noStrike" cap="none">
                <a:solidFill>
                  <a:schemeClr val="dk1"/>
                </a:solidFill>
                <a:latin typeface="Calibri"/>
                <a:ea typeface="Calibri"/>
                <a:cs typeface="Calibri"/>
                <a:sym typeface="Calibri"/>
              </a:rPr>
              <a:t>Extract</a:t>
            </a:r>
            <a:endParaRPr sz="2400" b="0" i="0" u="none" strike="noStrike" cap="none">
              <a:solidFill>
                <a:schemeClr val="dk1"/>
              </a:solidFill>
              <a:latin typeface="Calibri"/>
              <a:ea typeface="Calibri"/>
              <a:cs typeface="Calibri"/>
              <a:sym typeface="Calibri"/>
            </a:endParaRPr>
          </a:p>
        </p:txBody>
      </p:sp>
      <p:sp>
        <p:nvSpPr>
          <p:cNvPr id="95" name="Google Shape;95;p9"/>
          <p:cNvSpPr txBox="1"/>
          <p:nvPr/>
        </p:nvSpPr>
        <p:spPr>
          <a:xfrm>
            <a:off x="3401568" y="3776472"/>
            <a:ext cx="246888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Gemini vision reads summary, medicines, test values and diagnoses.</a:t>
            </a:r>
            <a:endParaRPr sz="1600" b="0" i="0" u="none" strike="noStrike" cap="none">
              <a:solidFill>
                <a:schemeClr val="dk1"/>
              </a:solidFill>
              <a:latin typeface="Calibri"/>
              <a:ea typeface="Calibri"/>
              <a:cs typeface="Calibri"/>
              <a:sym typeface="Calibri"/>
            </a:endParaRPr>
          </a:p>
        </p:txBody>
      </p:sp>
      <p:cxnSp>
        <p:nvCxnSpPr>
          <p:cNvPr id="96" name="Google Shape;96;p9"/>
          <p:cNvCxnSpPr/>
          <p:nvPr/>
        </p:nvCxnSpPr>
        <p:spPr>
          <a:xfrm>
            <a:off x="1417320" y="2852928"/>
            <a:ext cx="1783080" cy="0"/>
          </a:xfrm>
          <a:prstGeom prst="straightConnector1">
            <a:avLst/>
          </a:prstGeom>
          <a:noFill/>
          <a:ln w="28575" cap="flat" cmpd="sng">
            <a:solidFill>
              <a:schemeClr val="accent1"/>
            </a:solidFill>
            <a:prstDash val="solid"/>
            <a:round/>
            <a:headEnd type="none" w="sm" len="sm"/>
            <a:tailEnd type="triangle" w="med" len="med"/>
          </a:ln>
        </p:spPr>
      </p:cxnSp>
      <p:sp>
        <p:nvSpPr>
          <p:cNvPr id="97" name="Google Shape;97;p9"/>
          <p:cNvSpPr txBox="1"/>
          <p:nvPr/>
        </p:nvSpPr>
        <p:spPr>
          <a:xfrm>
            <a:off x="6254496" y="2176272"/>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spc="200">
                <a:solidFill>
                  <a:schemeClr val="accent2"/>
                </a:solidFill>
                <a:latin typeface="Calibri"/>
                <a:ea typeface="Calibri"/>
                <a:cs typeface="Calibri"/>
                <a:sym typeface="Calibri"/>
              </a:rPr>
              <a:t>STEP 03</a:t>
            </a:r>
            <a:endParaRPr sz="1200" b="0" i="0" u="none" strike="noStrike" cap="none">
              <a:solidFill>
                <a:schemeClr val="dk1"/>
              </a:solidFill>
              <a:latin typeface="Calibri"/>
              <a:ea typeface="Calibri"/>
              <a:cs typeface="Calibri"/>
              <a:sym typeface="Calibri"/>
            </a:endParaRPr>
          </a:p>
        </p:txBody>
      </p:sp>
      <p:sp>
        <p:nvSpPr>
          <p:cNvPr id="98" name="Google Shape;98;p9"/>
          <p:cNvSpPr/>
          <p:nvPr/>
        </p:nvSpPr>
        <p:spPr>
          <a:xfrm>
            <a:off x="6254496" y="2487168"/>
            <a:ext cx="731520" cy="7315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9" name="Google Shape;99;p9" descr="preencoded.png"/>
          <p:cNvPicPr preferRelativeResize="0"/>
          <p:nvPr/>
        </p:nvPicPr>
        <p:blipFill rotWithShape="1">
          <a:blip r:embed="rId5">
            <a:alphaModFix/>
          </a:blip>
          <a:srcRect/>
          <a:stretch/>
        </p:blipFill>
        <p:spPr>
          <a:xfrm>
            <a:off x="6446520" y="2679192"/>
            <a:ext cx="347472" cy="347472"/>
          </a:xfrm>
          <a:prstGeom prst="rect">
            <a:avLst/>
          </a:prstGeom>
          <a:noFill/>
          <a:ln>
            <a:noFill/>
          </a:ln>
        </p:spPr>
      </p:pic>
      <p:sp>
        <p:nvSpPr>
          <p:cNvPr id="100" name="Google Shape;100;p9"/>
          <p:cNvSpPr txBox="1"/>
          <p:nvPr/>
        </p:nvSpPr>
        <p:spPr>
          <a:xfrm>
            <a:off x="6254496" y="3346704"/>
            <a:ext cx="25146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a:buNone/>
            </a:pPr>
            <a:r>
              <a:rPr lang="en-US" sz="2400" b="1" i="0" u="none" strike="noStrike" cap="none">
                <a:solidFill>
                  <a:schemeClr val="dk1"/>
                </a:solidFill>
                <a:latin typeface="Calibri"/>
                <a:ea typeface="Calibri"/>
                <a:cs typeface="Calibri"/>
                <a:sym typeface="Calibri"/>
              </a:rPr>
              <a:t>Explain</a:t>
            </a:r>
            <a:endParaRPr sz="2400" b="0" i="0" u="none" strike="noStrike" cap="none">
              <a:solidFill>
                <a:schemeClr val="dk1"/>
              </a:solidFill>
              <a:latin typeface="Calibri"/>
              <a:ea typeface="Calibri"/>
              <a:cs typeface="Calibri"/>
              <a:sym typeface="Calibri"/>
            </a:endParaRPr>
          </a:p>
        </p:txBody>
      </p:sp>
      <p:sp>
        <p:nvSpPr>
          <p:cNvPr id="101" name="Google Shape;101;p9"/>
          <p:cNvSpPr txBox="1"/>
          <p:nvPr/>
        </p:nvSpPr>
        <p:spPr>
          <a:xfrm>
            <a:off x="6254496" y="3776472"/>
            <a:ext cx="246888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Plain-language summaries flag abnormal values in four languages.</a:t>
            </a:r>
            <a:endParaRPr sz="1600" b="0" i="0" u="none" strike="noStrike" cap="none">
              <a:solidFill>
                <a:schemeClr val="dk1"/>
              </a:solidFill>
              <a:latin typeface="Calibri"/>
              <a:ea typeface="Calibri"/>
              <a:cs typeface="Calibri"/>
              <a:sym typeface="Calibri"/>
            </a:endParaRPr>
          </a:p>
        </p:txBody>
      </p:sp>
      <p:cxnSp>
        <p:nvCxnSpPr>
          <p:cNvPr id="102" name="Google Shape;102;p9"/>
          <p:cNvCxnSpPr/>
          <p:nvPr/>
        </p:nvCxnSpPr>
        <p:spPr>
          <a:xfrm>
            <a:off x="4270248" y="2852928"/>
            <a:ext cx="1783080" cy="0"/>
          </a:xfrm>
          <a:prstGeom prst="straightConnector1">
            <a:avLst/>
          </a:prstGeom>
          <a:noFill/>
          <a:ln w="28575" cap="flat" cmpd="sng">
            <a:solidFill>
              <a:schemeClr val="accent1"/>
            </a:solidFill>
            <a:prstDash val="solid"/>
            <a:round/>
            <a:headEnd type="none" w="sm" len="sm"/>
            <a:tailEnd type="triangle" w="med" len="med"/>
          </a:ln>
        </p:spPr>
      </p:cxnSp>
      <p:sp>
        <p:nvSpPr>
          <p:cNvPr id="103" name="Google Shape;103;p9"/>
          <p:cNvSpPr txBox="1"/>
          <p:nvPr/>
        </p:nvSpPr>
        <p:spPr>
          <a:xfrm>
            <a:off x="9107424" y="2176272"/>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spc="200">
                <a:solidFill>
                  <a:schemeClr val="accent2"/>
                </a:solidFill>
                <a:latin typeface="Calibri"/>
                <a:ea typeface="Calibri"/>
                <a:cs typeface="Calibri"/>
                <a:sym typeface="Calibri"/>
              </a:rPr>
              <a:t>STEP 04</a:t>
            </a:r>
            <a:endParaRPr sz="1200" b="0" i="0" u="none" strike="noStrike" cap="none">
              <a:solidFill>
                <a:schemeClr val="dk1"/>
              </a:solidFill>
              <a:latin typeface="Calibri"/>
              <a:ea typeface="Calibri"/>
              <a:cs typeface="Calibri"/>
              <a:sym typeface="Calibri"/>
            </a:endParaRPr>
          </a:p>
        </p:txBody>
      </p:sp>
      <p:sp>
        <p:nvSpPr>
          <p:cNvPr id="104" name="Google Shape;104;p9"/>
          <p:cNvSpPr/>
          <p:nvPr/>
        </p:nvSpPr>
        <p:spPr>
          <a:xfrm>
            <a:off x="9107424" y="2487168"/>
            <a:ext cx="731520" cy="73152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9" descr="preencoded.png"/>
          <p:cNvPicPr preferRelativeResize="0"/>
          <p:nvPr/>
        </p:nvPicPr>
        <p:blipFill rotWithShape="1">
          <a:blip r:embed="rId6">
            <a:alphaModFix/>
          </a:blip>
          <a:srcRect/>
          <a:stretch/>
        </p:blipFill>
        <p:spPr>
          <a:xfrm>
            <a:off x="9299448" y="2679192"/>
            <a:ext cx="347472" cy="347472"/>
          </a:xfrm>
          <a:prstGeom prst="rect">
            <a:avLst/>
          </a:prstGeom>
          <a:noFill/>
          <a:ln>
            <a:noFill/>
          </a:ln>
        </p:spPr>
      </p:pic>
      <p:sp>
        <p:nvSpPr>
          <p:cNvPr id="106" name="Google Shape;106;p9"/>
          <p:cNvSpPr txBox="1"/>
          <p:nvPr/>
        </p:nvSpPr>
        <p:spPr>
          <a:xfrm>
            <a:off x="9107424" y="3346704"/>
            <a:ext cx="25146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a:buNone/>
            </a:pPr>
            <a:r>
              <a:rPr lang="en-US" sz="2400" b="1" i="0" u="none" strike="noStrike" cap="none">
                <a:solidFill>
                  <a:schemeClr val="dk1"/>
                </a:solidFill>
                <a:latin typeface="Calibri"/>
                <a:ea typeface="Calibri"/>
                <a:cs typeface="Calibri"/>
                <a:sym typeface="Calibri"/>
              </a:rPr>
              <a:t>Act</a:t>
            </a:r>
            <a:endParaRPr sz="2400" b="0" i="0" u="none" strike="noStrike" cap="none">
              <a:solidFill>
                <a:schemeClr val="dk1"/>
              </a:solidFill>
              <a:latin typeface="Calibri"/>
              <a:ea typeface="Calibri"/>
              <a:cs typeface="Calibri"/>
              <a:sym typeface="Calibri"/>
            </a:endParaRPr>
          </a:p>
        </p:txBody>
      </p:sp>
      <p:sp>
        <p:nvSpPr>
          <p:cNvPr id="107" name="Google Shape;107;p9"/>
          <p:cNvSpPr txBox="1"/>
          <p:nvPr/>
        </p:nvSpPr>
        <p:spPr>
          <a:xfrm>
            <a:off x="9107424" y="3776472"/>
            <a:ext cx="246888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Unified timeline, triage guidance, chat and FHIR export.</a:t>
            </a:r>
            <a:endParaRPr sz="1600" b="0" i="0" u="none" strike="noStrike" cap="none">
              <a:solidFill>
                <a:schemeClr val="dk1"/>
              </a:solidFill>
              <a:latin typeface="Calibri"/>
              <a:ea typeface="Calibri"/>
              <a:cs typeface="Calibri"/>
              <a:sym typeface="Calibri"/>
            </a:endParaRPr>
          </a:p>
        </p:txBody>
      </p:sp>
      <p:cxnSp>
        <p:nvCxnSpPr>
          <p:cNvPr id="108" name="Google Shape;108;p9"/>
          <p:cNvCxnSpPr/>
          <p:nvPr/>
        </p:nvCxnSpPr>
        <p:spPr>
          <a:xfrm>
            <a:off x="7123176" y="2852928"/>
            <a:ext cx="1783080" cy="0"/>
          </a:xfrm>
          <a:prstGeom prst="straightConnector1">
            <a:avLst/>
          </a:prstGeom>
          <a:noFill/>
          <a:ln w="28575" cap="flat" cmpd="sng">
            <a:solidFill>
              <a:schemeClr val="accent1"/>
            </a:solidFill>
            <a:prstDash val="solid"/>
            <a:round/>
            <a:headEnd type="none" w="sm" len="sm"/>
            <a:tailEnd type="triangle" w="med" len="med"/>
          </a:ln>
        </p:spPr>
      </p:cxnSp>
      <p:sp>
        <p:nvSpPr>
          <p:cNvPr id="109" name="Google Shape;109;p9"/>
          <p:cNvSpPr txBox="1">
            <a:spLocks noGrp="1"/>
          </p:cNvSpPr>
          <p:nvPr>
            <p:ph type="sldNum" idx="4294967295"/>
          </p:nvPr>
        </p:nvSpPr>
        <p:spPr>
          <a:xfrm>
            <a:off x="11064240" y="6400800"/>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100" b="0" i="0" u="none" strike="noStrike" cap="none">
                <a:solidFill>
                  <a:srgbClr val="6F8F7F"/>
                </a:solidFill>
                <a:latin typeface="Calibri"/>
                <a:ea typeface="Calibri"/>
                <a:cs typeface="Calibri"/>
                <a:sym typeface="Calibri"/>
              </a:rPr>
              <a:t>3</a:t>
            </a:fld>
            <a:endParaRPr sz="1100" b="0" i="0" u="none" strike="noStrike" cap="none">
              <a:solidFill>
                <a:srgbClr val="6F8F7F"/>
              </a:solidFill>
              <a:latin typeface="Calibri"/>
              <a:ea typeface="Calibri"/>
              <a:cs typeface="Calibri"/>
              <a:sym typeface="Calibri"/>
            </a:endParaRPr>
          </a:p>
        </p:txBody>
      </p:sp>
      <p:pic>
        <p:nvPicPr>
          <p:cNvPr id="110" name="Google Shape;110;p9" descr="Health Records screen with the Upload record button"/>
          <p:cNvPicPr preferRelativeResize="0"/>
          <p:nvPr/>
        </p:nvPicPr>
        <p:blipFill rotWithShape="1">
          <a:blip r:embed="rId7">
            <a:alphaModFix/>
          </a:blip>
          <a:srcRect/>
          <a:stretch/>
        </p:blipFill>
        <p:spPr>
          <a:xfrm>
            <a:off x="548640" y="4617720"/>
            <a:ext cx="2651760" cy="1657350"/>
          </a:xfrm>
          <a:prstGeom prst="roundRect">
            <a:avLst>
              <a:gd name="adj" fmla="val 4500"/>
            </a:avLst>
          </a:prstGeom>
          <a:noFill/>
          <a:ln w="12700" cap="flat" cmpd="sng">
            <a:solidFill>
              <a:srgbClr val="39E07A"/>
            </a:solidFill>
            <a:prstDash val="solid"/>
            <a:round/>
            <a:headEnd type="none" w="sm" len="sm"/>
            <a:tailEnd type="none" w="sm" len="sm"/>
          </a:ln>
        </p:spPr>
      </p:pic>
      <p:pic>
        <p:nvPicPr>
          <p:cNvPr id="111" name="Google Shape;111;p9" descr="Medications screen showing extracted medicines and adherence"/>
          <p:cNvPicPr preferRelativeResize="0"/>
          <p:nvPr/>
        </p:nvPicPr>
        <p:blipFill rotWithShape="1">
          <a:blip r:embed="rId8">
            <a:alphaModFix/>
          </a:blip>
          <a:srcRect/>
          <a:stretch/>
        </p:blipFill>
        <p:spPr>
          <a:xfrm>
            <a:off x="3401568" y="4617720"/>
            <a:ext cx="2651760" cy="1657350"/>
          </a:xfrm>
          <a:prstGeom prst="roundRect">
            <a:avLst>
              <a:gd name="adj" fmla="val 4500"/>
            </a:avLst>
          </a:prstGeom>
          <a:noFill/>
          <a:ln w="12700" cap="flat" cmpd="sng">
            <a:solidFill>
              <a:srgbClr val="39E07A"/>
            </a:solidFill>
            <a:prstDash val="solid"/>
            <a:round/>
            <a:headEnd type="none" w="sm" len="sm"/>
            <a:tailEnd type="none" w="sm" len="sm"/>
          </a:ln>
        </p:spPr>
      </p:pic>
      <p:pic>
        <p:nvPicPr>
          <p:cNvPr id="112" name="Google Shape;112;p9" descr="Copilot Chat explaining a symptom in plain language"/>
          <p:cNvPicPr preferRelativeResize="0"/>
          <p:nvPr/>
        </p:nvPicPr>
        <p:blipFill rotWithShape="1">
          <a:blip r:embed="rId9">
            <a:alphaModFix/>
          </a:blip>
          <a:srcRect/>
          <a:stretch/>
        </p:blipFill>
        <p:spPr>
          <a:xfrm>
            <a:off x="6254496" y="4617720"/>
            <a:ext cx="2651760" cy="1657350"/>
          </a:xfrm>
          <a:prstGeom prst="roundRect">
            <a:avLst>
              <a:gd name="adj" fmla="val 4500"/>
            </a:avLst>
          </a:prstGeom>
          <a:noFill/>
          <a:ln w="12700" cap="flat" cmpd="sng">
            <a:solidFill>
              <a:srgbClr val="39E07A"/>
            </a:solidFill>
            <a:prstDash val="solid"/>
            <a:round/>
            <a:headEnd type="none" w="sm" len="sm"/>
            <a:tailEnd type="none" w="sm" len="sm"/>
          </a:ln>
        </p:spPr>
      </p:pic>
      <p:pic>
        <p:nvPicPr>
          <p:cNvPr id="113" name="Google Shape;113;p9" descr="Emergency triage screen with guided next steps"/>
          <p:cNvPicPr preferRelativeResize="0"/>
          <p:nvPr/>
        </p:nvPicPr>
        <p:blipFill rotWithShape="1">
          <a:blip r:embed="rId10">
            <a:alphaModFix/>
          </a:blip>
          <a:srcRect/>
          <a:stretch/>
        </p:blipFill>
        <p:spPr>
          <a:xfrm>
            <a:off x="9107424" y="4617720"/>
            <a:ext cx="2651760" cy="1657350"/>
          </a:xfrm>
          <a:prstGeom prst="roundRect">
            <a:avLst>
              <a:gd name="adj" fmla="val 4500"/>
            </a:avLst>
          </a:prstGeom>
          <a:noFill/>
          <a:ln w="12700" cap="flat" cmpd="sng">
            <a:solidFill>
              <a:srgbClr val="39E07A"/>
            </a:solidFill>
            <a:prstDash val="solid"/>
            <a:round/>
            <a:headEnd type="none" w="sm" len="sm"/>
            <a:tailEnd type="none" w="sm" len="sm"/>
          </a:ln>
        </p:spPr>
      </p:pic>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550"/>
                                        <p:tgtEl>
                                          <p:spTgt spid="85"/>
                                        </p:tgtEl>
                                      </p:cBhvr>
                                    </p:animEffect>
                                  </p:childTnLst>
                                </p:cTn>
                              </p:par>
                              <p:par>
                                <p:cTn id="8" presetID="10" presetClass="entr" presetSubtype="0" fill="hold" nodeType="withEffect">
                                  <p:stCondLst>
                                    <p:cond delay="380"/>
                                  </p:stCondLst>
                                  <p:childTnLst>
                                    <p:set>
                                      <p:cBhvr>
                                        <p:cTn id="9" dur="1" fill="hold">
                                          <p:stCondLst>
                                            <p:cond delay="0"/>
                                          </p:stCondLst>
                                        </p:cTn>
                                        <p:tgtEl>
                                          <p:spTgt spid="86"/>
                                        </p:tgtEl>
                                        <p:attrNameLst>
                                          <p:attrName>style.visibility</p:attrName>
                                        </p:attrNameLst>
                                      </p:cBhvr>
                                      <p:to>
                                        <p:strVal val="visible"/>
                                      </p:to>
                                    </p:set>
                                    <p:animEffect transition="in" filter="fade">
                                      <p:cBhvr>
                                        <p:cTn id="10" dur="550"/>
                                        <p:tgtEl>
                                          <p:spTgt spid="86"/>
                                        </p:tgtEl>
                                      </p:cBhvr>
                                    </p:animEffect>
                                  </p:childTnLst>
                                </p:cTn>
                              </p:par>
                              <p:par>
                                <p:cTn id="11" presetID="10" presetClass="entr" presetSubtype="0" fill="hold" nodeType="withEffect">
                                  <p:stCondLst>
                                    <p:cond delay="380"/>
                                  </p:stCondLst>
                                  <p:childTnLst>
                                    <p:set>
                                      <p:cBhvr>
                                        <p:cTn id="12" dur="1" fill="hold">
                                          <p:stCondLst>
                                            <p:cond delay="0"/>
                                          </p:stCondLst>
                                        </p:cTn>
                                        <p:tgtEl>
                                          <p:spTgt spid="87"/>
                                        </p:tgtEl>
                                        <p:attrNameLst>
                                          <p:attrName>style.visibility</p:attrName>
                                        </p:attrNameLst>
                                      </p:cBhvr>
                                      <p:to>
                                        <p:strVal val="visible"/>
                                      </p:to>
                                    </p:set>
                                    <p:animEffect transition="in" filter="fade">
                                      <p:cBhvr>
                                        <p:cTn id="13" dur="550"/>
                                        <p:tgtEl>
                                          <p:spTgt spid="87"/>
                                        </p:tgtEl>
                                      </p:cBhvr>
                                    </p:animEffect>
                                  </p:childTnLst>
                                </p:cTn>
                              </p:par>
                              <p:par>
                                <p:cTn id="14" presetID="10" presetClass="entr" presetSubtype="0" fill="hold" nodeType="withEffect">
                                  <p:stCondLst>
                                    <p:cond delay="380"/>
                                  </p:stCondLst>
                                  <p:childTnLst>
                                    <p:set>
                                      <p:cBhvr>
                                        <p:cTn id="15" dur="1" fill="hold">
                                          <p:stCondLst>
                                            <p:cond delay="0"/>
                                          </p:stCondLst>
                                        </p:cTn>
                                        <p:tgtEl>
                                          <p:spTgt spid="88"/>
                                        </p:tgtEl>
                                        <p:attrNameLst>
                                          <p:attrName>style.visibility</p:attrName>
                                        </p:attrNameLst>
                                      </p:cBhvr>
                                      <p:to>
                                        <p:strVal val="visible"/>
                                      </p:to>
                                    </p:set>
                                    <p:animEffect transition="in" filter="fade">
                                      <p:cBhvr>
                                        <p:cTn id="16" dur="550"/>
                                        <p:tgtEl>
                                          <p:spTgt spid="88"/>
                                        </p:tgtEl>
                                      </p:cBhvr>
                                    </p:animEffect>
                                  </p:childTnLst>
                                </p:cTn>
                              </p:par>
                              <p:par>
                                <p:cTn id="17" presetID="10" presetClass="entr" presetSubtype="0" fill="hold" nodeType="withEffect">
                                  <p:stCondLst>
                                    <p:cond delay="380"/>
                                  </p:stCondLst>
                                  <p:childTnLst>
                                    <p:set>
                                      <p:cBhvr>
                                        <p:cTn id="18" dur="1" fill="hold">
                                          <p:stCondLst>
                                            <p:cond delay="0"/>
                                          </p:stCondLst>
                                        </p:cTn>
                                        <p:tgtEl>
                                          <p:spTgt spid="89"/>
                                        </p:tgtEl>
                                        <p:attrNameLst>
                                          <p:attrName>style.visibility</p:attrName>
                                        </p:attrNameLst>
                                      </p:cBhvr>
                                      <p:to>
                                        <p:strVal val="visible"/>
                                      </p:to>
                                    </p:set>
                                    <p:animEffect transition="in" filter="fade">
                                      <p:cBhvr>
                                        <p:cTn id="19" dur="550"/>
                                        <p:tgtEl>
                                          <p:spTgt spid="89"/>
                                        </p:tgtEl>
                                      </p:cBhvr>
                                    </p:animEffect>
                                  </p:childTnLst>
                                </p:cTn>
                              </p:par>
                              <p:par>
                                <p:cTn id="20" presetID="10" presetClass="entr" presetSubtype="0" fill="hold" nodeType="withEffect">
                                  <p:stCondLst>
                                    <p:cond delay="380"/>
                                  </p:stCondLst>
                                  <p:childTnLst>
                                    <p:set>
                                      <p:cBhvr>
                                        <p:cTn id="21" dur="1" fill="hold">
                                          <p:stCondLst>
                                            <p:cond delay="0"/>
                                          </p:stCondLst>
                                        </p:cTn>
                                        <p:tgtEl>
                                          <p:spTgt spid="90"/>
                                        </p:tgtEl>
                                        <p:attrNameLst>
                                          <p:attrName>style.visibility</p:attrName>
                                        </p:attrNameLst>
                                      </p:cBhvr>
                                      <p:to>
                                        <p:strVal val="visible"/>
                                      </p:to>
                                    </p:set>
                                    <p:animEffect transition="in" filter="fade">
                                      <p:cBhvr>
                                        <p:cTn id="22" dur="550"/>
                                        <p:tgtEl>
                                          <p:spTgt spid="90"/>
                                        </p:tgtEl>
                                      </p:cBhvr>
                                    </p:animEffect>
                                  </p:childTnLst>
                                </p:cTn>
                              </p:par>
                              <p:par>
                                <p:cTn id="23" presetID="10" presetClass="entr" presetSubtype="0" fill="hold" nodeType="withEffect">
                                  <p:stCondLst>
                                    <p:cond delay="760"/>
                                  </p:stCondLst>
                                  <p:childTnLst>
                                    <p:set>
                                      <p:cBhvr>
                                        <p:cTn id="24" dur="1" fill="hold">
                                          <p:stCondLst>
                                            <p:cond delay="0"/>
                                          </p:stCondLst>
                                        </p:cTn>
                                        <p:tgtEl>
                                          <p:spTgt spid="91"/>
                                        </p:tgtEl>
                                        <p:attrNameLst>
                                          <p:attrName>style.visibility</p:attrName>
                                        </p:attrNameLst>
                                      </p:cBhvr>
                                      <p:to>
                                        <p:strVal val="visible"/>
                                      </p:to>
                                    </p:set>
                                    <p:animEffect transition="in" filter="fade">
                                      <p:cBhvr>
                                        <p:cTn id="25" dur="550"/>
                                        <p:tgtEl>
                                          <p:spTgt spid="91"/>
                                        </p:tgtEl>
                                      </p:cBhvr>
                                    </p:animEffect>
                                  </p:childTnLst>
                                </p:cTn>
                              </p:par>
                              <p:par>
                                <p:cTn id="26" presetID="10" presetClass="entr" presetSubtype="0" fill="hold" nodeType="withEffect">
                                  <p:stCondLst>
                                    <p:cond delay="760"/>
                                  </p:stCondLst>
                                  <p:childTnLst>
                                    <p:set>
                                      <p:cBhvr>
                                        <p:cTn id="27" dur="1" fill="hold">
                                          <p:stCondLst>
                                            <p:cond delay="0"/>
                                          </p:stCondLst>
                                        </p:cTn>
                                        <p:tgtEl>
                                          <p:spTgt spid="92"/>
                                        </p:tgtEl>
                                        <p:attrNameLst>
                                          <p:attrName>style.visibility</p:attrName>
                                        </p:attrNameLst>
                                      </p:cBhvr>
                                      <p:to>
                                        <p:strVal val="visible"/>
                                      </p:to>
                                    </p:set>
                                    <p:animEffect transition="in" filter="fade">
                                      <p:cBhvr>
                                        <p:cTn id="28" dur="550"/>
                                        <p:tgtEl>
                                          <p:spTgt spid="92"/>
                                        </p:tgtEl>
                                      </p:cBhvr>
                                    </p:animEffect>
                                  </p:childTnLst>
                                </p:cTn>
                              </p:par>
                              <p:par>
                                <p:cTn id="29" presetID="10" presetClass="entr" presetSubtype="0" fill="hold" nodeType="withEffect">
                                  <p:stCondLst>
                                    <p:cond delay="760"/>
                                  </p:stCondLst>
                                  <p:childTnLst>
                                    <p:set>
                                      <p:cBhvr>
                                        <p:cTn id="30" dur="1" fill="hold">
                                          <p:stCondLst>
                                            <p:cond delay="0"/>
                                          </p:stCondLst>
                                        </p:cTn>
                                        <p:tgtEl>
                                          <p:spTgt spid="93"/>
                                        </p:tgtEl>
                                        <p:attrNameLst>
                                          <p:attrName>style.visibility</p:attrName>
                                        </p:attrNameLst>
                                      </p:cBhvr>
                                      <p:to>
                                        <p:strVal val="visible"/>
                                      </p:to>
                                    </p:set>
                                    <p:animEffect transition="in" filter="fade">
                                      <p:cBhvr>
                                        <p:cTn id="31" dur="550"/>
                                        <p:tgtEl>
                                          <p:spTgt spid="93"/>
                                        </p:tgtEl>
                                      </p:cBhvr>
                                    </p:animEffect>
                                  </p:childTnLst>
                                </p:cTn>
                              </p:par>
                              <p:par>
                                <p:cTn id="32" presetID="10" presetClass="entr" presetSubtype="0" fill="hold" nodeType="withEffect">
                                  <p:stCondLst>
                                    <p:cond delay="760"/>
                                  </p:stCondLst>
                                  <p:childTnLst>
                                    <p:set>
                                      <p:cBhvr>
                                        <p:cTn id="33" dur="1" fill="hold">
                                          <p:stCondLst>
                                            <p:cond delay="0"/>
                                          </p:stCondLst>
                                        </p:cTn>
                                        <p:tgtEl>
                                          <p:spTgt spid="94"/>
                                        </p:tgtEl>
                                        <p:attrNameLst>
                                          <p:attrName>style.visibility</p:attrName>
                                        </p:attrNameLst>
                                      </p:cBhvr>
                                      <p:to>
                                        <p:strVal val="visible"/>
                                      </p:to>
                                    </p:set>
                                    <p:animEffect transition="in" filter="fade">
                                      <p:cBhvr>
                                        <p:cTn id="34" dur="550"/>
                                        <p:tgtEl>
                                          <p:spTgt spid="94"/>
                                        </p:tgtEl>
                                      </p:cBhvr>
                                    </p:animEffect>
                                  </p:childTnLst>
                                </p:cTn>
                              </p:par>
                              <p:par>
                                <p:cTn id="35" presetID="10" presetClass="entr" presetSubtype="0" fill="hold" nodeType="withEffect">
                                  <p:stCondLst>
                                    <p:cond delay="760"/>
                                  </p:stCondLst>
                                  <p:childTnLst>
                                    <p:set>
                                      <p:cBhvr>
                                        <p:cTn id="36" dur="1" fill="hold">
                                          <p:stCondLst>
                                            <p:cond delay="0"/>
                                          </p:stCondLst>
                                        </p:cTn>
                                        <p:tgtEl>
                                          <p:spTgt spid="95"/>
                                        </p:tgtEl>
                                        <p:attrNameLst>
                                          <p:attrName>style.visibility</p:attrName>
                                        </p:attrNameLst>
                                      </p:cBhvr>
                                      <p:to>
                                        <p:strVal val="visible"/>
                                      </p:to>
                                    </p:set>
                                    <p:animEffect transition="in" filter="fade">
                                      <p:cBhvr>
                                        <p:cTn id="37" dur="550"/>
                                        <p:tgtEl>
                                          <p:spTgt spid="95"/>
                                        </p:tgtEl>
                                      </p:cBhvr>
                                    </p:animEffect>
                                  </p:childTnLst>
                                </p:cTn>
                              </p:par>
                              <p:par>
                                <p:cTn id="38" presetID="10" presetClass="entr" presetSubtype="0" fill="hold" nodeType="withEffect">
                                  <p:stCondLst>
                                    <p:cond delay="760"/>
                                  </p:stCondLst>
                                  <p:childTnLst>
                                    <p:set>
                                      <p:cBhvr>
                                        <p:cTn id="39" dur="1" fill="hold">
                                          <p:stCondLst>
                                            <p:cond delay="0"/>
                                          </p:stCondLst>
                                        </p:cTn>
                                        <p:tgtEl>
                                          <p:spTgt spid="96"/>
                                        </p:tgtEl>
                                        <p:attrNameLst>
                                          <p:attrName>style.visibility</p:attrName>
                                        </p:attrNameLst>
                                      </p:cBhvr>
                                      <p:to>
                                        <p:strVal val="visible"/>
                                      </p:to>
                                    </p:set>
                                    <p:animEffect transition="in" filter="fade">
                                      <p:cBhvr>
                                        <p:cTn id="40" dur="550"/>
                                        <p:tgtEl>
                                          <p:spTgt spid="96"/>
                                        </p:tgtEl>
                                      </p:cBhvr>
                                    </p:animEffect>
                                  </p:childTnLst>
                                </p:cTn>
                              </p:par>
                              <p:par>
                                <p:cTn id="41" presetID="10" presetClass="entr" presetSubtype="0" fill="hold" nodeType="withEffect">
                                  <p:stCondLst>
                                    <p:cond delay="1140"/>
                                  </p:stCondLst>
                                  <p:childTnLst>
                                    <p:set>
                                      <p:cBhvr>
                                        <p:cTn id="42" dur="1" fill="hold">
                                          <p:stCondLst>
                                            <p:cond delay="0"/>
                                          </p:stCondLst>
                                        </p:cTn>
                                        <p:tgtEl>
                                          <p:spTgt spid="97"/>
                                        </p:tgtEl>
                                        <p:attrNameLst>
                                          <p:attrName>style.visibility</p:attrName>
                                        </p:attrNameLst>
                                      </p:cBhvr>
                                      <p:to>
                                        <p:strVal val="visible"/>
                                      </p:to>
                                    </p:set>
                                    <p:animEffect transition="in" filter="fade">
                                      <p:cBhvr>
                                        <p:cTn id="43" dur="550"/>
                                        <p:tgtEl>
                                          <p:spTgt spid="97"/>
                                        </p:tgtEl>
                                      </p:cBhvr>
                                    </p:animEffect>
                                  </p:childTnLst>
                                </p:cTn>
                              </p:par>
                              <p:par>
                                <p:cTn id="44" presetID="10" presetClass="entr" presetSubtype="0" fill="hold" nodeType="withEffect">
                                  <p:stCondLst>
                                    <p:cond delay="1140"/>
                                  </p:stCondLst>
                                  <p:childTnLst>
                                    <p:set>
                                      <p:cBhvr>
                                        <p:cTn id="45" dur="1" fill="hold">
                                          <p:stCondLst>
                                            <p:cond delay="0"/>
                                          </p:stCondLst>
                                        </p:cTn>
                                        <p:tgtEl>
                                          <p:spTgt spid="98"/>
                                        </p:tgtEl>
                                        <p:attrNameLst>
                                          <p:attrName>style.visibility</p:attrName>
                                        </p:attrNameLst>
                                      </p:cBhvr>
                                      <p:to>
                                        <p:strVal val="visible"/>
                                      </p:to>
                                    </p:set>
                                    <p:animEffect transition="in" filter="fade">
                                      <p:cBhvr>
                                        <p:cTn id="46" dur="550"/>
                                        <p:tgtEl>
                                          <p:spTgt spid="98"/>
                                        </p:tgtEl>
                                      </p:cBhvr>
                                    </p:animEffect>
                                  </p:childTnLst>
                                </p:cTn>
                              </p:par>
                              <p:par>
                                <p:cTn id="47" presetID="10" presetClass="entr" presetSubtype="0" fill="hold" nodeType="withEffect">
                                  <p:stCondLst>
                                    <p:cond delay="1140"/>
                                  </p:stCondLst>
                                  <p:childTnLst>
                                    <p:set>
                                      <p:cBhvr>
                                        <p:cTn id="48" dur="1" fill="hold">
                                          <p:stCondLst>
                                            <p:cond delay="0"/>
                                          </p:stCondLst>
                                        </p:cTn>
                                        <p:tgtEl>
                                          <p:spTgt spid="99"/>
                                        </p:tgtEl>
                                        <p:attrNameLst>
                                          <p:attrName>style.visibility</p:attrName>
                                        </p:attrNameLst>
                                      </p:cBhvr>
                                      <p:to>
                                        <p:strVal val="visible"/>
                                      </p:to>
                                    </p:set>
                                    <p:animEffect transition="in" filter="fade">
                                      <p:cBhvr>
                                        <p:cTn id="49" dur="550"/>
                                        <p:tgtEl>
                                          <p:spTgt spid="99"/>
                                        </p:tgtEl>
                                      </p:cBhvr>
                                    </p:animEffect>
                                  </p:childTnLst>
                                </p:cTn>
                              </p:par>
                              <p:par>
                                <p:cTn id="50" presetID="10" presetClass="entr" presetSubtype="0" fill="hold" nodeType="withEffect">
                                  <p:stCondLst>
                                    <p:cond delay="1140"/>
                                  </p:stCondLst>
                                  <p:childTnLst>
                                    <p:set>
                                      <p:cBhvr>
                                        <p:cTn id="51" dur="1" fill="hold">
                                          <p:stCondLst>
                                            <p:cond delay="0"/>
                                          </p:stCondLst>
                                        </p:cTn>
                                        <p:tgtEl>
                                          <p:spTgt spid="100"/>
                                        </p:tgtEl>
                                        <p:attrNameLst>
                                          <p:attrName>style.visibility</p:attrName>
                                        </p:attrNameLst>
                                      </p:cBhvr>
                                      <p:to>
                                        <p:strVal val="visible"/>
                                      </p:to>
                                    </p:set>
                                    <p:animEffect transition="in" filter="fade">
                                      <p:cBhvr>
                                        <p:cTn id="52" dur="550"/>
                                        <p:tgtEl>
                                          <p:spTgt spid="100"/>
                                        </p:tgtEl>
                                      </p:cBhvr>
                                    </p:animEffect>
                                  </p:childTnLst>
                                </p:cTn>
                              </p:par>
                              <p:par>
                                <p:cTn id="53" presetID="10" presetClass="entr" presetSubtype="0" fill="hold" nodeType="withEffect">
                                  <p:stCondLst>
                                    <p:cond delay="1140"/>
                                  </p:stCondLst>
                                  <p:childTnLst>
                                    <p:set>
                                      <p:cBhvr>
                                        <p:cTn id="54" dur="1" fill="hold">
                                          <p:stCondLst>
                                            <p:cond delay="0"/>
                                          </p:stCondLst>
                                        </p:cTn>
                                        <p:tgtEl>
                                          <p:spTgt spid="101"/>
                                        </p:tgtEl>
                                        <p:attrNameLst>
                                          <p:attrName>style.visibility</p:attrName>
                                        </p:attrNameLst>
                                      </p:cBhvr>
                                      <p:to>
                                        <p:strVal val="visible"/>
                                      </p:to>
                                    </p:set>
                                    <p:animEffect transition="in" filter="fade">
                                      <p:cBhvr>
                                        <p:cTn id="55" dur="550"/>
                                        <p:tgtEl>
                                          <p:spTgt spid="101"/>
                                        </p:tgtEl>
                                      </p:cBhvr>
                                    </p:animEffect>
                                  </p:childTnLst>
                                </p:cTn>
                              </p:par>
                              <p:par>
                                <p:cTn id="56" presetID="10" presetClass="entr" presetSubtype="0" fill="hold" nodeType="withEffect">
                                  <p:stCondLst>
                                    <p:cond delay="1140"/>
                                  </p:stCondLst>
                                  <p:childTnLst>
                                    <p:set>
                                      <p:cBhvr>
                                        <p:cTn id="57" dur="1" fill="hold">
                                          <p:stCondLst>
                                            <p:cond delay="0"/>
                                          </p:stCondLst>
                                        </p:cTn>
                                        <p:tgtEl>
                                          <p:spTgt spid="102"/>
                                        </p:tgtEl>
                                        <p:attrNameLst>
                                          <p:attrName>style.visibility</p:attrName>
                                        </p:attrNameLst>
                                      </p:cBhvr>
                                      <p:to>
                                        <p:strVal val="visible"/>
                                      </p:to>
                                    </p:set>
                                    <p:animEffect transition="in" filter="fade">
                                      <p:cBhvr>
                                        <p:cTn id="58" dur="550"/>
                                        <p:tgtEl>
                                          <p:spTgt spid="102"/>
                                        </p:tgtEl>
                                      </p:cBhvr>
                                    </p:animEffect>
                                  </p:childTnLst>
                                </p:cTn>
                              </p:par>
                              <p:par>
                                <p:cTn id="59" presetID="10" presetClass="entr" presetSubtype="0" fill="hold" nodeType="withEffect">
                                  <p:stCondLst>
                                    <p:cond delay="1520"/>
                                  </p:stCondLst>
                                  <p:childTnLst>
                                    <p:set>
                                      <p:cBhvr>
                                        <p:cTn id="60" dur="1" fill="hold">
                                          <p:stCondLst>
                                            <p:cond delay="0"/>
                                          </p:stCondLst>
                                        </p:cTn>
                                        <p:tgtEl>
                                          <p:spTgt spid="103"/>
                                        </p:tgtEl>
                                        <p:attrNameLst>
                                          <p:attrName>style.visibility</p:attrName>
                                        </p:attrNameLst>
                                      </p:cBhvr>
                                      <p:to>
                                        <p:strVal val="visible"/>
                                      </p:to>
                                    </p:set>
                                    <p:animEffect transition="in" filter="fade">
                                      <p:cBhvr>
                                        <p:cTn id="61" dur="550"/>
                                        <p:tgtEl>
                                          <p:spTgt spid="103"/>
                                        </p:tgtEl>
                                      </p:cBhvr>
                                    </p:animEffect>
                                  </p:childTnLst>
                                </p:cTn>
                              </p:par>
                              <p:par>
                                <p:cTn id="62" presetID="10" presetClass="entr" presetSubtype="0" fill="hold" nodeType="withEffect">
                                  <p:stCondLst>
                                    <p:cond delay="1520"/>
                                  </p:stCondLst>
                                  <p:childTnLst>
                                    <p:set>
                                      <p:cBhvr>
                                        <p:cTn id="63" dur="1" fill="hold">
                                          <p:stCondLst>
                                            <p:cond delay="0"/>
                                          </p:stCondLst>
                                        </p:cTn>
                                        <p:tgtEl>
                                          <p:spTgt spid="104"/>
                                        </p:tgtEl>
                                        <p:attrNameLst>
                                          <p:attrName>style.visibility</p:attrName>
                                        </p:attrNameLst>
                                      </p:cBhvr>
                                      <p:to>
                                        <p:strVal val="visible"/>
                                      </p:to>
                                    </p:set>
                                    <p:animEffect transition="in" filter="fade">
                                      <p:cBhvr>
                                        <p:cTn id="64" dur="550"/>
                                        <p:tgtEl>
                                          <p:spTgt spid="104"/>
                                        </p:tgtEl>
                                      </p:cBhvr>
                                    </p:animEffect>
                                  </p:childTnLst>
                                </p:cTn>
                              </p:par>
                              <p:par>
                                <p:cTn id="65" presetID="10" presetClass="entr" presetSubtype="0" fill="hold" nodeType="withEffect">
                                  <p:stCondLst>
                                    <p:cond delay="1520"/>
                                  </p:stCondLst>
                                  <p:childTnLst>
                                    <p:set>
                                      <p:cBhvr>
                                        <p:cTn id="66" dur="1" fill="hold">
                                          <p:stCondLst>
                                            <p:cond delay="0"/>
                                          </p:stCondLst>
                                        </p:cTn>
                                        <p:tgtEl>
                                          <p:spTgt spid="105"/>
                                        </p:tgtEl>
                                        <p:attrNameLst>
                                          <p:attrName>style.visibility</p:attrName>
                                        </p:attrNameLst>
                                      </p:cBhvr>
                                      <p:to>
                                        <p:strVal val="visible"/>
                                      </p:to>
                                    </p:set>
                                    <p:animEffect transition="in" filter="fade">
                                      <p:cBhvr>
                                        <p:cTn id="67" dur="550"/>
                                        <p:tgtEl>
                                          <p:spTgt spid="105"/>
                                        </p:tgtEl>
                                      </p:cBhvr>
                                    </p:animEffect>
                                  </p:childTnLst>
                                </p:cTn>
                              </p:par>
                              <p:par>
                                <p:cTn id="68" presetID="10" presetClass="entr" presetSubtype="0" fill="hold" nodeType="withEffect">
                                  <p:stCondLst>
                                    <p:cond delay="1520"/>
                                  </p:stCondLst>
                                  <p:childTnLst>
                                    <p:set>
                                      <p:cBhvr>
                                        <p:cTn id="69" dur="1" fill="hold">
                                          <p:stCondLst>
                                            <p:cond delay="0"/>
                                          </p:stCondLst>
                                        </p:cTn>
                                        <p:tgtEl>
                                          <p:spTgt spid="106"/>
                                        </p:tgtEl>
                                        <p:attrNameLst>
                                          <p:attrName>style.visibility</p:attrName>
                                        </p:attrNameLst>
                                      </p:cBhvr>
                                      <p:to>
                                        <p:strVal val="visible"/>
                                      </p:to>
                                    </p:set>
                                    <p:animEffect transition="in" filter="fade">
                                      <p:cBhvr>
                                        <p:cTn id="70" dur="550"/>
                                        <p:tgtEl>
                                          <p:spTgt spid="106"/>
                                        </p:tgtEl>
                                      </p:cBhvr>
                                    </p:animEffect>
                                  </p:childTnLst>
                                </p:cTn>
                              </p:par>
                              <p:par>
                                <p:cTn id="71" presetID="10" presetClass="entr" presetSubtype="0" fill="hold" nodeType="withEffect">
                                  <p:stCondLst>
                                    <p:cond delay="1520"/>
                                  </p:stCondLst>
                                  <p:childTnLst>
                                    <p:set>
                                      <p:cBhvr>
                                        <p:cTn id="72" dur="1" fill="hold">
                                          <p:stCondLst>
                                            <p:cond delay="0"/>
                                          </p:stCondLst>
                                        </p:cTn>
                                        <p:tgtEl>
                                          <p:spTgt spid="107"/>
                                        </p:tgtEl>
                                        <p:attrNameLst>
                                          <p:attrName>style.visibility</p:attrName>
                                        </p:attrNameLst>
                                      </p:cBhvr>
                                      <p:to>
                                        <p:strVal val="visible"/>
                                      </p:to>
                                    </p:set>
                                    <p:animEffect transition="in" filter="fade">
                                      <p:cBhvr>
                                        <p:cTn id="73" dur="550"/>
                                        <p:tgtEl>
                                          <p:spTgt spid="107"/>
                                        </p:tgtEl>
                                      </p:cBhvr>
                                    </p:animEffect>
                                  </p:childTnLst>
                                </p:cTn>
                              </p:par>
                              <p:par>
                                <p:cTn id="74" presetID="10" presetClass="entr" presetSubtype="0" fill="hold" nodeType="withEffect">
                                  <p:stCondLst>
                                    <p:cond delay="1520"/>
                                  </p:stCondLst>
                                  <p:childTnLst>
                                    <p:set>
                                      <p:cBhvr>
                                        <p:cTn id="75" dur="1" fill="hold">
                                          <p:stCondLst>
                                            <p:cond delay="0"/>
                                          </p:stCondLst>
                                        </p:cTn>
                                        <p:tgtEl>
                                          <p:spTgt spid="108"/>
                                        </p:tgtEl>
                                        <p:attrNameLst>
                                          <p:attrName>style.visibility</p:attrName>
                                        </p:attrNameLst>
                                      </p:cBhvr>
                                      <p:to>
                                        <p:strVal val="visible"/>
                                      </p:to>
                                    </p:set>
                                    <p:animEffect transition="in" filter="fade">
                                      <p:cBhvr>
                                        <p:cTn id="76" dur="55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0"/>
          <p:cNvSpPr txBox="1">
            <a:spLocks noGrp="1"/>
          </p:cNvSpPr>
          <p:nvPr>
            <p:ph type="title"/>
          </p:nvPr>
        </p:nvSpPr>
        <p:spPr>
          <a:xfrm>
            <a:off x="548640" y="365760"/>
            <a:ext cx="11064240" cy="82296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libri"/>
              <a:buNone/>
            </a:pPr>
            <a:r>
              <a:rPr lang="en-US" sz="3600" b="1">
                <a:solidFill>
                  <a:schemeClr val="dk1"/>
                </a:solidFill>
              </a:rPr>
              <a:t>Everything the challenge asked for</a:t>
            </a:r>
            <a:endParaRPr sz="3600"/>
          </a:p>
        </p:txBody>
      </p:sp>
      <p:sp>
        <p:nvSpPr>
          <p:cNvPr id="120" name="Google Shape;120;p10"/>
          <p:cNvSpPr/>
          <p:nvPr/>
        </p:nvSpPr>
        <p:spPr>
          <a:xfrm>
            <a:off x="548640" y="1417320"/>
            <a:ext cx="3566160" cy="1481328"/>
          </a:xfrm>
          <a:prstGeom prst="roundRect">
            <a:avLst>
              <a:gd name="adj" fmla="val 5957"/>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0"/>
          <p:cNvSpPr/>
          <p:nvPr/>
        </p:nvSpPr>
        <p:spPr>
          <a:xfrm>
            <a:off x="731520" y="1600200"/>
            <a:ext cx="502920" cy="5029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2" name="Google Shape;122;p10" descr="preencoded.png"/>
          <p:cNvPicPr preferRelativeResize="0"/>
          <p:nvPr/>
        </p:nvPicPr>
        <p:blipFill rotWithShape="1">
          <a:blip r:embed="rId3">
            <a:alphaModFix/>
          </a:blip>
          <a:srcRect/>
          <a:stretch/>
        </p:blipFill>
        <p:spPr>
          <a:xfrm>
            <a:off x="841248" y="1709928"/>
            <a:ext cx="283464" cy="283464"/>
          </a:xfrm>
          <a:prstGeom prst="rect">
            <a:avLst/>
          </a:prstGeom>
          <a:noFill/>
          <a:ln>
            <a:noFill/>
          </a:ln>
        </p:spPr>
      </p:pic>
      <p:sp>
        <p:nvSpPr>
          <p:cNvPr id="123" name="Google Shape;123;p10"/>
          <p:cNvSpPr txBox="1"/>
          <p:nvPr/>
        </p:nvSpPr>
        <p:spPr>
          <a:xfrm>
            <a:off x="1371600" y="1673352"/>
            <a:ext cx="26060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Upload &amp; extraction</a:t>
            </a:r>
            <a:endParaRPr sz="1800" b="0" i="0" u="none" strike="noStrike" cap="none">
              <a:solidFill>
                <a:schemeClr val="dk1"/>
              </a:solidFill>
              <a:latin typeface="Calibri"/>
              <a:ea typeface="Calibri"/>
              <a:cs typeface="Calibri"/>
              <a:sym typeface="Calibri"/>
            </a:endParaRPr>
          </a:p>
        </p:txBody>
      </p:sp>
      <p:sp>
        <p:nvSpPr>
          <p:cNvPr id="124" name="Google Shape;124;p10"/>
          <p:cNvSpPr txBox="1"/>
          <p:nvPr/>
        </p:nvSpPr>
        <p:spPr>
          <a:xfrm>
            <a:off x="731520" y="2112264"/>
            <a:ext cx="324612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PDF, JPEG or PNG in; medicines, test values, diagnoses and dates out, via Gemini vision.</a:t>
            </a:r>
            <a:endParaRPr sz="1400" b="0" i="0" u="none" strike="noStrike" cap="none">
              <a:solidFill>
                <a:schemeClr val="dk1"/>
              </a:solidFill>
              <a:latin typeface="Calibri"/>
              <a:ea typeface="Calibri"/>
              <a:cs typeface="Calibri"/>
              <a:sym typeface="Calibri"/>
            </a:endParaRPr>
          </a:p>
        </p:txBody>
      </p:sp>
      <p:sp>
        <p:nvSpPr>
          <p:cNvPr id="125" name="Google Shape;125;p10"/>
          <p:cNvSpPr/>
          <p:nvPr/>
        </p:nvSpPr>
        <p:spPr>
          <a:xfrm>
            <a:off x="4297680" y="1417320"/>
            <a:ext cx="3566160" cy="1481328"/>
          </a:xfrm>
          <a:prstGeom prst="roundRect">
            <a:avLst>
              <a:gd name="adj" fmla="val 5957"/>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0"/>
          <p:cNvSpPr/>
          <p:nvPr/>
        </p:nvSpPr>
        <p:spPr>
          <a:xfrm>
            <a:off x="4480560" y="1600200"/>
            <a:ext cx="502920" cy="5029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7" name="Google Shape;127;p10" descr="preencoded.png"/>
          <p:cNvPicPr preferRelativeResize="0"/>
          <p:nvPr/>
        </p:nvPicPr>
        <p:blipFill rotWithShape="1">
          <a:blip r:embed="rId4">
            <a:alphaModFix/>
          </a:blip>
          <a:srcRect/>
          <a:stretch/>
        </p:blipFill>
        <p:spPr>
          <a:xfrm>
            <a:off x="4590288" y="1709928"/>
            <a:ext cx="283464" cy="283464"/>
          </a:xfrm>
          <a:prstGeom prst="rect">
            <a:avLst/>
          </a:prstGeom>
          <a:noFill/>
          <a:ln>
            <a:noFill/>
          </a:ln>
        </p:spPr>
      </p:pic>
      <p:sp>
        <p:nvSpPr>
          <p:cNvPr id="128" name="Google Shape;128;p10"/>
          <p:cNvSpPr txBox="1"/>
          <p:nvPr/>
        </p:nvSpPr>
        <p:spPr>
          <a:xfrm>
            <a:off x="5120640" y="1673352"/>
            <a:ext cx="26060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Plain-language summaries</a:t>
            </a:r>
            <a:endParaRPr sz="1800" b="0" i="0" u="none" strike="noStrike" cap="none">
              <a:solidFill>
                <a:schemeClr val="dk1"/>
              </a:solidFill>
              <a:latin typeface="Calibri"/>
              <a:ea typeface="Calibri"/>
              <a:cs typeface="Calibri"/>
              <a:sym typeface="Calibri"/>
            </a:endParaRPr>
          </a:p>
        </p:txBody>
      </p:sp>
      <p:sp>
        <p:nvSpPr>
          <p:cNvPr id="129" name="Google Shape;129;p10"/>
          <p:cNvSpPr txBox="1"/>
          <p:nvPr/>
        </p:nvSpPr>
        <p:spPr>
          <a:xfrm>
            <a:off x="4480560" y="2112264"/>
            <a:ext cx="324612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Patient-friendly explanations with abnormal values flagged and explained.</a:t>
            </a:r>
            <a:endParaRPr sz="1400" b="0" i="0" u="none" strike="noStrike" cap="none">
              <a:solidFill>
                <a:schemeClr val="dk1"/>
              </a:solidFill>
              <a:latin typeface="Calibri"/>
              <a:ea typeface="Calibri"/>
              <a:cs typeface="Calibri"/>
              <a:sym typeface="Calibri"/>
            </a:endParaRPr>
          </a:p>
        </p:txBody>
      </p:sp>
      <p:sp>
        <p:nvSpPr>
          <p:cNvPr id="130" name="Google Shape;130;p10"/>
          <p:cNvSpPr/>
          <p:nvPr/>
        </p:nvSpPr>
        <p:spPr>
          <a:xfrm>
            <a:off x="548640" y="3026664"/>
            <a:ext cx="3566160" cy="1481328"/>
          </a:xfrm>
          <a:prstGeom prst="roundRect">
            <a:avLst>
              <a:gd name="adj" fmla="val 5957"/>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0"/>
          <p:cNvSpPr/>
          <p:nvPr/>
        </p:nvSpPr>
        <p:spPr>
          <a:xfrm>
            <a:off x="731520" y="3209544"/>
            <a:ext cx="502920" cy="5029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2" name="Google Shape;132;p10" descr="preencoded.png"/>
          <p:cNvPicPr preferRelativeResize="0"/>
          <p:nvPr/>
        </p:nvPicPr>
        <p:blipFill rotWithShape="1">
          <a:blip r:embed="rId5">
            <a:alphaModFix/>
          </a:blip>
          <a:srcRect/>
          <a:stretch/>
        </p:blipFill>
        <p:spPr>
          <a:xfrm>
            <a:off x="841248" y="3319272"/>
            <a:ext cx="283464" cy="283464"/>
          </a:xfrm>
          <a:prstGeom prst="rect">
            <a:avLst/>
          </a:prstGeom>
          <a:noFill/>
          <a:ln>
            <a:noFill/>
          </a:ln>
        </p:spPr>
      </p:pic>
      <p:sp>
        <p:nvSpPr>
          <p:cNvPr id="133" name="Google Shape;133;p10"/>
          <p:cNvSpPr txBox="1"/>
          <p:nvPr/>
        </p:nvSpPr>
        <p:spPr>
          <a:xfrm>
            <a:off x="1371600" y="3282696"/>
            <a:ext cx="26060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Unified health timeline</a:t>
            </a:r>
            <a:endParaRPr sz="1800" b="0" i="0" u="none" strike="noStrike" cap="none">
              <a:solidFill>
                <a:schemeClr val="dk1"/>
              </a:solidFill>
              <a:latin typeface="Calibri"/>
              <a:ea typeface="Calibri"/>
              <a:cs typeface="Calibri"/>
              <a:sym typeface="Calibri"/>
            </a:endParaRPr>
          </a:p>
        </p:txBody>
      </p:sp>
      <p:sp>
        <p:nvSpPr>
          <p:cNvPr id="134" name="Google Shape;134;p10"/>
          <p:cNvSpPr txBox="1"/>
          <p:nvPr/>
        </p:nvSpPr>
        <p:spPr>
          <a:xfrm>
            <a:off x="731520" y="3721608"/>
            <a:ext cx="324612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Every record in one Supabase-backed timeline, linked to the patient's ABHA ID.</a:t>
            </a:r>
            <a:endParaRPr sz="1400" b="0" i="0" u="none" strike="noStrike" cap="none">
              <a:solidFill>
                <a:schemeClr val="dk1"/>
              </a:solidFill>
              <a:latin typeface="Calibri"/>
              <a:ea typeface="Calibri"/>
              <a:cs typeface="Calibri"/>
              <a:sym typeface="Calibri"/>
            </a:endParaRPr>
          </a:p>
        </p:txBody>
      </p:sp>
      <p:sp>
        <p:nvSpPr>
          <p:cNvPr id="135" name="Google Shape;135;p10"/>
          <p:cNvSpPr/>
          <p:nvPr/>
        </p:nvSpPr>
        <p:spPr>
          <a:xfrm>
            <a:off x="4297680" y="3026664"/>
            <a:ext cx="3566160" cy="1481328"/>
          </a:xfrm>
          <a:prstGeom prst="roundRect">
            <a:avLst>
              <a:gd name="adj" fmla="val 5957"/>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0"/>
          <p:cNvSpPr/>
          <p:nvPr/>
        </p:nvSpPr>
        <p:spPr>
          <a:xfrm>
            <a:off x="4480560" y="3209544"/>
            <a:ext cx="502920" cy="5029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7" name="Google Shape;137;p10" descr="preencoded.png"/>
          <p:cNvPicPr preferRelativeResize="0"/>
          <p:nvPr/>
        </p:nvPicPr>
        <p:blipFill rotWithShape="1">
          <a:blip r:embed="rId6">
            <a:alphaModFix/>
          </a:blip>
          <a:srcRect/>
          <a:stretch/>
        </p:blipFill>
        <p:spPr>
          <a:xfrm>
            <a:off x="4590288" y="3319272"/>
            <a:ext cx="283464" cy="283464"/>
          </a:xfrm>
          <a:prstGeom prst="rect">
            <a:avLst/>
          </a:prstGeom>
          <a:noFill/>
          <a:ln>
            <a:noFill/>
          </a:ln>
        </p:spPr>
      </p:pic>
      <p:sp>
        <p:nvSpPr>
          <p:cNvPr id="138" name="Google Shape;138;p10"/>
          <p:cNvSpPr txBox="1"/>
          <p:nvPr/>
        </p:nvSpPr>
        <p:spPr>
          <a:xfrm>
            <a:off x="5120640" y="3282696"/>
            <a:ext cx="26060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Regional languages</a:t>
            </a:r>
            <a:endParaRPr sz="1800" b="0" i="0" u="none" strike="noStrike" cap="none">
              <a:solidFill>
                <a:schemeClr val="dk1"/>
              </a:solidFill>
              <a:latin typeface="Calibri"/>
              <a:ea typeface="Calibri"/>
              <a:cs typeface="Calibri"/>
              <a:sym typeface="Calibri"/>
            </a:endParaRPr>
          </a:p>
        </p:txBody>
      </p:sp>
      <p:sp>
        <p:nvSpPr>
          <p:cNvPr id="139" name="Google Shape;139;p10"/>
          <p:cNvSpPr txBox="1"/>
          <p:nvPr/>
        </p:nvSpPr>
        <p:spPr>
          <a:xfrm>
            <a:off x="4480560" y="3721608"/>
            <a:ext cx="324612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English, Hindi, Telugu and Tamil across the UI, extraction and translation.</a:t>
            </a:r>
            <a:endParaRPr sz="1400" b="0" i="0" u="none" strike="noStrike" cap="none">
              <a:solidFill>
                <a:schemeClr val="dk1"/>
              </a:solidFill>
              <a:latin typeface="Calibri"/>
              <a:ea typeface="Calibri"/>
              <a:cs typeface="Calibri"/>
              <a:sym typeface="Calibri"/>
            </a:endParaRPr>
          </a:p>
        </p:txBody>
      </p:sp>
      <p:sp>
        <p:nvSpPr>
          <p:cNvPr id="140" name="Google Shape;140;p10"/>
          <p:cNvSpPr/>
          <p:nvPr/>
        </p:nvSpPr>
        <p:spPr>
          <a:xfrm>
            <a:off x="548640" y="4636008"/>
            <a:ext cx="3566160" cy="1481328"/>
          </a:xfrm>
          <a:prstGeom prst="roundRect">
            <a:avLst>
              <a:gd name="adj" fmla="val 5957"/>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0"/>
          <p:cNvSpPr/>
          <p:nvPr/>
        </p:nvSpPr>
        <p:spPr>
          <a:xfrm>
            <a:off x="731520" y="4818888"/>
            <a:ext cx="502920" cy="5029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2" name="Google Shape;142;p10" descr="preencoded.png"/>
          <p:cNvPicPr preferRelativeResize="0"/>
          <p:nvPr/>
        </p:nvPicPr>
        <p:blipFill rotWithShape="1">
          <a:blip r:embed="rId7">
            <a:alphaModFix/>
          </a:blip>
          <a:srcRect/>
          <a:stretch/>
        </p:blipFill>
        <p:spPr>
          <a:xfrm>
            <a:off x="841248" y="4928616"/>
            <a:ext cx="283464" cy="283464"/>
          </a:xfrm>
          <a:prstGeom prst="rect">
            <a:avLst/>
          </a:prstGeom>
          <a:noFill/>
          <a:ln>
            <a:noFill/>
          </a:ln>
        </p:spPr>
      </p:pic>
      <p:sp>
        <p:nvSpPr>
          <p:cNvPr id="143" name="Google Shape;143;p10"/>
          <p:cNvSpPr txBox="1"/>
          <p:nvPr/>
        </p:nvSpPr>
        <p:spPr>
          <a:xfrm>
            <a:off x="1371600" y="4892040"/>
            <a:ext cx="26060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ABDM / FHIR export</a:t>
            </a:r>
            <a:endParaRPr sz="1800" b="0" i="0" u="none" strike="noStrike" cap="none">
              <a:solidFill>
                <a:schemeClr val="dk1"/>
              </a:solidFill>
              <a:latin typeface="Calibri"/>
              <a:ea typeface="Calibri"/>
              <a:cs typeface="Calibri"/>
              <a:sym typeface="Calibri"/>
            </a:endParaRPr>
          </a:p>
        </p:txBody>
      </p:sp>
      <p:sp>
        <p:nvSpPr>
          <p:cNvPr id="144" name="Google Shape;144;p10"/>
          <p:cNvSpPr txBox="1"/>
          <p:nvPr/>
        </p:nvSpPr>
        <p:spPr>
          <a:xfrm>
            <a:off x="731520" y="5330952"/>
            <a:ext cx="324612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JSON Bundle with Patient, MedicationRequest, Observation and DiagnosticReport.</a:t>
            </a:r>
            <a:endParaRPr sz="1400" b="0" i="0" u="none" strike="noStrike" cap="none">
              <a:solidFill>
                <a:schemeClr val="dk1"/>
              </a:solidFill>
              <a:latin typeface="Calibri"/>
              <a:ea typeface="Calibri"/>
              <a:cs typeface="Calibri"/>
              <a:sym typeface="Calibri"/>
            </a:endParaRPr>
          </a:p>
        </p:txBody>
      </p:sp>
      <p:sp>
        <p:nvSpPr>
          <p:cNvPr id="145" name="Google Shape;145;p10"/>
          <p:cNvSpPr/>
          <p:nvPr/>
        </p:nvSpPr>
        <p:spPr>
          <a:xfrm>
            <a:off x="4297680" y="4636008"/>
            <a:ext cx="3566160" cy="1481328"/>
          </a:xfrm>
          <a:prstGeom prst="roundRect">
            <a:avLst>
              <a:gd name="adj" fmla="val 5957"/>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0"/>
          <p:cNvSpPr/>
          <p:nvPr/>
        </p:nvSpPr>
        <p:spPr>
          <a:xfrm>
            <a:off x="4480560" y="4818888"/>
            <a:ext cx="502920" cy="50292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7" name="Google Shape;147;p10" descr="preencoded.png"/>
          <p:cNvPicPr preferRelativeResize="0"/>
          <p:nvPr/>
        </p:nvPicPr>
        <p:blipFill rotWithShape="1">
          <a:blip r:embed="rId8">
            <a:alphaModFix/>
          </a:blip>
          <a:srcRect/>
          <a:stretch/>
        </p:blipFill>
        <p:spPr>
          <a:xfrm>
            <a:off x="4590288" y="4928616"/>
            <a:ext cx="283464" cy="283464"/>
          </a:xfrm>
          <a:prstGeom prst="rect">
            <a:avLst/>
          </a:prstGeom>
          <a:noFill/>
          <a:ln>
            <a:noFill/>
          </a:ln>
        </p:spPr>
      </p:pic>
      <p:sp>
        <p:nvSpPr>
          <p:cNvPr id="148" name="Google Shape;148;p10"/>
          <p:cNvSpPr txBox="1"/>
          <p:nvPr/>
        </p:nvSpPr>
        <p:spPr>
          <a:xfrm>
            <a:off x="5120640" y="4892040"/>
            <a:ext cx="26060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Interactive modules</a:t>
            </a:r>
            <a:endParaRPr sz="1800" b="0" i="0" u="none" strike="noStrike" cap="none">
              <a:solidFill>
                <a:schemeClr val="dk1"/>
              </a:solidFill>
              <a:latin typeface="Calibri"/>
              <a:ea typeface="Calibri"/>
              <a:cs typeface="Calibri"/>
              <a:sym typeface="Calibri"/>
            </a:endParaRPr>
          </a:p>
        </p:txBody>
      </p:sp>
      <p:sp>
        <p:nvSpPr>
          <p:cNvPr id="149" name="Google Shape;149;p10"/>
          <p:cNvSpPr txBox="1"/>
          <p:nvPr/>
        </p:nvSpPr>
        <p:spPr>
          <a:xfrm>
            <a:off x="4480560" y="5330952"/>
            <a:ext cx="324612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Emergency triage, medication adherence, wearable sync, chat and printable summary.</a:t>
            </a:r>
            <a:endParaRPr sz="1400" b="0" i="0" u="none" strike="noStrike" cap="none">
              <a:solidFill>
                <a:schemeClr val="dk1"/>
              </a:solidFill>
              <a:latin typeface="Calibri"/>
              <a:ea typeface="Calibri"/>
              <a:cs typeface="Calibri"/>
              <a:sym typeface="Calibri"/>
            </a:endParaRPr>
          </a:p>
        </p:txBody>
      </p:sp>
      <p:sp>
        <p:nvSpPr>
          <p:cNvPr id="150" name="Google Shape;150;p10"/>
          <p:cNvSpPr txBox="1">
            <a:spLocks noGrp="1"/>
          </p:cNvSpPr>
          <p:nvPr>
            <p:ph type="sldNum" idx="4294967295"/>
          </p:nvPr>
        </p:nvSpPr>
        <p:spPr>
          <a:xfrm>
            <a:off x="11064240" y="6400800"/>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100" b="0" i="0" u="none" strike="noStrike" cap="none">
                <a:solidFill>
                  <a:srgbClr val="6F8F7F"/>
                </a:solidFill>
                <a:latin typeface="Calibri"/>
                <a:ea typeface="Calibri"/>
                <a:cs typeface="Calibri"/>
                <a:sym typeface="Calibri"/>
              </a:rPr>
              <a:t>4</a:t>
            </a:fld>
            <a:endParaRPr sz="1100" b="0" i="0" u="none" strike="noStrike" cap="none">
              <a:solidFill>
                <a:srgbClr val="6F8F7F"/>
              </a:solidFill>
              <a:latin typeface="Calibri"/>
              <a:ea typeface="Calibri"/>
              <a:cs typeface="Calibri"/>
              <a:sym typeface="Calibri"/>
            </a:endParaRPr>
          </a:p>
        </p:txBody>
      </p:sp>
      <p:pic>
        <p:nvPicPr>
          <p:cNvPr id="151" name="Google Shape;151;p10" descr="Unified health records with lab trends"/>
          <p:cNvPicPr preferRelativeResize="0"/>
          <p:nvPr/>
        </p:nvPicPr>
        <p:blipFill rotWithShape="1">
          <a:blip r:embed="rId9">
            <a:alphaModFix/>
          </a:blip>
          <a:srcRect/>
          <a:stretch/>
        </p:blipFill>
        <p:spPr>
          <a:xfrm>
            <a:off x="8037575" y="1417320"/>
            <a:ext cx="3566160" cy="2231136"/>
          </a:xfrm>
          <a:prstGeom prst="roundRect">
            <a:avLst>
              <a:gd name="adj" fmla="val 4500"/>
            </a:avLst>
          </a:prstGeom>
          <a:noFill/>
          <a:ln w="12700" cap="flat" cmpd="sng">
            <a:solidFill>
              <a:srgbClr val="39E07A"/>
            </a:solidFill>
            <a:prstDash val="solid"/>
            <a:round/>
            <a:headEnd type="none" w="sm" len="sm"/>
            <a:tailEnd type="none" w="sm" len="sm"/>
          </a:ln>
        </p:spPr>
      </p:pic>
      <p:pic>
        <p:nvPicPr>
          <p:cNvPr id="152" name="Google Shape;152;p10" descr="Device sync screen with connected wearables"/>
          <p:cNvPicPr preferRelativeResize="0"/>
          <p:nvPr/>
        </p:nvPicPr>
        <p:blipFill rotWithShape="1">
          <a:blip r:embed="rId10">
            <a:alphaModFix/>
          </a:blip>
          <a:srcRect/>
          <a:stretch/>
        </p:blipFill>
        <p:spPr>
          <a:xfrm>
            <a:off x="8037575" y="3867912"/>
            <a:ext cx="3566160" cy="2231136"/>
          </a:xfrm>
          <a:prstGeom prst="roundRect">
            <a:avLst>
              <a:gd name="adj" fmla="val 4500"/>
            </a:avLst>
          </a:prstGeom>
          <a:noFill/>
          <a:ln w="12700" cap="flat" cmpd="sng">
            <a:solidFill>
              <a:srgbClr val="39E07A"/>
            </a:solidFill>
            <a:prstDash val="solid"/>
            <a:round/>
            <a:headEnd type="none" w="sm" len="sm"/>
            <a:tailEnd type="none" w="sm" len="sm"/>
          </a:ln>
        </p:spPr>
      </p:pic>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550"/>
                                        <p:tgtEl>
                                          <p:spTgt spid="120"/>
                                        </p:tgtEl>
                                      </p:cBhvr>
                                    </p:animEffect>
                                  </p:childTnLst>
                                </p:cTn>
                              </p:par>
                              <p:par>
                                <p:cTn id="8" presetID="10" presetClass="entr" presetSubtype="0" fill="hold" nodeType="withEffect">
                                  <p:stCondLst>
                                    <p:cond delay="0"/>
                                  </p:stCondLst>
                                  <p:childTnLst>
                                    <p:set>
                                      <p:cBhvr>
                                        <p:cTn id="9" dur="1" fill="hold">
                                          <p:stCondLst>
                                            <p:cond delay="0"/>
                                          </p:stCondLst>
                                        </p:cTn>
                                        <p:tgtEl>
                                          <p:spTgt spid="121"/>
                                        </p:tgtEl>
                                        <p:attrNameLst>
                                          <p:attrName>style.visibility</p:attrName>
                                        </p:attrNameLst>
                                      </p:cBhvr>
                                      <p:to>
                                        <p:strVal val="visible"/>
                                      </p:to>
                                    </p:set>
                                    <p:animEffect transition="in" filter="fade">
                                      <p:cBhvr>
                                        <p:cTn id="10" dur="550"/>
                                        <p:tgtEl>
                                          <p:spTgt spid="121"/>
                                        </p:tgtEl>
                                      </p:cBhvr>
                                    </p:animEffect>
                                  </p:childTnLst>
                                </p:cTn>
                              </p:par>
                              <p:par>
                                <p:cTn id="11" presetID="10" presetClass="entr" presetSubtype="0" fill="hold" nodeType="withEffect">
                                  <p:stCondLst>
                                    <p:cond delay="0"/>
                                  </p:stCondLst>
                                  <p:childTnLst>
                                    <p:set>
                                      <p:cBhvr>
                                        <p:cTn id="12" dur="1" fill="hold">
                                          <p:stCondLst>
                                            <p:cond delay="0"/>
                                          </p:stCondLst>
                                        </p:cTn>
                                        <p:tgtEl>
                                          <p:spTgt spid="122"/>
                                        </p:tgtEl>
                                        <p:attrNameLst>
                                          <p:attrName>style.visibility</p:attrName>
                                        </p:attrNameLst>
                                      </p:cBhvr>
                                      <p:to>
                                        <p:strVal val="visible"/>
                                      </p:to>
                                    </p:set>
                                    <p:animEffect transition="in" filter="fade">
                                      <p:cBhvr>
                                        <p:cTn id="13" dur="550"/>
                                        <p:tgtEl>
                                          <p:spTgt spid="122"/>
                                        </p:tgtEl>
                                      </p:cBhvr>
                                    </p:animEffect>
                                  </p:childTnLst>
                                </p:cTn>
                              </p:par>
                              <p:par>
                                <p:cTn id="14" presetID="10" presetClass="entr" presetSubtype="0" fill="hold" nodeType="withEffect">
                                  <p:stCondLst>
                                    <p:cond delay="0"/>
                                  </p:stCondLst>
                                  <p:childTnLst>
                                    <p:set>
                                      <p:cBhvr>
                                        <p:cTn id="15" dur="1" fill="hold">
                                          <p:stCondLst>
                                            <p:cond delay="0"/>
                                          </p:stCondLst>
                                        </p:cTn>
                                        <p:tgtEl>
                                          <p:spTgt spid="123"/>
                                        </p:tgtEl>
                                        <p:attrNameLst>
                                          <p:attrName>style.visibility</p:attrName>
                                        </p:attrNameLst>
                                      </p:cBhvr>
                                      <p:to>
                                        <p:strVal val="visible"/>
                                      </p:to>
                                    </p:set>
                                    <p:animEffect transition="in" filter="fade">
                                      <p:cBhvr>
                                        <p:cTn id="16" dur="550"/>
                                        <p:tgtEl>
                                          <p:spTgt spid="123"/>
                                        </p:tgtEl>
                                      </p:cBhvr>
                                    </p:animEffect>
                                  </p:childTnLst>
                                </p:cTn>
                              </p:par>
                              <p:par>
                                <p:cTn id="17" presetID="10" presetClass="entr" presetSubtype="0" fill="hold" nodeType="withEffect">
                                  <p:stCondLst>
                                    <p:cond delay="0"/>
                                  </p:stCondLst>
                                  <p:childTnLst>
                                    <p:set>
                                      <p:cBhvr>
                                        <p:cTn id="18" dur="1" fill="hold">
                                          <p:stCondLst>
                                            <p:cond delay="0"/>
                                          </p:stCondLst>
                                        </p:cTn>
                                        <p:tgtEl>
                                          <p:spTgt spid="124"/>
                                        </p:tgtEl>
                                        <p:attrNameLst>
                                          <p:attrName>style.visibility</p:attrName>
                                        </p:attrNameLst>
                                      </p:cBhvr>
                                      <p:to>
                                        <p:strVal val="visible"/>
                                      </p:to>
                                    </p:set>
                                    <p:animEffect transition="in" filter="fade">
                                      <p:cBhvr>
                                        <p:cTn id="19" dur="550"/>
                                        <p:tgtEl>
                                          <p:spTgt spid="124"/>
                                        </p:tgtEl>
                                      </p:cBhvr>
                                    </p:animEffect>
                                  </p:childTnLst>
                                </p:cTn>
                              </p:par>
                              <p:par>
                                <p:cTn id="20" presetID="10" presetClass="entr" presetSubtype="0" fill="hold" nodeType="withEffect">
                                  <p:stCondLst>
                                    <p:cond delay="380"/>
                                  </p:stCondLst>
                                  <p:childTnLst>
                                    <p:set>
                                      <p:cBhvr>
                                        <p:cTn id="21" dur="1" fill="hold">
                                          <p:stCondLst>
                                            <p:cond delay="0"/>
                                          </p:stCondLst>
                                        </p:cTn>
                                        <p:tgtEl>
                                          <p:spTgt spid="125"/>
                                        </p:tgtEl>
                                        <p:attrNameLst>
                                          <p:attrName>style.visibility</p:attrName>
                                        </p:attrNameLst>
                                      </p:cBhvr>
                                      <p:to>
                                        <p:strVal val="visible"/>
                                      </p:to>
                                    </p:set>
                                    <p:animEffect transition="in" filter="fade">
                                      <p:cBhvr>
                                        <p:cTn id="22" dur="550"/>
                                        <p:tgtEl>
                                          <p:spTgt spid="125"/>
                                        </p:tgtEl>
                                      </p:cBhvr>
                                    </p:animEffect>
                                  </p:childTnLst>
                                </p:cTn>
                              </p:par>
                              <p:par>
                                <p:cTn id="23" presetID="10" presetClass="entr" presetSubtype="0" fill="hold" nodeType="withEffect">
                                  <p:stCondLst>
                                    <p:cond delay="380"/>
                                  </p:stCondLst>
                                  <p:childTnLst>
                                    <p:set>
                                      <p:cBhvr>
                                        <p:cTn id="24" dur="1" fill="hold">
                                          <p:stCondLst>
                                            <p:cond delay="0"/>
                                          </p:stCondLst>
                                        </p:cTn>
                                        <p:tgtEl>
                                          <p:spTgt spid="126"/>
                                        </p:tgtEl>
                                        <p:attrNameLst>
                                          <p:attrName>style.visibility</p:attrName>
                                        </p:attrNameLst>
                                      </p:cBhvr>
                                      <p:to>
                                        <p:strVal val="visible"/>
                                      </p:to>
                                    </p:set>
                                    <p:animEffect transition="in" filter="fade">
                                      <p:cBhvr>
                                        <p:cTn id="25" dur="550"/>
                                        <p:tgtEl>
                                          <p:spTgt spid="126"/>
                                        </p:tgtEl>
                                      </p:cBhvr>
                                    </p:animEffect>
                                  </p:childTnLst>
                                </p:cTn>
                              </p:par>
                              <p:par>
                                <p:cTn id="26" presetID="10" presetClass="entr" presetSubtype="0" fill="hold" nodeType="withEffect">
                                  <p:stCondLst>
                                    <p:cond delay="380"/>
                                  </p:stCondLst>
                                  <p:childTnLst>
                                    <p:set>
                                      <p:cBhvr>
                                        <p:cTn id="27" dur="1" fill="hold">
                                          <p:stCondLst>
                                            <p:cond delay="0"/>
                                          </p:stCondLst>
                                        </p:cTn>
                                        <p:tgtEl>
                                          <p:spTgt spid="127"/>
                                        </p:tgtEl>
                                        <p:attrNameLst>
                                          <p:attrName>style.visibility</p:attrName>
                                        </p:attrNameLst>
                                      </p:cBhvr>
                                      <p:to>
                                        <p:strVal val="visible"/>
                                      </p:to>
                                    </p:set>
                                    <p:animEffect transition="in" filter="fade">
                                      <p:cBhvr>
                                        <p:cTn id="28" dur="550"/>
                                        <p:tgtEl>
                                          <p:spTgt spid="127"/>
                                        </p:tgtEl>
                                      </p:cBhvr>
                                    </p:animEffect>
                                  </p:childTnLst>
                                </p:cTn>
                              </p:par>
                              <p:par>
                                <p:cTn id="29" presetID="10" presetClass="entr" presetSubtype="0" fill="hold" nodeType="withEffect">
                                  <p:stCondLst>
                                    <p:cond delay="380"/>
                                  </p:stCondLst>
                                  <p:childTnLst>
                                    <p:set>
                                      <p:cBhvr>
                                        <p:cTn id="30" dur="1" fill="hold">
                                          <p:stCondLst>
                                            <p:cond delay="0"/>
                                          </p:stCondLst>
                                        </p:cTn>
                                        <p:tgtEl>
                                          <p:spTgt spid="128"/>
                                        </p:tgtEl>
                                        <p:attrNameLst>
                                          <p:attrName>style.visibility</p:attrName>
                                        </p:attrNameLst>
                                      </p:cBhvr>
                                      <p:to>
                                        <p:strVal val="visible"/>
                                      </p:to>
                                    </p:set>
                                    <p:animEffect transition="in" filter="fade">
                                      <p:cBhvr>
                                        <p:cTn id="31" dur="550"/>
                                        <p:tgtEl>
                                          <p:spTgt spid="128"/>
                                        </p:tgtEl>
                                      </p:cBhvr>
                                    </p:animEffect>
                                  </p:childTnLst>
                                </p:cTn>
                              </p:par>
                              <p:par>
                                <p:cTn id="32" presetID="10" presetClass="entr" presetSubtype="0" fill="hold" nodeType="withEffect">
                                  <p:stCondLst>
                                    <p:cond delay="380"/>
                                  </p:stCondLst>
                                  <p:childTnLst>
                                    <p:set>
                                      <p:cBhvr>
                                        <p:cTn id="33" dur="1" fill="hold">
                                          <p:stCondLst>
                                            <p:cond delay="0"/>
                                          </p:stCondLst>
                                        </p:cTn>
                                        <p:tgtEl>
                                          <p:spTgt spid="129"/>
                                        </p:tgtEl>
                                        <p:attrNameLst>
                                          <p:attrName>style.visibility</p:attrName>
                                        </p:attrNameLst>
                                      </p:cBhvr>
                                      <p:to>
                                        <p:strVal val="visible"/>
                                      </p:to>
                                    </p:set>
                                    <p:animEffect transition="in" filter="fade">
                                      <p:cBhvr>
                                        <p:cTn id="34" dur="550"/>
                                        <p:tgtEl>
                                          <p:spTgt spid="129"/>
                                        </p:tgtEl>
                                      </p:cBhvr>
                                    </p:animEffect>
                                  </p:childTnLst>
                                </p:cTn>
                              </p:par>
                              <p:par>
                                <p:cTn id="35" presetID="10" presetClass="entr" presetSubtype="0" fill="hold" nodeType="withEffect">
                                  <p:stCondLst>
                                    <p:cond delay="760"/>
                                  </p:stCondLst>
                                  <p:childTnLst>
                                    <p:set>
                                      <p:cBhvr>
                                        <p:cTn id="36" dur="1" fill="hold">
                                          <p:stCondLst>
                                            <p:cond delay="0"/>
                                          </p:stCondLst>
                                        </p:cTn>
                                        <p:tgtEl>
                                          <p:spTgt spid="130"/>
                                        </p:tgtEl>
                                        <p:attrNameLst>
                                          <p:attrName>style.visibility</p:attrName>
                                        </p:attrNameLst>
                                      </p:cBhvr>
                                      <p:to>
                                        <p:strVal val="visible"/>
                                      </p:to>
                                    </p:set>
                                    <p:animEffect transition="in" filter="fade">
                                      <p:cBhvr>
                                        <p:cTn id="37" dur="550"/>
                                        <p:tgtEl>
                                          <p:spTgt spid="130"/>
                                        </p:tgtEl>
                                      </p:cBhvr>
                                    </p:animEffect>
                                  </p:childTnLst>
                                </p:cTn>
                              </p:par>
                              <p:par>
                                <p:cTn id="38" presetID="10" presetClass="entr" presetSubtype="0" fill="hold" nodeType="withEffect">
                                  <p:stCondLst>
                                    <p:cond delay="760"/>
                                  </p:stCondLst>
                                  <p:childTnLst>
                                    <p:set>
                                      <p:cBhvr>
                                        <p:cTn id="39" dur="1" fill="hold">
                                          <p:stCondLst>
                                            <p:cond delay="0"/>
                                          </p:stCondLst>
                                        </p:cTn>
                                        <p:tgtEl>
                                          <p:spTgt spid="131"/>
                                        </p:tgtEl>
                                        <p:attrNameLst>
                                          <p:attrName>style.visibility</p:attrName>
                                        </p:attrNameLst>
                                      </p:cBhvr>
                                      <p:to>
                                        <p:strVal val="visible"/>
                                      </p:to>
                                    </p:set>
                                    <p:animEffect transition="in" filter="fade">
                                      <p:cBhvr>
                                        <p:cTn id="40" dur="550"/>
                                        <p:tgtEl>
                                          <p:spTgt spid="131"/>
                                        </p:tgtEl>
                                      </p:cBhvr>
                                    </p:animEffect>
                                  </p:childTnLst>
                                </p:cTn>
                              </p:par>
                              <p:par>
                                <p:cTn id="41" presetID="10" presetClass="entr" presetSubtype="0" fill="hold" nodeType="withEffect">
                                  <p:stCondLst>
                                    <p:cond delay="760"/>
                                  </p:stCondLst>
                                  <p:childTnLst>
                                    <p:set>
                                      <p:cBhvr>
                                        <p:cTn id="42" dur="1" fill="hold">
                                          <p:stCondLst>
                                            <p:cond delay="0"/>
                                          </p:stCondLst>
                                        </p:cTn>
                                        <p:tgtEl>
                                          <p:spTgt spid="132"/>
                                        </p:tgtEl>
                                        <p:attrNameLst>
                                          <p:attrName>style.visibility</p:attrName>
                                        </p:attrNameLst>
                                      </p:cBhvr>
                                      <p:to>
                                        <p:strVal val="visible"/>
                                      </p:to>
                                    </p:set>
                                    <p:animEffect transition="in" filter="fade">
                                      <p:cBhvr>
                                        <p:cTn id="43" dur="550"/>
                                        <p:tgtEl>
                                          <p:spTgt spid="132"/>
                                        </p:tgtEl>
                                      </p:cBhvr>
                                    </p:animEffect>
                                  </p:childTnLst>
                                </p:cTn>
                              </p:par>
                              <p:par>
                                <p:cTn id="44" presetID="10" presetClass="entr" presetSubtype="0" fill="hold" nodeType="withEffect">
                                  <p:stCondLst>
                                    <p:cond delay="760"/>
                                  </p:stCondLst>
                                  <p:childTnLst>
                                    <p:set>
                                      <p:cBhvr>
                                        <p:cTn id="45" dur="1" fill="hold">
                                          <p:stCondLst>
                                            <p:cond delay="0"/>
                                          </p:stCondLst>
                                        </p:cTn>
                                        <p:tgtEl>
                                          <p:spTgt spid="133"/>
                                        </p:tgtEl>
                                        <p:attrNameLst>
                                          <p:attrName>style.visibility</p:attrName>
                                        </p:attrNameLst>
                                      </p:cBhvr>
                                      <p:to>
                                        <p:strVal val="visible"/>
                                      </p:to>
                                    </p:set>
                                    <p:animEffect transition="in" filter="fade">
                                      <p:cBhvr>
                                        <p:cTn id="46" dur="550"/>
                                        <p:tgtEl>
                                          <p:spTgt spid="133"/>
                                        </p:tgtEl>
                                      </p:cBhvr>
                                    </p:animEffect>
                                  </p:childTnLst>
                                </p:cTn>
                              </p:par>
                              <p:par>
                                <p:cTn id="47" presetID="10" presetClass="entr" presetSubtype="0" fill="hold" nodeType="withEffect">
                                  <p:stCondLst>
                                    <p:cond delay="760"/>
                                  </p:stCondLst>
                                  <p:childTnLst>
                                    <p:set>
                                      <p:cBhvr>
                                        <p:cTn id="48" dur="1" fill="hold">
                                          <p:stCondLst>
                                            <p:cond delay="0"/>
                                          </p:stCondLst>
                                        </p:cTn>
                                        <p:tgtEl>
                                          <p:spTgt spid="134"/>
                                        </p:tgtEl>
                                        <p:attrNameLst>
                                          <p:attrName>style.visibility</p:attrName>
                                        </p:attrNameLst>
                                      </p:cBhvr>
                                      <p:to>
                                        <p:strVal val="visible"/>
                                      </p:to>
                                    </p:set>
                                    <p:animEffect transition="in" filter="fade">
                                      <p:cBhvr>
                                        <p:cTn id="49" dur="550"/>
                                        <p:tgtEl>
                                          <p:spTgt spid="134"/>
                                        </p:tgtEl>
                                      </p:cBhvr>
                                    </p:animEffect>
                                  </p:childTnLst>
                                </p:cTn>
                              </p:par>
                              <p:par>
                                <p:cTn id="50" presetID="10" presetClass="entr" presetSubtype="0" fill="hold" nodeType="withEffect">
                                  <p:stCondLst>
                                    <p:cond delay="1140"/>
                                  </p:stCondLst>
                                  <p:childTnLst>
                                    <p:set>
                                      <p:cBhvr>
                                        <p:cTn id="51" dur="1" fill="hold">
                                          <p:stCondLst>
                                            <p:cond delay="0"/>
                                          </p:stCondLst>
                                        </p:cTn>
                                        <p:tgtEl>
                                          <p:spTgt spid="135"/>
                                        </p:tgtEl>
                                        <p:attrNameLst>
                                          <p:attrName>style.visibility</p:attrName>
                                        </p:attrNameLst>
                                      </p:cBhvr>
                                      <p:to>
                                        <p:strVal val="visible"/>
                                      </p:to>
                                    </p:set>
                                    <p:animEffect transition="in" filter="fade">
                                      <p:cBhvr>
                                        <p:cTn id="52" dur="550"/>
                                        <p:tgtEl>
                                          <p:spTgt spid="135"/>
                                        </p:tgtEl>
                                      </p:cBhvr>
                                    </p:animEffect>
                                  </p:childTnLst>
                                </p:cTn>
                              </p:par>
                              <p:par>
                                <p:cTn id="53" presetID="10" presetClass="entr" presetSubtype="0" fill="hold" nodeType="withEffect">
                                  <p:stCondLst>
                                    <p:cond delay="1140"/>
                                  </p:stCondLst>
                                  <p:childTnLst>
                                    <p:set>
                                      <p:cBhvr>
                                        <p:cTn id="54" dur="1" fill="hold">
                                          <p:stCondLst>
                                            <p:cond delay="0"/>
                                          </p:stCondLst>
                                        </p:cTn>
                                        <p:tgtEl>
                                          <p:spTgt spid="136"/>
                                        </p:tgtEl>
                                        <p:attrNameLst>
                                          <p:attrName>style.visibility</p:attrName>
                                        </p:attrNameLst>
                                      </p:cBhvr>
                                      <p:to>
                                        <p:strVal val="visible"/>
                                      </p:to>
                                    </p:set>
                                    <p:animEffect transition="in" filter="fade">
                                      <p:cBhvr>
                                        <p:cTn id="55" dur="550"/>
                                        <p:tgtEl>
                                          <p:spTgt spid="136"/>
                                        </p:tgtEl>
                                      </p:cBhvr>
                                    </p:animEffect>
                                  </p:childTnLst>
                                </p:cTn>
                              </p:par>
                              <p:par>
                                <p:cTn id="56" presetID="10" presetClass="entr" presetSubtype="0" fill="hold" nodeType="withEffect">
                                  <p:stCondLst>
                                    <p:cond delay="1140"/>
                                  </p:stCondLst>
                                  <p:childTnLst>
                                    <p:set>
                                      <p:cBhvr>
                                        <p:cTn id="57" dur="1" fill="hold">
                                          <p:stCondLst>
                                            <p:cond delay="0"/>
                                          </p:stCondLst>
                                        </p:cTn>
                                        <p:tgtEl>
                                          <p:spTgt spid="137"/>
                                        </p:tgtEl>
                                        <p:attrNameLst>
                                          <p:attrName>style.visibility</p:attrName>
                                        </p:attrNameLst>
                                      </p:cBhvr>
                                      <p:to>
                                        <p:strVal val="visible"/>
                                      </p:to>
                                    </p:set>
                                    <p:animEffect transition="in" filter="fade">
                                      <p:cBhvr>
                                        <p:cTn id="58" dur="550"/>
                                        <p:tgtEl>
                                          <p:spTgt spid="137"/>
                                        </p:tgtEl>
                                      </p:cBhvr>
                                    </p:animEffect>
                                  </p:childTnLst>
                                </p:cTn>
                              </p:par>
                              <p:par>
                                <p:cTn id="59" presetID="10" presetClass="entr" presetSubtype="0" fill="hold" nodeType="withEffect">
                                  <p:stCondLst>
                                    <p:cond delay="1140"/>
                                  </p:stCondLst>
                                  <p:childTnLst>
                                    <p:set>
                                      <p:cBhvr>
                                        <p:cTn id="60" dur="1" fill="hold">
                                          <p:stCondLst>
                                            <p:cond delay="0"/>
                                          </p:stCondLst>
                                        </p:cTn>
                                        <p:tgtEl>
                                          <p:spTgt spid="138"/>
                                        </p:tgtEl>
                                        <p:attrNameLst>
                                          <p:attrName>style.visibility</p:attrName>
                                        </p:attrNameLst>
                                      </p:cBhvr>
                                      <p:to>
                                        <p:strVal val="visible"/>
                                      </p:to>
                                    </p:set>
                                    <p:animEffect transition="in" filter="fade">
                                      <p:cBhvr>
                                        <p:cTn id="61" dur="550"/>
                                        <p:tgtEl>
                                          <p:spTgt spid="138"/>
                                        </p:tgtEl>
                                      </p:cBhvr>
                                    </p:animEffect>
                                  </p:childTnLst>
                                </p:cTn>
                              </p:par>
                              <p:par>
                                <p:cTn id="62" presetID="10" presetClass="entr" presetSubtype="0" fill="hold" nodeType="withEffect">
                                  <p:stCondLst>
                                    <p:cond delay="1140"/>
                                  </p:stCondLst>
                                  <p:childTnLst>
                                    <p:set>
                                      <p:cBhvr>
                                        <p:cTn id="63" dur="1" fill="hold">
                                          <p:stCondLst>
                                            <p:cond delay="0"/>
                                          </p:stCondLst>
                                        </p:cTn>
                                        <p:tgtEl>
                                          <p:spTgt spid="139"/>
                                        </p:tgtEl>
                                        <p:attrNameLst>
                                          <p:attrName>style.visibility</p:attrName>
                                        </p:attrNameLst>
                                      </p:cBhvr>
                                      <p:to>
                                        <p:strVal val="visible"/>
                                      </p:to>
                                    </p:set>
                                    <p:animEffect transition="in" filter="fade">
                                      <p:cBhvr>
                                        <p:cTn id="64" dur="550"/>
                                        <p:tgtEl>
                                          <p:spTgt spid="139"/>
                                        </p:tgtEl>
                                      </p:cBhvr>
                                    </p:animEffect>
                                  </p:childTnLst>
                                </p:cTn>
                              </p:par>
                              <p:par>
                                <p:cTn id="65" presetID="10" presetClass="entr" presetSubtype="0" fill="hold" nodeType="withEffect">
                                  <p:stCondLst>
                                    <p:cond delay="1520"/>
                                  </p:stCondLst>
                                  <p:childTnLst>
                                    <p:set>
                                      <p:cBhvr>
                                        <p:cTn id="66" dur="1" fill="hold">
                                          <p:stCondLst>
                                            <p:cond delay="0"/>
                                          </p:stCondLst>
                                        </p:cTn>
                                        <p:tgtEl>
                                          <p:spTgt spid="140"/>
                                        </p:tgtEl>
                                        <p:attrNameLst>
                                          <p:attrName>style.visibility</p:attrName>
                                        </p:attrNameLst>
                                      </p:cBhvr>
                                      <p:to>
                                        <p:strVal val="visible"/>
                                      </p:to>
                                    </p:set>
                                    <p:animEffect transition="in" filter="fade">
                                      <p:cBhvr>
                                        <p:cTn id="67" dur="550"/>
                                        <p:tgtEl>
                                          <p:spTgt spid="140"/>
                                        </p:tgtEl>
                                      </p:cBhvr>
                                    </p:animEffect>
                                  </p:childTnLst>
                                </p:cTn>
                              </p:par>
                              <p:par>
                                <p:cTn id="68" presetID="10" presetClass="entr" presetSubtype="0" fill="hold" nodeType="withEffect">
                                  <p:stCondLst>
                                    <p:cond delay="1520"/>
                                  </p:stCondLst>
                                  <p:childTnLst>
                                    <p:set>
                                      <p:cBhvr>
                                        <p:cTn id="69" dur="1" fill="hold">
                                          <p:stCondLst>
                                            <p:cond delay="0"/>
                                          </p:stCondLst>
                                        </p:cTn>
                                        <p:tgtEl>
                                          <p:spTgt spid="141"/>
                                        </p:tgtEl>
                                        <p:attrNameLst>
                                          <p:attrName>style.visibility</p:attrName>
                                        </p:attrNameLst>
                                      </p:cBhvr>
                                      <p:to>
                                        <p:strVal val="visible"/>
                                      </p:to>
                                    </p:set>
                                    <p:animEffect transition="in" filter="fade">
                                      <p:cBhvr>
                                        <p:cTn id="70" dur="550"/>
                                        <p:tgtEl>
                                          <p:spTgt spid="141"/>
                                        </p:tgtEl>
                                      </p:cBhvr>
                                    </p:animEffect>
                                  </p:childTnLst>
                                </p:cTn>
                              </p:par>
                              <p:par>
                                <p:cTn id="71" presetID="10" presetClass="entr" presetSubtype="0" fill="hold" nodeType="withEffect">
                                  <p:stCondLst>
                                    <p:cond delay="1520"/>
                                  </p:stCondLst>
                                  <p:childTnLst>
                                    <p:set>
                                      <p:cBhvr>
                                        <p:cTn id="72" dur="1" fill="hold">
                                          <p:stCondLst>
                                            <p:cond delay="0"/>
                                          </p:stCondLst>
                                        </p:cTn>
                                        <p:tgtEl>
                                          <p:spTgt spid="142"/>
                                        </p:tgtEl>
                                        <p:attrNameLst>
                                          <p:attrName>style.visibility</p:attrName>
                                        </p:attrNameLst>
                                      </p:cBhvr>
                                      <p:to>
                                        <p:strVal val="visible"/>
                                      </p:to>
                                    </p:set>
                                    <p:animEffect transition="in" filter="fade">
                                      <p:cBhvr>
                                        <p:cTn id="73" dur="550"/>
                                        <p:tgtEl>
                                          <p:spTgt spid="142"/>
                                        </p:tgtEl>
                                      </p:cBhvr>
                                    </p:animEffect>
                                  </p:childTnLst>
                                </p:cTn>
                              </p:par>
                              <p:par>
                                <p:cTn id="74" presetID="10" presetClass="entr" presetSubtype="0" fill="hold" nodeType="withEffect">
                                  <p:stCondLst>
                                    <p:cond delay="1520"/>
                                  </p:stCondLst>
                                  <p:childTnLst>
                                    <p:set>
                                      <p:cBhvr>
                                        <p:cTn id="75" dur="1" fill="hold">
                                          <p:stCondLst>
                                            <p:cond delay="0"/>
                                          </p:stCondLst>
                                        </p:cTn>
                                        <p:tgtEl>
                                          <p:spTgt spid="143"/>
                                        </p:tgtEl>
                                        <p:attrNameLst>
                                          <p:attrName>style.visibility</p:attrName>
                                        </p:attrNameLst>
                                      </p:cBhvr>
                                      <p:to>
                                        <p:strVal val="visible"/>
                                      </p:to>
                                    </p:set>
                                    <p:animEffect transition="in" filter="fade">
                                      <p:cBhvr>
                                        <p:cTn id="76" dur="550"/>
                                        <p:tgtEl>
                                          <p:spTgt spid="143"/>
                                        </p:tgtEl>
                                      </p:cBhvr>
                                    </p:animEffect>
                                  </p:childTnLst>
                                </p:cTn>
                              </p:par>
                              <p:par>
                                <p:cTn id="77" presetID="10" presetClass="entr" presetSubtype="0" fill="hold" nodeType="withEffect">
                                  <p:stCondLst>
                                    <p:cond delay="1520"/>
                                  </p:stCondLst>
                                  <p:childTnLst>
                                    <p:set>
                                      <p:cBhvr>
                                        <p:cTn id="78" dur="1" fill="hold">
                                          <p:stCondLst>
                                            <p:cond delay="0"/>
                                          </p:stCondLst>
                                        </p:cTn>
                                        <p:tgtEl>
                                          <p:spTgt spid="144"/>
                                        </p:tgtEl>
                                        <p:attrNameLst>
                                          <p:attrName>style.visibility</p:attrName>
                                        </p:attrNameLst>
                                      </p:cBhvr>
                                      <p:to>
                                        <p:strVal val="visible"/>
                                      </p:to>
                                    </p:set>
                                    <p:animEffect transition="in" filter="fade">
                                      <p:cBhvr>
                                        <p:cTn id="79" dur="550"/>
                                        <p:tgtEl>
                                          <p:spTgt spid="144"/>
                                        </p:tgtEl>
                                      </p:cBhvr>
                                    </p:animEffect>
                                  </p:childTnLst>
                                </p:cTn>
                              </p:par>
                              <p:par>
                                <p:cTn id="80" presetID="10" presetClass="entr" presetSubtype="0" fill="hold" nodeType="withEffect">
                                  <p:stCondLst>
                                    <p:cond delay="1900"/>
                                  </p:stCondLst>
                                  <p:childTnLst>
                                    <p:set>
                                      <p:cBhvr>
                                        <p:cTn id="81" dur="1" fill="hold">
                                          <p:stCondLst>
                                            <p:cond delay="0"/>
                                          </p:stCondLst>
                                        </p:cTn>
                                        <p:tgtEl>
                                          <p:spTgt spid="145"/>
                                        </p:tgtEl>
                                        <p:attrNameLst>
                                          <p:attrName>style.visibility</p:attrName>
                                        </p:attrNameLst>
                                      </p:cBhvr>
                                      <p:to>
                                        <p:strVal val="visible"/>
                                      </p:to>
                                    </p:set>
                                    <p:animEffect transition="in" filter="fade">
                                      <p:cBhvr>
                                        <p:cTn id="82" dur="550"/>
                                        <p:tgtEl>
                                          <p:spTgt spid="145"/>
                                        </p:tgtEl>
                                      </p:cBhvr>
                                    </p:animEffect>
                                  </p:childTnLst>
                                </p:cTn>
                              </p:par>
                              <p:par>
                                <p:cTn id="83" presetID="10" presetClass="entr" presetSubtype="0" fill="hold" nodeType="withEffect">
                                  <p:stCondLst>
                                    <p:cond delay="1900"/>
                                  </p:stCondLst>
                                  <p:childTnLst>
                                    <p:set>
                                      <p:cBhvr>
                                        <p:cTn id="84" dur="1" fill="hold">
                                          <p:stCondLst>
                                            <p:cond delay="0"/>
                                          </p:stCondLst>
                                        </p:cTn>
                                        <p:tgtEl>
                                          <p:spTgt spid="146"/>
                                        </p:tgtEl>
                                        <p:attrNameLst>
                                          <p:attrName>style.visibility</p:attrName>
                                        </p:attrNameLst>
                                      </p:cBhvr>
                                      <p:to>
                                        <p:strVal val="visible"/>
                                      </p:to>
                                    </p:set>
                                    <p:animEffect transition="in" filter="fade">
                                      <p:cBhvr>
                                        <p:cTn id="85" dur="550"/>
                                        <p:tgtEl>
                                          <p:spTgt spid="146"/>
                                        </p:tgtEl>
                                      </p:cBhvr>
                                    </p:animEffect>
                                  </p:childTnLst>
                                </p:cTn>
                              </p:par>
                              <p:par>
                                <p:cTn id="86" presetID="10" presetClass="entr" presetSubtype="0" fill="hold" nodeType="withEffect">
                                  <p:stCondLst>
                                    <p:cond delay="1900"/>
                                  </p:stCondLst>
                                  <p:childTnLst>
                                    <p:set>
                                      <p:cBhvr>
                                        <p:cTn id="87" dur="1" fill="hold">
                                          <p:stCondLst>
                                            <p:cond delay="0"/>
                                          </p:stCondLst>
                                        </p:cTn>
                                        <p:tgtEl>
                                          <p:spTgt spid="147"/>
                                        </p:tgtEl>
                                        <p:attrNameLst>
                                          <p:attrName>style.visibility</p:attrName>
                                        </p:attrNameLst>
                                      </p:cBhvr>
                                      <p:to>
                                        <p:strVal val="visible"/>
                                      </p:to>
                                    </p:set>
                                    <p:animEffect transition="in" filter="fade">
                                      <p:cBhvr>
                                        <p:cTn id="88" dur="550"/>
                                        <p:tgtEl>
                                          <p:spTgt spid="147"/>
                                        </p:tgtEl>
                                      </p:cBhvr>
                                    </p:animEffect>
                                  </p:childTnLst>
                                </p:cTn>
                              </p:par>
                              <p:par>
                                <p:cTn id="89" presetID="10" presetClass="entr" presetSubtype="0" fill="hold" nodeType="withEffect">
                                  <p:stCondLst>
                                    <p:cond delay="1900"/>
                                  </p:stCondLst>
                                  <p:childTnLst>
                                    <p:set>
                                      <p:cBhvr>
                                        <p:cTn id="90" dur="1" fill="hold">
                                          <p:stCondLst>
                                            <p:cond delay="0"/>
                                          </p:stCondLst>
                                        </p:cTn>
                                        <p:tgtEl>
                                          <p:spTgt spid="148"/>
                                        </p:tgtEl>
                                        <p:attrNameLst>
                                          <p:attrName>style.visibility</p:attrName>
                                        </p:attrNameLst>
                                      </p:cBhvr>
                                      <p:to>
                                        <p:strVal val="visible"/>
                                      </p:to>
                                    </p:set>
                                    <p:animEffect transition="in" filter="fade">
                                      <p:cBhvr>
                                        <p:cTn id="91" dur="550"/>
                                        <p:tgtEl>
                                          <p:spTgt spid="148"/>
                                        </p:tgtEl>
                                      </p:cBhvr>
                                    </p:animEffect>
                                  </p:childTnLst>
                                </p:cTn>
                              </p:par>
                              <p:par>
                                <p:cTn id="92" presetID="10" presetClass="entr" presetSubtype="0" fill="hold" nodeType="withEffect">
                                  <p:stCondLst>
                                    <p:cond delay="1900"/>
                                  </p:stCondLst>
                                  <p:childTnLst>
                                    <p:set>
                                      <p:cBhvr>
                                        <p:cTn id="93" dur="1" fill="hold">
                                          <p:stCondLst>
                                            <p:cond delay="0"/>
                                          </p:stCondLst>
                                        </p:cTn>
                                        <p:tgtEl>
                                          <p:spTgt spid="149"/>
                                        </p:tgtEl>
                                        <p:attrNameLst>
                                          <p:attrName>style.visibility</p:attrName>
                                        </p:attrNameLst>
                                      </p:cBhvr>
                                      <p:to>
                                        <p:strVal val="visible"/>
                                      </p:to>
                                    </p:set>
                                    <p:animEffect transition="in" filter="fade">
                                      <p:cBhvr>
                                        <p:cTn id="94" dur="55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txBox="1">
            <a:spLocks noGrp="1"/>
          </p:cNvSpPr>
          <p:nvPr>
            <p:ph type="title"/>
          </p:nvPr>
        </p:nvSpPr>
        <p:spPr>
          <a:xfrm>
            <a:off x="548640" y="365760"/>
            <a:ext cx="11064240" cy="82296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libri"/>
              <a:buNone/>
            </a:pPr>
            <a:r>
              <a:rPr lang="en-US" sz="3600" b="1">
                <a:solidFill>
                  <a:schemeClr val="dk1"/>
                </a:solidFill>
              </a:rPr>
              <a:t>System architecture</a:t>
            </a:r>
            <a:endParaRPr sz="3600"/>
          </a:p>
        </p:txBody>
      </p:sp>
      <p:sp>
        <p:nvSpPr>
          <p:cNvPr id="159" name="Google Shape;159;p11"/>
          <p:cNvSpPr txBox="1"/>
          <p:nvPr/>
        </p:nvSpPr>
        <p:spPr>
          <a:xfrm>
            <a:off x="548640" y="1417320"/>
            <a:ext cx="13716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200"/>
              <a:buFont typeface="Calibri"/>
              <a:buNone/>
            </a:pPr>
            <a:r>
              <a:rPr lang="en-US" sz="1200" b="1" i="0" u="none" strike="noStrike" cap="none" spc="200">
                <a:solidFill>
                  <a:schemeClr val="dk2"/>
                </a:solidFill>
                <a:latin typeface="Calibri"/>
                <a:ea typeface="Calibri"/>
                <a:cs typeface="Calibri"/>
                <a:sym typeface="Calibri"/>
              </a:rPr>
              <a:t>CLIENT</a:t>
            </a:r>
            <a:endParaRPr sz="1200" b="0" i="0" u="none" strike="noStrike" cap="none">
              <a:solidFill>
                <a:schemeClr val="dk1"/>
              </a:solidFill>
              <a:latin typeface="Calibri"/>
              <a:ea typeface="Calibri"/>
              <a:cs typeface="Calibri"/>
              <a:sym typeface="Calibri"/>
            </a:endParaRPr>
          </a:p>
        </p:txBody>
      </p:sp>
      <p:sp>
        <p:nvSpPr>
          <p:cNvPr id="160" name="Google Shape;160;p11"/>
          <p:cNvSpPr txBox="1"/>
          <p:nvPr/>
        </p:nvSpPr>
        <p:spPr>
          <a:xfrm>
            <a:off x="548640" y="2697480"/>
            <a:ext cx="1371600" cy="1554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200"/>
              <a:buFont typeface="Calibri"/>
              <a:buNone/>
            </a:pPr>
            <a:r>
              <a:rPr lang="en-US" sz="1200" b="1" i="0" u="none" strike="noStrike" cap="none" spc="200">
                <a:solidFill>
                  <a:schemeClr val="dk2"/>
                </a:solidFill>
                <a:latin typeface="Calibri"/>
                <a:ea typeface="Calibri"/>
                <a:cs typeface="Calibri"/>
                <a:sym typeface="Calibri"/>
              </a:rPr>
              <a:t>API LAYER</a:t>
            </a:r>
            <a:endParaRPr sz="1200" b="0" i="0" u="none" strike="noStrike" cap="none">
              <a:solidFill>
                <a:schemeClr val="dk1"/>
              </a:solidFill>
              <a:latin typeface="Calibri"/>
              <a:ea typeface="Calibri"/>
              <a:cs typeface="Calibri"/>
              <a:sym typeface="Calibri"/>
            </a:endParaRPr>
          </a:p>
        </p:txBody>
      </p:sp>
      <p:sp>
        <p:nvSpPr>
          <p:cNvPr id="161" name="Google Shape;161;p11"/>
          <p:cNvSpPr txBox="1"/>
          <p:nvPr/>
        </p:nvSpPr>
        <p:spPr>
          <a:xfrm>
            <a:off x="548640" y="4663440"/>
            <a:ext cx="1371600" cy="1417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200"/>
              <a:buFont typeface="Calibri"/>
              <a:buNone/>
            </a:pPr>
            <a:r>
              <a:rPr lang="en-US" sz="1200" b="1" i="0" u="none" strike="noStrike" cap="none" spc="200">
                <a:solidFill>
                  <a:schemeClr val="dk2"/>
                </a:solidFill>
                <a:latin typeface="Calibri"/>
                <a:ea typeface="Calibri"/>
                <a:cs typeface="Calibri"/>
                <a:sym typeface="Calibri"/>
              </a:rPr>
              <a:t>SERVICES</a:t>
            </a:r>
            <a:endParaRPr sz="1200" b="0" i="0" u="none" strike="noStrike" cap="none">
              <a:solidFill>
                <a:schemeClr val="dk1"/>
              </a:solidFill>
              <a:latin typeface="Calibri"/>
              <a:ea typeface="Calibri"/>
              <a:cs typeface="Calibri"/>
              <a:sym typeface="Calibri"/>
            </a:endParaRPr>
          </a:p>
        </p:txBody>
      </p:sp>
      <p:sp>
        <p:nvSpPr>
          <p:cNvPr id="162" name="Google Shape;162;p11"/>
          <p:cNvSpPr/>
          <p:nvPr/>
        </p:nvSpPr>
        <p:spPr>
          <a:xfrm>
            <a:off x="2103120" y="1417320"/>
            <a:ext cx="3017520" cy="777240"/>
          </a:xfrm>
          <a:prstGeom prst="roundRect">
            <a:avLst>
              <a:gd name="adj" fmla="val 16471"/>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1"/>
          <p:cNvSpPr/>
          <p:nvPr/>
        </p:nvSpPr>
        <p:spPr>
          <a:xfrm>
            <a:off x="2286000" y="157734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4" name="Google Shape;164;p11" descr="preencoded.png"/>
          <p:cNvPicPr preferRelativeResize="0"/>
          <p:nvPr/>
        </p:nvPicPr>
        <p:blipFill rotWithShape="1">
          <a:blip r:embed="rId3">
            <a:alphaModFix/>
          </a:blip>
          <a:srcRect/>
          <a:stretch/>
        </p:blipFill>
        <p:spPr>
          <a:xfrm>
            <a:off x="2404872" y="1696212"/>
            <a:ext cx="219456" cy="219456"/>
          </a:xfrm>
          <a:prstGeom prst="rect">
            <a:avLst/>
          </a:prstGeom>
          <a:noFill/>
          <a:ln>
            <a:noFill/>
          </a:ln>
        </p:spPr>
      </p:pic>
      <p:sp>
        <p:nvSpPr>
          <p:cNvPr id="165" name="Google Shape;165;p11"/>
          <p:cNvSpPr txBox="1"/>
          <p:nvPr/>
        </p:nvSpPr>
        <p:spPr>
          <a:xfrm>
            <a:off x="2926080" y="1417320"/>
            <a:ext cx="210312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Drag &amp; drop upload</a:t>
            </a:r>
            <a:endParaRPr sz="1600" b="0" i="0" u="none" strike="noStrike" cap="none">
              <a:solidFill>
                <a:schemeClr val="dk1"/>
              </a:solidFill>
              <a:latin typeface="Calibri"/>
              <a:ea typeface="Calibri"/>
              <a:cs typeface="Calibri"/>
              <a:sym typeface="Calibri"/>
            </a:endParaRPr>
          </a:p>
        </p:txBody>
      </p:sp>
      <p:cxnSp>
        <p:nvCxnSpPr>
          <p:cNvPr id="166" name="Google Shape;166;p11"/>
          <p:cNvCxnSpPr/>
          <p:nvPr/>
        </p:nvCxnSpPr>
        <p:spPr>
          <a:xfrm>
            <a:off x="3611880" y="2194560"/>
            <a:ext cx="0" cy="502920"/>
          </a:xfrm>
          <a:prstGeom prst="straightConnector1">
            <a:avLst/>
          </a:prstGeom>
          <a:noFill/>
          <a:ln w="28575" cap="flat" cmpd="sng">
            <a:solidFill>
              <a:schemeClr val="accent1"/>
            </a:solidFill>
            <a:prstDash val="solid"/>
            <a:round/>
            <a:headEnd type="none" w="sm" len="sm"/>
            <a:tailEnd type="triangle" w="med" len="med"/>
          </a:ln>
        </p:spPr>
      </p:cxnSp>
      <p:sp>
        <p:nvSpPr>
          <p:cNvPr id="167" name="Google Shape;167;p11"/>
          <p:cNvSpPr/>
          <p:nvPr/>
        </p:nvSpPr>
        <p:spPr>
          <a:xfrm>
            <a:off x="5367528" y="1417320"/>
            <a:ext cx="3017520" cy="777240"/>
          </a:xfrm>
          <a:prstGeom prst="roundRect">
            <a:avLst>
              <a:gd name="adj" fmla="val 16471"/>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a:off x="5550408" y="157734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9" name="Google Shape;169;p11" descr="preencoded.png"/>
          <p:cNvPicPr preferRelativeResize="0"/>
          <p:nvPr/>
        </p:nvPicPr>
        <p:blipFill rotWithShape="1">
          <a:blip r:embed="rId4">
            <a:alphaModFix/>
          </a:blip>
          <a:srcRect/>
          <a:stretch/>
        </p:blipFill>
        <p:spPr>
          <a:xfrm>
            <a:off x="5669280" y="1696212"/>
            <a:ext cx="219456" cy="219456"/>
          </a:xfrm>
          <a:prstGeom prst="rect">
            <a:avLst/>
          </a:prstGeom>
          <a:noFill/>
          <a:ln>
            <a:noFill/>
          </a:ln>
        </p:spPr>
      </p:pic>
      <p:sp>
        <p:nvSpPr>
          <p:cNvPr id="170" name="Google Shape;170;p11"/>
          <p:cNvSpPr txBox="1"/>
          <p:nvPr/>
        </p:nvSpPr>
        <p:spPr>
          <a:xfrm>
            <a:off x="6190488" y="1417320"/>
            <a:ext cx="210312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Copilot chat dock</a:t>
            </a:r>
            <a:endParaRPr sz="1600" b="0" i="0" u="none" strike="noStrike" cap="none">
              <a:solidFill>
                <a:schemeClr val="dk1"/>
              </a:solidFill>
              <a:latin typeface="Calibri"/>
              <a:ea typeface="Calibri"/>
              <a:cs typeface="Calibri"/>
              <a:sym typeface="Calibri"/>
            </a:endParaRPr>
          </a:p>
        </p:txBody>
      </p:sp>
      <p:cxnSp>
        <p:nvCxnSpPr>
          <p:cNvPr id="171" name="Google Shape;171;p11"/>
          <p:cNvCxnSpPr/>
          <p:nvPr/>
        </p:nvCxnSpPr>
        <p:spPr>
          <a:xfrm>
            <a:off x="6876288" y="2194560"/>
            <a:ext cx="0" cy="502920"/>
          </a:xfrm>
          <a:prstGeom prst="straightConnector1">
            <a:avLst/>
          </a:prstGeom>
          <a:noFill/>
          <a:ln w="28575" cap="flat" cmpd="sng">
            <a:solidFill>
              <a:schemeClr val="accent1"/>
            </a:solidFill>
            <a:prstDash val="solid"/>
            <a:round/>
            <a:headEnd type="none" w="sm" len="sm"/>
            <a:tailEnd type="triangle" w="med" len="med"/>
          </a:ln>
        </p:spPr>
      </p:cxnSp>
      <p:sp>
        <p:nvSpPr>
          <p:cNvPr id="172" name="Google Shape;172;p11"/>
          <p:cNvSpPr/>
          <p:nvPr/>
        </p:nvSpPr>
        <p:spPr>
          <a:xfrm>
            <a:off x="8631936" y="1417320"/>
            <a:ext cx="3017520" cy="777240"/>
          </a:xfrm>
          <a:prstGeom prst="roundRect">
            <a:avLst>
              <a:gd name="adj" fmla="val 16471"/>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a:off x="8814816" y="157734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4" name="Google Shape;174;p11" descr="preencoded.png"/>
          <p:cNvPicPr preferRelativeResize="0"/>
          <p:nvPr/>
        </p:nvPicPr>
        <p:blipFill rotWithShape="1">
          <a:blip r:embed="rId5">
            <a:alphaModFix/>
          </a:blip>
          <a:srcRect/>
          <a:stretch/>
        </p:blipFill>
        <p:spPr>
          <a:xfrm>
            <a:off x="8933688" y="1696212"/>
            <a:ext cx="219456" cy="219456"/>
          </a:xfrm>
          <a:prstGeom prst="rect">
            <a:avLst/>
          </a:prstGeom>
          <a:noFill/>
          <a:ln>
            <a:noFill/>
          </a:ln>
        </p:spPr>
      </p:pic>
      <p:sp>
        <p:nvSpPr>
          <p:cNvPr id="175" name="Google Shape;175;p11"/>
          <p:cNvSpPr txBox="1"/>
          <p:nvPr/>
        </p:nvSpPr>
        <p:spPr>
          <a:xfrm>
            <a:off x="9454896" y="1417320"/>
            <a:ext cx="210312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Emergency triage &amp; sync</a:t>
            </a:r>
            <a:endParaRPr sz="1600" b="0" i="0" u="none" strike="noStrike" cap="none">
              <a:solidFill>
                <a:schemeClr val="dk1"/>
              </a:solidFill>
              <a:latin typeface="Calibri"/>
              <a:ea typeface="Calibri"/>
              <a:cs typeface="Calibri"/>
              <a:sym typeface="Calibri"/>
            </a:endParaRPr>
          </a:p>
        </p:txBody>
      </p:sp>
      <p:cxnSp>
        <p:nvCxnSpPr>
          <p:cNvPr id="176" name="Google Shape;176;p11"/>
          <p:cNvCxnSpPr/>
          <p:nvPr/>
        </p:nvCxnSpPr>
        <p:spPr>
          <a:xfrm>
            <a:off x="10140696" y="2194560"/>
            <a:ext cx="0" cy="502920"/>
          </a:xfrm>
          <a:prstGeom prst="straightConnector1">
            <a:avLst/>
          </a:prstGeom>
          <a:noFill/>
          <a:ln w="28575" cap="flat" cmpd="sng">
            <a:solidFill>
              <a:schemeClr val="accent1"/>
            </a:solidFill>
            <a:prstDash val="solid"/>
            <a:round/>
            <a:headEnd type="none" w="sm" len="sm"/>
            <a:tailEnd type="triangle" w="med" len="med"/>
          </a:ln>
        </p:spPr>
      </p:cxnSp>
      <p:sp>
        <p:nvSpPr>
          <p:cNvPr id="177" name="Google Shape;177;p11"/>
          <p:cNvSpPr txBox="1"/>
          <p:nvPr/>
        </p:nvSpPr>
        <p:spPr>
          <a:xfrm>
            <a:off x="10972800" y="2331720"/>
            <a:ext cx="73152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200" b="1" i="0" u="none" strike="noStrike" cap="none">
                <a:solidFill>
                  <a:schemeClr val="dk2"/>
                </a:solidFill>
                <a:latin typeface="Calibri"/>
                <a:ea typeface="Calibri"/>
                <a:cs typeface="Calibri"/>
                <a:sym typeface="Calibri"/>
              </a:rPr>
              <a:t>HTTPS</a:t>
            </a:r>
            <a:endParaRPr sz="1200" b="0" i="0" u="none" strike="noStrike" cap="none">
              <a:solidFill>
                <a:schemeClr val="dk1"/>
              </a:solidFill>
              <a:latin typeface="Calibri"/>
              <a:ea typeface="Calibri"/>
              <a:cs typeface="Calibri"/>
              <a:sym typeface="Calibri"/>
            </a:endParaRPr>
          </a:p>
        </p:txBody>
      </p:sp>
      <p:sp>
        <p:nvSpPr>
          <p:cNvPr id="178" name="Google Shape;178;p11"/>
          <p:cNvSpPr/>
          <p:nvPr/>
        </p:nvSpPr>
        <p:spPr>
          <a:xfrm>
            <a:off x="2103120" y="2697480"/>
            <a:ext cx="9537192" cy="1554480"/>
          </a:xfrm>
          <a:prstGeom prst="roundRect">
            <a:avLst>
              <a:gd name="adj" fmla="val 8235"/>
            </a:avLst>
          </a:prstGeom>
          <a:solidFill>
            <a:schemeClr val="accent1">
              <a:alpha val="14118"/>
            </a:schemeClr>
          </a:solidFill>
          <a:ln w="12700" cap="flat" cmpd="sng">
            <a:solidFill>
              <a:schemeClr val="accent1">
                <a:alpha val="54902"/>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1"/>
          <p:cNvSpPr txBox="1"/>
          <p:nvPr/>
        </p:nvSpPr>
        <p:spPr>
          <a:xfrm>
            <a:off x="2331720" y="2807208"/>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200"/>
              <a:buFont typeface="Calibri"/>
              <a:buNone/>
            </a:pPr>
            <a:r>
              <a:rPr lang="en-US" sz="1200" b="1" i="0" u="none" strike="noStrike" cap="none" spc="200">
                <a:solidFill>
                  <a:schemeClr val="accent3"/>
                </a:solidFill>
                <a:latin typeface="Calibri"/>
                <a:ea typeface="Calibri"/>
                <a:cs typeface="Calibri"/>
                <a:sym typeface="Calibri"/>
              </a:rPr>
              <a:t>NEXT.JS 16 API BACKEND ROUTER</a:t>
            </a:r>
            <a:endParaRPr sz="1200" b="0" i="0" u="none" strike="noStrike" cap="none">
              <a:solidFill>
                <a:schemeClr val="dk1"/>
              </a:solidFill>
              <a:latin typeface="Calibri"/>
              <a:ea typeface="Calibri"/>
              <a:cs typeface="Calibri"/>
              <a:sym typeface="Calibri"/>
            </a:endParaRPr>
          </a:p>
        </p:txBody>
      </p:sp>
      <p:sp>
        <p:nvSpPr>
          <p:cNvPr id="180" name="Google Shape;180;p11"/>
          <p:cNvSpPr/>
          <p:nvPr/>
        </p:nvSpPr>
        <p:spPr>
          <a:xfrm>
            <a:off x="2331720" y="3200400"/>
            <a:ext cx="2926080" cy="914400"/>
          </a:xfrm>
          <a:prstGeom prst="roundRect">
            <a:avLst>
              <a:gd name="adj" fmla="val 14000"/>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txBox="1"/>
          <p:nvPr/>
        </p:nvSpPr>
        <p:spPr>
          <a:xfrm>
            <a:off x="2514600" y="3273552"/>
            <a:ext cx="26060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POST /api/process-record</a:t>
            </a:r>
            <a:endParaRPr sz="1400" b="0" i="0" u="none" strike="noStrike" cap="none">
              <a:solidFill>
                <a:schemeClr val="dk1"/>
              </a:solidFill>
              <a:latin typeface="Calibri"/>
              <a:ea typeface="Calibri"/>
              <a:cs typeface="Calibri"/>
              <a:sym typeface="Calibri"/>
            </a:endParaRPr>
          </a:p>
        </p:txBody>
      </p:sp>
      <p:sp>
        <p:nvSpPr>
          <p:cNvPr id="182" name="Google Shape;182;p11"/>
          <p:cNvSpPr txBox="1"/>
          <p:nvPr/>
        </p:nvSpPr>
        <p:spPr>
          <a:xfrm>
            <a:off x="2514600" y="3566160"/>
            <a:ext cx="260604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200"/>
              <a:buFont typeface="Calibri"/>
              <a:buNone/>
            </a:pPr>
            <a:r>
              <a:rPr lang="en-US" sz="1200" b="0" i="0" u="none" strike="noStrike" cap="none">
                <a:solidFill>
                  <a:srgbClr val="A5C2B2"/>
                </a:solidFill>
                <a:latin typeface="Calibri"/>
                <a:ea typeface="Calibri"/>
                <a:cs typeface="Calibri"/>
                <a:sym typeface="Calibri"/>
              </a:rPr>
              <a:t>Multipart parser, storage key, validated OCR extraction</a:t>
            </a:r>
            <a:endParaRPr sz="1200" b="0" i="0" u="none" strike="noStrike" cap="none">
              <a:solidFill>
                <a:schemeClr val="dk1"/>
              </a:solidFill>
              <a:latin typeface="Calibri"/>
              <a:ea typeface="Calibri"/>
              <a:cs typeface="Calibri"/>
              <a:sym typeface="Calibri"/>
            </a:endParaRPr>
          </a:p>
        </p:txBody>
      </p:sp>
      <p:sp>
        <p:nvSpPr>
          <p:cNvPr id="183" name="Google Shape;183;p11"/>
          <p:cNvSpPr/>
          <p:nvPr/>
        </p:nvSpPr>
        <p:spPr>
          <a:xfrm>
            <a:off x="5394960" y="3200400"/>
            <a:ext cx="2926080" cy="914400"/>
          </a:xfrm>
          <a:prstGeom prst="roundRect">
            <a:avLst>
              <a:gd name="adj" fmla="val 14000"/>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1"/>
          <p:cNvSpPr txBox="1"/>
          <p:nvPr/>
        </p:nvSpPr>
        <p:spPr>
          <a:xfrm>
            <a:off x="5577840" y="3273552"/>
            <a:ext cx="26060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POST /api/chat</a:t>
            </a:r>
            <a:endParaRPr sz="1400" b="0" i="0" u="none" strike="noStrike" cap="none">
              <a:solidFill>
                <a:schemeClr val="dk1"/>
              </a:solidFill>
              <a:latin typeface="Calibri"/>
              <a:ea typeface="Calibri"/>
              <a:cs typeface="Calibri"/>
              <a:sym typeface="Calibri"/>
            </a:endParaRPr>
          </a:p>
        </p:txBody>
      </p:sp>
      <p:sp>
        <p:nvSpPr>
          <p:cNvPr id="185" name="Google Shape;185;p11"/>
          <p:cNvSpPr txBox="1"/>
          <p:nvPr/>
        </p:nvSpPr>
        <p:spPr>
          <a:xfrm>
            <a:off x="5577840" y="3566160"/>
            <a:ext cx="260604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200"/>
              <a:buFont typeface="Calibri"/>
              <a:buNone/>
            </a:pPr>
            <a:r>
              <a:rPr lang="en-US" sz="1200" b="0" i="0" u="none" strike="noStrike" cap="none">
                <a:solidFill>
                  <a:srgbClr val="A5C2B2"/>
                </a:solidFill>
                <a:latin typeface="Calibri"/>
                <a:ea typeface="Calibri"/>
                <a:cs typeface="Calibri"/>
                <a:sym typeface="Calibri"/>
              </a:rPr>
              <a:t>Message normalizer, multimodal attachments, truthful failures</a:t>
            </a:r>
            <a:endParaRPr sz="1200" b="0" i="0" u="none" strike="noStrike" cap="none">
              <a:solidFill>
                <a:schemeClr val="dk1"/>
              </a:solidFill>
              <a:latin typeface="Calibri"/>
              <a:ea typeface="Calibri"/>
              <a:cs typeface="Calibri"/>
              <a:sym typeface="Calibri"/>
            </a:endParaRPr>
          </a:p>
        </p:txBody>
      </p:sp>
      <p:sp>
        <p:nvSpPr>
          <p:cNvPr id="186" name="Google Shape;186;p11"/>
          <p:cNvSpPr/>
          <p:nvPr/>
        </p:nvSpPr>
        <p:spPr>
          <a:xfrm>
            <a:off x="8458200" y="3200400"/>
            <a:ext cx="2926080" cy="914400"/>
          </a:xfrm>
          <a:prstGeom prst="roundRect">
            <a:avLst>
              <a:gd name="adj" fmla="val 14000"/>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txBox="1"/>
          <p:nvPr/>
        </p:nvSpPr>
        <p:spPr>
          <a:xfrm>
            <a:off x="8641080" y="3273552"/>
            <a:ext cx="26060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POST /api/translate</a:t>
            </a:r>
            <a:endParaRPr sz="1400" b="0" i="0" u="none" strike="noStrike" cap="none">
              <a:solidFill>
                <a:schemeClr val="dk1"/>
              </a:solidFill>
              <a:latin typeface="Calibri"/>
              <a:ea typeface="Calibri"/>
              <a:cs typeface="Calibri"/>
              <a:sym typeface="Calibri"/>
            </a:endParaRPr>
          </a:p>
        </p:txBody>
      </p:sp>
      <p:sp>
        <p:nvSpPr>
          <p:cNvPr id="188" name="Google Shape;188;p11"/>
          <p:cNvSpPr txBox="1"/>
          <p:nvPr/>
        </p:nvSpPr>
        <p:spPr>
          <a:xfrm>
            <a:off x="8641080" y="3566160"/>
            <a:ext cx="260604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200"/>
              <a:buFont typeface="Calibri"/>
              <a:buNone/>
            </a:pPr>
            <a:r>
              <a:rPr lang="en-US" sz="1200" b="0" i="0" u="none" strike="noStrike" cap="none">
                <a:solidFill>
                  <a:srgbClr val="A5C2B2"/>
                </a:solidFill>
                <a:latin typeface="Calibri"/>
                <a:ea typeface="Calibri"/>
                <a:cs typeface="Calibri"/>
                <a:sym typeface="Calibri"/>
              </a:rPr>
              <a:t>Clinical dictionary and Gemini translation</a:t>
            </a:r>
            <a:endParaRPr sz="1200" b="0" i="0" u="none" strike="noStrike" cap="none">
              <a:solidFill>
                <a:schemeClr val="dk1"/>
              </a:solidFill>
              <a:latin typeface="Calibri"/>
              <a:ea typeface="Calibri"/>
              <a:cs typeface="Calibri"/>
              <a:sym typeface="Calibri"/>
            </a:endParaRPr>
          </a:p>
        </p:txBody>
      </p:sp>
      <p:cxnSp>
        <p:nvCxnSpPr>
          <p:cNvPr id="189" name="Google Shape;189;p11"/>
          <p:cNvCxnSpPr/>
          <p:nvPr/>
        </p:nvCxnSpPr>
        <p:spPr>
          <a:xfrm>
            <a:off x="3223260" y="4251960"/>
            <a:ext cx="0" cy="411480"/>
          </a:xfrm>
          <a:prstGeom prst="straightConnector1">
            <a:avLst/>
          </a:prstGeom>
          <a:noFill/>
          <a:ln w="28575" cap="flat" cmpd="sng">
            <a:solidFill>
              <a:schemeClr val="accent1"/>
            </a:solidFill>
            <a:prstDash val="solid"/>
            <a:round/>
            <a:headEnd type="none" w="sm" len="sm"/>
            <a:tailEnd type="triangle" w="med" len="med"/>
          </a:ln>
        </p:spPr>
      </p:cxnSp>
      <p:sp>
        <p:nvSpPr>
          <p:cNvPr id="190" name="Google Shape;190;p11"/>
          <p:cNvSpPr/>
          <p:nvPr/>
        </p:nvSpPr>
        <p:spPr>
          <a:xfrm>
            <a:off x="2103120" y="4663440"/>
            <a:ext cx="2240280" cy="1463040"/>
          </a:xfrm>
          <a:prstGeom prst="roundRect">
            <a:avLst>
              <a:gd name="adj" fmla="val 8750"/>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a:off x="2286000" y="48006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2" name="Google Shape;192;p11" descr="preencoded.png"/>
          <p:cNvPicPr preferRelativeResize="0"/>
          <p:nvPr/>
        </p:nvPicPr>
        <p:blipFill rotWithShape="1">
          <a:blip r:embed="rId6">
            <a:alphaModFix/>
          </a:blip>
          <a:srcRect/>
          <a:stretch/>
        </p:blipFill>
        <p:spPr>
          <a:xfrm>
            <a:off x="2404872" y="4919472"/>
            <a:ext cx="219456" cy="219456"/>
          </a:xfrm>
          <a:prstGeom prst="rect">
            <a:avLst/>
          </a:prstGeom>
          <a:noFill/>
          <a:ln>
            <a:noFill/>
          </a:ln>
        </p:spPr>
      </p:pic>
      <p:sp>
        <p:nvSpPr>
          <p:cNvPr id="193" name="Google Shape;193;p11"/>
          <p:cNvSpPr txBox="1"/>
          <p:nvPr/>
        </p:nvSpPr>
        <p:spPr>
          <a:xfrm>
            <a:off x="2286000" y="5349240"/>
            <a:ext cx="19202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Supabase Storage</a:t>
            </a:r>
            <a:endParaRPr sz="1600" b="0" i="0" u="none" strike="noStrike" cap="none">
              <a:solidFill>
                <a:schemeClr val="dk1"/>
              </a:solidFill>
              <a:latin typeface="Calibri"/>
              <a:ea typeface="Calibri"/>
              <a:cs typeface="Calibri"/>
              <a:sym typeface="Calibri"/>
            </a:endParaRPr>
          </a:p>
        </p:txBody>
      </p:sp>
      <p:sp>
        <p:nvSpPr>
          <p:cNvPr id="194" name="Google Shape;194;p11"/>
          <p:cNvSpPr txBox="1"/>
          <p:nvPr/>
        </p:nvSpPr>
        <p:spPr>
          <a:xfrm>
            <a:off x="2286000" y="5650992"/>
            <a:ext cx="192024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200"/>
              <a:buFont typeface="Calibri"/>
              <a:buNone/>
            </a:pPr>
            <a:r>
              <a:rPr lang="en-US" sz="1200" b="0" i="0" u="none" strike="noStrike" cap="none">
                <a:solidFill>
                  <a:srgbClr val="A5C2B2"/>
                </a:solidFill>
                <a:latin typeface="Calibri"/>
                <a:ea typeface="Calibri"/>
                <a:cs typeface="Calibri"/>
                <a:sym typeface="Calibri"/>
              </a:rPr>
              <a:t>Private bucket: medical_records</a:t>
            </a:r>
            <a:endParaRPr sz="1200" b="0" i="0" u="none" strike="noStrike" cap="none">
              <a:solidFill>
                <a:schemeClr val="dk1"/>
              </a:solidFill>
              <a:latin typeface="Calibri"/>
              <a:ea typeface="Calibri"/>
              <a:cs typeface="Calibri"/>
              <a:sym typeface="Calibri"/>
            </a:endParaRPr>
          </a:p>
        </p:txBody>
      </p:sp>
      <p:cxnSp>
        <p:nvCxnSpPr>
          <p:cNvPr id="195" name="Google Shape;195;p11"/>
          <p:cNvCxnSpPr/>
          <p:nvPr/>
        </p:nvCxnSpPr>
        <p:spPr>
          <a:xfrm>
            <a:off x="5655564" y="4251960"/>
            <a:ext cx="0" cy="411480"/>
          </a:xfrm>
          <a:prstGeom prst="straightConnector1">
            <a:avLst/>
          </a:prstGeom>
          <a:noFill/>
          <a:ln w="28575" cap="flat" cmpd="sng">
            <a:solidFill>
              <a:schemeClr val="accent1"/>
            </a:solidFill>
            <a:prstDash val="solid"/>
            <a:round/>
            <a:headEnd type="none" w="sm" len="sm"/>
            <a:tailEnd type="triangle" w="med" len="med"/>
          </a:ln>
        </p:spPr>
      </p:cxnSp>
      <p:sp>
        <p:nvSpPr>
          <p:cNvPr id="196" name="Google Shape;196;p11"/>
          <p:cNvSpPr/>
          <p:nvPr/>
        </p:nvSpPr>
        <p:spPr>
          <a:xfrm>
            <a:off x="4535424" y="4663440"/>
            <a:ext cx="2240280" cy="1463040"/>
          </a:xfrm>
          <a:prstGeom prst="roundRect">
            <a:avLst>
              <a:gd name="adj" fmla="val 8750"/>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a:off x="4718304" y="48006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8" name="Google Shape;198;p11" descr="preencoded.png"/>
          <p:cNvPicPr preferRelativeResize="0"/>
          <p:nvPr/>
        </p:nvPicPr>
        <p:blipFill rotWithShape="1">
          <a:blip r:embed="rId7">
            <a:alphaModFix/>
          </a:blip>
          <a:srcRect/>
          <a:stretch/>
        </p:blipFill>
        <p:spPr>
          <a:xfrm>
            <a:off x="4837176" y="4919472"/>
            <a:ext cx="219456" cy="219456"/>
          </a:xfrm>
          <a:prstGeom prst="rect">
            <a:avLst/>
          </a:prstGeom>
          <a:noFill/>
          <a:ln>
            <a:noFill/>
          </a:ln>
        </p:spPr>
      </p:pic>
      <p:sp>
        <p:nvSpPr>
          <p:cNvPr id="199" name="Google Shape;199;p11"/>
          <p:cNvSpPr txBox="1"/>
          <p:nvPr/>
        </p:nvSpPr>
        <p:spPr>
          <a:xfrm>
            <a:off x="4718304" y="5349240"/>
            <a:ext cx="19202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PostgreSQL DB</a:t>
            </a:r>
            <a:endParaRPr sz="1600" b="0" i="0" u="none" strike="noStrike" cap="none">
              <a:solidFill>
                <a:schemeClr val="dk1"/>
              </a:solidFill>
              <a:latin typeface="Calibri"/>
              <a:ea typeface="Calibri"/>
              <a:cs typeface="Calibri"/>
              <a:sym typeface="Calibri"/>
            </a:endParaRPr>
          </a:p>
        </p:txBody>
      </p:sp>
      <p:sp>
        <p:nvSpPr>
          <p:cNvPr id="200" name="Google Shape;200;p11"/>
          <p:cNvSpPr txBox="1"/>
          <p:nvPr/>
        </p:nvSpPr>
        <p:spPr>
          <a:xfrm>
            <a:off x="4718304" y="5650992"/>
            <a:ext cx="192024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200"/>
              <a:buFont typeface="Calibri"/>
              <a:buNone/>
            </a:pPr>
            <a:r>
              <a:rPr lang="en-US" sz="1200" b="0" i="0" u="none" strike="noStrike" cap="none">
                <a:solidFill>
                  <a:srgbClr val="A5C2B2"/>
                </a:solidFill>
                <a:latin typeface="Calibri"/>
                <a:ea typeface="Calibri"/>
                <a:cs typeface="Calibri"/>
                <a:sym typeface="Calibri"/>
              </a:rPr>
              <a:t>health_timeline with JSONB records</a:t>
            </a:r>
            <a:endParaRPr sz="1200" b="0" i="0" u="none" strike="noStrike" cap="none">
              <a:solidFill>
                <a:schemeClr val="dk1"/>
              </a:solidFill>
              <a:latin typeface="Calibri"/>
              <a:ea typeface="Calibri"/>
              <a:cs typeface="Calibri"/>
              <a:sym typeface="Calibri"/>
            </a:endParaRPr>
          </a:p>
        </p:txBody>
      </p:sp>
      <p:cxnSp>
        <p:nvCxnSpPr>
          <p:cNvPr id="201" name="Google Shape;201;p11"/>
          <p:cNvCxnSpPr/>
          <p:nvPr/>
        </p:nvCxnSpPr>
        <p:spPr>
          <a:xfrm>
            <a:off x="8087868" y="4251960"/>
            <a:ext cx="0" cy="411480"/>
          </a:xfrm>
          <a:prstGeom prst="straightConnector1">
            <a:avLst/>
          </a:prstGeom>
          <a:noFill/>
          <a:ln w="28575" cap="flat" cmpd="sng">
            <a:solidFill>
              <a:schemeClr val="accent1"/>
            </a:solidFill>
            <a:prstDash val="solid"/>
            <a:round/>
            <a:headEnd type="none" w="sm" len="sm"/>
            <a:tailEnd type="triangle" w="med" len="med"/>
          </a:ln>
        </p:spPr>
      </p:cxnSp>
      <p:sp>
        <p:nvSpPr>
          <p:cNvPr id="202" name="Google Shape;202;p11"/>
          <p:cNvSpPr/>
          <p:nvPr/>
        </p:nvSpPr>
        <p:spPr>
          <a:xfrm>
            <a:off x="6967728" y="4663440"/>
            <a:ext cx="2240280" cy="1463040"/>
          </a:xfrm>
          <a:prstGeom prst="roundRect">
            <a:avLst>
              <a:gd name="adj" fmla="val 8750"/>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1"/>
          <p:cNvSpPr/>
          <p:nvPr/>
        </p:nvSpPr>
        <p:spPr>
          <a:xfrm>
            <a:off x="7150608" y="480060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4" name="Google Shape;204;p11" descr="preencoded.png"/>
          <p:cNvPicPr preferRelativeResize="0"/>
          <p:nvPr/>
        </p:nvPicPr>
        <p:blipFill rotWithShape="1">
          <a:blip r:embed="rId8">
            <a:alphaModFix/>
          </a:blip>
          <a:srcRect/>
          <a:stretch/>
        </p:blipFill>
        <p:spPr>
          <a:xfrm>
            <a:off x="7269480" y="4919472"/>
            <a:ext cx="219456" cy="219456"/>
          </a:xfrm>
          <a:prstGeom prst="rect">
            <a:avLst/>
          </a:prstGeom>
          <a:noFill/>
          <a:ln>
            <a:noFill/>
          </a:ln>
        </p:spPr>
      </p:pic>
      <p:sp>
        <p:nvSpPr>
          <p:cNvPr id="205" name="Google Shape;205;p11"/>
          <p:cNvSpPr txBox="1"/>
          <p:nvPr/>
        </p:nvSpPr>
        <p:spPr>
          <a:xfrm>
            <a:off x="7150608" y="5349240"/>
            <a:ext cx="19202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Google Gemini</a:t>
            </a:r>
            <a:endParaRPr sz="1600" b="0" i="0" u="none" strike="noStrike" cap="none">
              <a:solidFill>
                <a:schemeClr val="dk1"/>
              </a:solidFill>
              <a:latin typeface="Calibri"/>
              <a:ea typeface="Calibri"/>
              <a:cs typeface="Calibri"/>
              <a:sym typeface="Calibri"/>
            </a:endParaRPr>
          </a:p>
        </p:txBody>
      </p:sp>
      <p:sp>
        <p:nvSpPr>
          <p:cNvPr id="206" name="Google Shape;206;p11"/>
          <p:cNvSpPr txBox="1"/>
          <p:nvPr/>
        </p:nvSpPr>
        <p:spPr>
          <a:xfrm>
            <a:off x="7150608" y="5650992"/>
            <a:ext cx="192024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200"/>
              <a:buFont typeface="Calibri"/>
              <a:buNone/>
            </a:pPr>
            <a:r>
              <a:rPr lang="en-US" sz="1200" b="0" i="0" u="none" strike="noStrike" cap="none">
                <a:solidFill>
                  <a:srgbClr val="A5C2B2"/>
                </a:solidFill>
                <a:latin typeface="Calibri"/>
                <a:ea typeface="Calibri"/>
                <a:cs typeface="Calibri"/>
                <a:sym typeface="Calibri"/>
              </a:rPr>
              <a:t>Gemini 3.8 Flash: multimodal OCR and chat</a:t>
            </a:r>
            <a:endParaRPr sz="1200" b="0" i="0" u="none" strike="noStrike" cap="none">
              <a:solidFill>
                <a:schemeClr val="dk1"/>
              </a:solidFill>
              <a:latin typeface="Calibri"/>
              <a:ea typeface="Calibri"/>
              <a:cs typeface="Calibri"/>
              <a:sym typeface="Calibri"/>
            </a:endParaRPr>
          </a:p>
        </p:txBody>
      </p:sp>
      <p:cxnSp>
        <p:nvCxnSpPr>
          <p:cNvPr id="207" name="Google Shape;207;p11"/>
          <p:cNvCxnSpPr/>
          <p:nvPr/>
        </p:nvCxnSpPr>
        <p:spPr>
          <a:xfrm>
            <a:off x="10520172" y="4251960"/>
            <a:ext cx="0" cy="411480"/>
          </a:xfrm>
          <a:prstGeom prst="straightConnector1">
            <a:avLst/>
          </a:prstGeom>
          <a:noFill/>
          <a:ln w="28575" cap="flat" cmpd="sng">
            <a:solidFill>
              <a:schemeClr val="accent1"/>
            </a:solidFill>
            <a:prstDash val="solid"/>
            <a:round/>
            <a:headEnd type="none" w="sm" len="sm"/>
            <a:tailEnd type="triangle" w="med" len="med"/>
          </a:ln>
        </p:spPr>
      </p:cxnSp>
      <p:sp>
        <p:nvSpPr>
          <p:cNvPr id="208" name="Google Shape;208;p11"/>
          <p:cNvSpPr/>
          <p:nvPr/>
        </p:nvSpPr>
        <p:spPr>
          <a:xfrm>
            <a:off x="9400032" y="4663440"/>
            <a:ext cx="2240280" cy="1463040"/>
          </a:xfrm>
          <a:prstGeom prst="roundRect">
            <a:avLst>
              <a:gd name="adj" fmla="val 8750"/>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1"/>
          <p:cNvSpPr/>
          <p:nvPr/>
        </p:nvSpPr>
        <p:spPr>
          <a:xfrm>
            <a:off x="9582912" y="48006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0" name="Google Shape;210;p11" descr="preencoded.png"/>
          <p:cNvPicPr preferRelativeResize="0"/>
          <p:nvPr/>
        </p:nvPicPr>
        <p:blipFill rotWithShape="1">
          <a:blip r:embed="rId9">
            <a:alphaModFix/>
          </a:blip>
          <a:srcRect/>
          <a:stretch/>
        </p:blipFill>
        <p:spPr>
          <a:xfrm>
            <a:off x="9701784" y="4919472"/>
            <a:ext cx="219456" cy="219456"/>
          </a:xfrm>
          <a:prstGeom prst="rect">
            <a:avLst/>
          </a:prstGeom>
          <a:noFill/>
          <a:ln>
            <a:noFill/>
          </a:ln>
        </p:spPr>
      </p:pic>
      <p:sp>
        <p:nvSpPr>
          <p:cNvPr id="211" name="Google Shape;211;p11"/>
          <p:cNvSpPr txBox="1"/>
          <p:nvPr/>
        </p:nvSpPr>
        <p:spPr>
          <a:xfrm>
            <a:off x="9582912" y="5349240"/>
            <a:ext cx="19202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i18n Engine</a:t>
            </a:r>
            <a:endParaRPr sz="1600" b="0" i="0" u="none" strike="noStrike" cap="none">
              <a:solidFill>
                <a:schemeClr val="dk1"/>
              </a:solidFill>
              <a:latin typeface="Calibri"/>
              <a:ea typeface="Calibri"/>
              <a:cs typeface="Calibri"/>
              <a:sym typeface="Calibri"/>
            </a:endParaRPr>
          </a:p>
        </p:txBody>
      </p:sp>
      <p:sp>
        <p:nvSpPr>
          <p:cNvPr id="212" name="Google Shape;212;p11"/>
          <p:cNvSpPr txBox="1"/>
          <p:nvPr/>
        </p:nvSpPr>
        <p:spPr>
          <a:xfrm>
            <a:off x="9582912" y="5650992"/>
            <a:ext cx="192024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200"/>
              <a:buFont typeface="Calibri"/>
              <a:buNone/>
            </a:pPr>
            <a:r>
              <a:rPr lang="en-US" sz="1200" b="0" i="0" u="none" strike="noStrike" cap="none">
                <a:solidFill>
                  <a:srgbClr val="A5C2B2"/>
                </a:solidFill>
                <a:latin typeface="Calibri"/>
                <a:ea typeface="Calibri"/>
                <a:cs typeface="Calibri"/>
                <a:sym typeface="Calibri"/>
              </a:rPr>
              <a:t>lib/i18n.ts: en, hi, te, ta</a:t>
            </a:r>
            <a:endParaRPr sz="1200" b="0" i="0" u="none" strike="noStrike" cap="none">
              <a:solidFill>
                <a:schemeClr val="dk1"/>
              </a:solidFill>
              <a:latin typeface="Calibri"/>
              <a:ea typeface="Calibri"/>
              <a:cs typeface="Calibri"/>
              <a:sym typeface="Calibri"/>
            </a:endParaRPr>
          </a:p>
        </p:txBody>
      </p:sp>
      <p:sp>
        <p:nvSpPr>
          <p:cNvPr id="213" name="Google Shape;213;p11"/>
          <p:cNvSpPr txBox="1">
            <a:spLocks noGrp="1"/>
          </p:cNvSpPr>
          <p:nvPr>
            <p:ph type="sldNum" idx="4294967295"/>
          </p:nvPr>
        </p:nvSpPr>
        <p:spPr>
          <a:xfrm>
            <a:off x="11064240" y="6400800"/>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100" b="0" i="0" u="none" strike="noStrike" cap="none">
                <a:solidFill>
                  <a:srgbClr val="6F8F7F"/>
                </a:solidFill>
                <a:latin typeface="Calibri"/>
                <a:ea typeface="Calibri"/>
                <a:cs typeface="Calibri"/>
                <a:sym typeface="Calibri"/>
              </a:rPr>
              <a:t>5</a:t>
            </a:fld>
            <a:endParaRPr sz="1100" b="0" i="0" u="none" strike="noStrike" cap="none">
              <a:solidFill>
                <a:srgbClr val="6F8F7F"/>
              </a:solidFill>
              <a:latin typeface="Calibri"/>
              <a:ea typeface="Calibri"/>
              <a:cs typeface="Calibri"/>
              <a:sym typeface="Calibri"/>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p:cTn id="7" dur="550"/>
                                        <p:tgtEl>
                                          <p:spTgt spid="159"/>
                                        </p:tgtEl>
                                      </p:cBhvr>
                                    </p:animEffect>
                                  </p:childTnLst>
                                </p:cTn>
                              </p:par>
                              <p:par>
                                <p:cTn id="8" presetID="10" presetClass="entr" presetSubtype="0" fill="hold" nodeType="withEffect">
                                  <p:stCondLst>
                                    <p:cond delay="0"/>
                                  </p:stCondLst>
                                  <p:childTnLst>
                                    <p:set>
                                      <p:cBhvr>
                                        <p:cTn id="9" dur="1" fill="hold">
                                          <p:stCondLst>
                                            <p:cond delay="0"/>
                                          </p:stCondLst>
                                        </p:cTn>
                                        <p:tgtEl>
                                          <p:spTgt spid="162"/>
                                        </p:tgtEl>
                                        <p:attrNameLst>
                                          <p:attrName>style.visibility</p:attrName>
                                        </p:attrNameLst>
                                      </p:cBhvr>
                                      <p:to>
                                        <p:strVal val="visible"/>
                                      </p:to>
                                    </p:set>
                                    <p:animEffect transition="in" filter="fade">
                                      <p:cBhvr>
                                        <p:cTn id="10" dur="550"/>
                                        <p:tgtEl>
                                          <p:spTgt spid="162"/>
                                        </p:tgtEl>
                                      </p:cBhvr>
                                    </p:animEffect>
                                  </p:childTnLst>
                                </p:cTn>
                              </p:par>
                              <p:par>
                                <p:cTn id="11" presetID="10" presetClass="entr" presetSubtype="0" fill="hold" nodeType="withEffect">
                                  <p:stCondLst>
                                    <p:cond delay="0"/>
                                  </p:stCondLst>
                                  <p:childTnLst>
                                    <p:set>
                                      <p:cBhvr>
                                        <p:cTn id="12" dur="1" fill="hold">
                                          <p:stCondLst>
                                            <p:cond delay="0"/>
                                          </p:stCondLst>
                                        </p:cTn>
                                        <p:tgtEl>
                                          <p:spTgt spid="163"/>
                                        </p:tgtEl>
                                        <p:attrNameLst>
                                          <p:attrName>style.visibility</p:attrName>
                                        </p:attrNameLst>
                                      </p:cBhvr>
                                      <p:to>
                                        <p:strVal val="visible"/>
                                      </p:to>
                                    </p:set>
                                    <p:animEffect transition="in" filter="fade">
                                      <p:cBhvr>
                                        <p:cTn id="13" dur="550"/>
                                        <p:tgtEl>
                                          <p:spTgt spid="163"/>
                                        </p:tgtEl>
                                      </p:cBhvr>
                                    </p:animEffect>
                                  </p:childTnLst>
                                </p:cTn>
                              </p:par>
                              <p:par>
                                <p:cTn id="14" presetID="10" presetClass="entr" presetSubtype="0" fill="hold" nodeType="withEffect">
                                  <p:stCondLst>
                                    <p:cond delay="0"/>
                                  </p:stCondLst>
                                  <p:childTnLst>
                                    <p:set>
                                      <p:cBhvr>
                                        <p:cTn id="15" dur="1" fill="hold">
                                          <p:stCondLst>
                                            <p:cond delay="0"/>
                                          </p:stCondLst>
                                        </p:cTn>
                                        <p:tgtEl>
                                          <p:spTgt spid="164"/>
                                        </p:tgtEl>
                                        <p:attrNameLst>
                                          <p:attrName>style.visibility</p:attrName>
                                        </p:attrNameLst>
                                      </p:cBhvr>
                                      <p:to>
                                        <p:strVal val="visible"/>
                                      </p:to>
                                    </p:set>
                                    <p:animEffect transition="in" filter="fade">
                                      <p:cBhvr>
                                        <p:cTn id="16" dur="550"/>
                                        <p:tgtEl>
                                          <p:spTgt spid="164"/>
                                        </p:tgtEl>
                                      </p:cBhvr>
                                    </p:animEffect>
                                  </p:childTnLst>
                                </p:cTn>
                              </p:par>
                              <p:par>
                                <p:cTn id="17" presetID="10" presetClass="entr" presetSubtype="0" fill="hold" nodeType="withEffect">
                                  <p:stCondLst>
                                    <p:cond delay="0"/>
                                  </p:stCondLst>
                                  <p:childTnLst>
                                    <p:set>
                                      <p:cBhvr>
                                        <p:cTn id="18" dur="1" fill="hold">
                                          <p:stCondLst>
                                            <p:cond delay="0"/>
                                          </p:stCondLst>
                                        </p:cTn>
                                        <p:tgtEl>
                                          <p:spTgt spid="165"/>
                                        </p:tgtEl>
                                        <p:attrNameLst>
                                          <p:attrName>style.visibility</p:attrName>
                                        </p:attrNameLst>
                                      </p:cBhvr>
                                      <p:to>
                                        <p:strVal val="visible"/>
                                      </p:to>
                                    </p:set>
                                    <p:animEffect transition="in" filter="fade">
                                      <p:cBhvr>
                                        <p:cTn id="19" dur="550"/>
                                        <p:tgtEl>
                                          <p:spTgt spid="165"/>
                                        </p:tgtEl>
                                      </p:cBhvr>
                                    </p:animEffect>
                                  </p:childTnLst>
                                </p:cTn>
                              </p:par>
                              <p:par>
                                <p:cTn id="20" presetID="10" presetClass="entr" presetSubtype="0" fill="hold" nodeType="withEffect">
                                  <p:stCondLst>
                                    <p:cond delay="0"/>
                                  </p:stCondLst>
                                  <p:childTnLst>
                                    <p:set>
                                      <p:cBhvr>
                                        <p:cTn id="21" dur="1" fill="hold">
                                          <p:stCondLst>
                                            <p:cond delay="0"/>
                                          </p:stCondLst>
                                        </p:cTn>
                                        <p:tgtEl>
                                          <p:spTgt spid="167"/>
                                        </p:tgtEl>
                                        <p:attrNameLst>
                                          <p:attrName>style.visibility</p:attrName>
                                        </p:attrNameLst>
                                      </p:cBhvr>
                                      <p:to>
                                        <p:strVal val="visible"/>
                                      </p:to>
                                    </p:set>
                                    <p:animEffect transition="in" filter="fade">
                                      <p:cBhvr>
                                        <p:cTn id="22" dur="550"/>
                                        <p:tgtEl>
                                          <p:spTgt spid="167"/>
                                        </p:tgtEl>
                                      </p:cBhvr>
                                    </p:animEffect>
                                  </p:childTnLst>
                                </p:cTn>
                              </p:par>
                              <p:par>
                                <p:cTn id="23" presetID="10" presetClass="entr" presetSubtype="0" fill="hold" nodeType="withEffect">
                                  <p:stCondLst>
                                    <p:cond delay="0"/>
                                  </p:stCondLst>
                                  <p:childTnLst>
                                    <p:set>
                                      <p:cBhvr>
                                        <p:cTn id="24" dur="1" fill="hold">
                                          <p:stCondLst>
                                            <p:cond delay="0"/>
                                          </p:stCondLst>
                                        </p:cTn>
                                        <p:tgtEl>
                                          <p:spTgt spid="168"/>
                                        </p:tgtEl>
                                        <p:attrNameLst>
                                          <p:attrName>style.visibility</p:attrName>
                                        </p:attrNameLst>
                                      </p:cBhvr>
                                      <p:to>
                                        <p:strVal val="visible"/>
                                      </p:to>
                                    </p:set>
                                    <p:animEffect transition="in" filter="fade">
                                      <p:cBhvr>
                                        <p:cTn id="25" dur="550"/>
                                        <p:tgtEl>
                                          <p:spTgt spid="168"/>
                                        </p:tgtEl>
                                      </p:cBhvr>
                                    </p:animEffect>
                                  </p:childTnLst>
                                </p:cTn>
                              </p:par>
                              <p:par>
                                <p:cTn id="26" presetID="10" presetClass="entr" presetSubtype="0" fill="hold" nodeType="withEffect">
                                  <p:stCondLst>
                                    <p:cond delay="0"/>
                                  </p:stCondLst>
                                  <p:childTnLst>
                                    <p:set>
                                      <p:cBhvr>
                                        <p:cTn id="27" dur="1" fill="hold">
                                          <p:stCondLst>
                                            <p:cond delay="0"/>
                                          </p:stCondLst>
                                        </p:cTn>
                                        <p:tgtEl>
                                          <p:spTgt spid="169"/>
                                        </p:tgtEl>
                                        <p:attrNameLst>
                                          <p:attrName>style.visibility</p:attrName>
                                        </p:attrNameLst>
                                      </p:cBhvr>
                                      <p:to>
                                        <p:strVal val="visible"/>
                                      </p:to>
                                    </p:set>
                                    <p:animEffect transition="in" filter="fade">
                                      <p:cBhvr>
                                        <p:cTn id="28" dur="550"/>
                                        <p:tgtEl>
                                          <p:spTgt spid="169"/>
                                        </p:tgtEl>
                                      </p:cBhvr>
                                    </p:animEffect>
                                  </p:childTnLst>
                                </p:cTn>
                              </p:par>
                              <p:par>
                                <p:cTn id="29" presetID="10" presetClass="entr" presetSubtype="0" fill="hold" nodeType="withEffect">
                                  <p:stCondLst>
                                    <p:cond delay="0"/>
                                  </p:stCondLst>
                                  <p:childTnLst>
                                    <p:set>
                                      <p:cBhvr>
                                        <p:cTn id="30" dur="1" fill="hold">
                                          <p:stCondLst>
                                            <p:cond delay="0"/>
                                          </p:stCondLst>
                                        </p:cTn>
                                        <p:tgtEl>
                                          <p:spTgt spid="170"/>
                                        </p:tgtEl>
                                        <p:attrNameLst>
                                          <p:attrName>style.visibility</p:attrName>
                                        </p:attrNameLst>
                                      </p:cBhvr>
                                      <p:to>
                                        <p:strVal val="visible"/>
                                      </p:to>
                                    </p:set>
                                    <p:animEffect transition="in" filter="fade">
                                      <p:cBhvr>
                                        <p:cTn id="31" dur="550"/>
                                        <p:tgtEl>
                                          <p:spTgt spid="170"/>
                                        </p:tgtEl>
                                      </p:cBhvr>
                                    </p:animEffect>
                                  </p:childTnLst>
                                </p:cTn>
                              </p:par>
                              <p:par>
                                <p:cTn id="32" presetID="10" presetClass="entr" presetSubtype="0" fill="hold" nodeType="withEffect">
                                  <p:stCondLst>
                                    <p:cond delay="0"/>
                                  </p:stCondLst>
                                  <p:childTnLst>
                                    <p:set>
                                      <p:cBhvr>
                                        <p:cTn id="33" dur="1" fill="hold">
                                          <p:stCondLst>
                                            <p:cond delay="0"/>
                                          </p:stCondLst>
                                        </p:cTn>
                                        <p:tgtEl>
                                          <p:spTgt spid="172"/>
                                        </p:tgtEl>
                                        <p:attrNameLst>
                                          <p:attrName>style.visibility</p:attrName>
                                        </p:attrNameLst>
                                      </p:cBhvr>
                                      <p:to>
                                        <p:strVal val="visible"/>
                                      </p:to>
                                    </p:set>
                                    <p:animEffect transition="in" filter="fade">
                                      <p:cBhvr>
                                        <p:cTn id="34" dur="550"/>
                                        <p:tgtEl>
                                          <p:spTgt spid="172"/>
                                        </p:tgtEl>
                                      </p:cBhvr>
                                    </p:animEffect>
                                  </p:childTnLst>
                                </p:cTn>
                              </p:par>
                              <p:par>
                                <p:cTn id="35" presetID="10" presetClass="entr" presetSubtype="0" fill="hold" nodeType="withEffect">
                                  <p:stCondLst>
                                    <p:cond delay="0"/>
                                  </p:stCondLst>
                                  <p:childTnLst>
                                    <p:set>
                                      <p:cBhvr>
                                        <p:cTn id="36" dur="1" fill="hold">
                                          <p:stCondLst>
                                            <p:cond delay="0"/>
                                          </p:stCondLst>
                                        </p:cTn>
                                        <p:tgtEl>
                                          <p:spTgt spid="173"/>
                                        </p:tgtEl>
                                        <p:attrNameLst>
                                          <p:attrName>style.visibility</p:attrName>
                                        </p:attrNameLst>
                                      </p:cBhvr>
                                      <p:to>
                                        <p:strVal val="visible"/>
                                      </p:to>
                                    </p:set>
                                    <p:animEffect transition="in" filter="fade">
                                      <p:cBhvr>
                                        <p:cTn id="37" dur="550"/>
                                        <p:tgtEl>
                                          <p:spTgt spid="173"/>
                                        </p:tgtEl>
                                      </p:cBhvr>
                                    </p:animEffect>
                                  </p:childTnLst>
                                </p:cTn>
                              </p:par>
                              <p:par>
                                <p:cTn id="38" presetID="10" presetClass="entr" presetSubtype="0" fill="hold" nodeType="withEffect">
                                  <p:stCondLst>
                                    <p:cond delay="0"/>
                                  </p:stCondLst>
                                  <p:childTnLst>
                                    <p:set>
                                      <p:cBhvr>
                                        <p:cTn id="39" dur="1" fill="hold">
                                          <p:stCondLst>
                                            <p:cond delay="0"/>
                                          </p:stCondLst>
                                        </p:cTn>
                                        <p:tgtEl>
                                          <p:spTgt spid="174"/>
                                        </p:tgtEl>
                                        <p:attrNameLst>
                                          <p:attrName>style.visibility</p:attrName>
                                        </p:attrNameLst>
                                      </p:cBhvr>
                                      <p:to>
                                        <p:strVal val="visible"/>
                                      </p:to>
                                    </p:set>
                                    <p:animEffect transition="in" filter="fade">
                                      <p:cBhvr>
                                        <p:cTn id="40" dur="550"/>
                                        <p:tgtEl>
                                          <p:spTgt spid="174"/>
                                        </p:tgtEl>
                                      </p:cBhvr>
                                    </p:animEffect>
                                  </p:childTnLst>
                                </p:cTn>
                              </p:par>
                              <p:par>
                                <p:cTn id="41" presetID="10" presetClass="entr" presetSubtype="0" fill="hold" nodeType="withEffect">
                                  <p:stCondLst>
                                    <p:cond delay="0"/>
                                  </p:stCondLst>
                                  <p:childTnLst>
                                    <p:set>
                                      <p:cBhvr>
                                        <p:cTn id="42" dur="1" fill="hold">
                                          <p:stCondLst>
                                            <p:cond delay="0"/>
                                          </p:stCondLst>
                                        </p:cTn>
                                        <p:tgtEl>
                                          <p:spTgt spid="175"/>
                                        </p:tgtEl>
                                        <p:attrNameLst>
                                          <p:attrName>style.visibility</p:attrName>
                                        </p:attrNameLst>
                                      </p:cBhvr>
                                      <p:to>
                                        <p:strVal val="visible"/>
                                      </p:to>
                                    </p:set>
                                    <p:animEffect transition="in" filter="fade">
                                      <p:cBhvr>
                                        <p:cTn id="43" dur="550"/>
                                        <p:tgtEl>
                                          <p:spTgt spid="175"/>
                                        </p:tgtEl>
                                      </p:cBhvr>
                                    </p:animEffect>
                                  </p:childTnLst>
                                </p:cTn>
                              </p:par>
                              <p:par>
                                <p:cTn id="44" presetID="10" presetClass="entr" presetSubtype="0" fill="hold" nodeType="withEffect">
                                  <p:stCondLst>
                                    <p:cond delay="380"/>
                                  </p:stCondLst>
                                  <p:childTnLst>
                                    <p:set>
                                      <p:cBhvr>
                                        <p:cTn id="45" dur="1" fill="hold">
                                          <p:stCondLst>
                                            <p:cond delay="0"/>
                                          </p:stCondLst>
                                        </p:cTn>
                                        <p:tgtEl>
                                          <p:spTgt spid="166"/>
                                        </p:tgtEl>
                                        <p:attrNameLst>
                                          <p:attrName>style.visibility</p:attrName>
                                        </p:attrNameLst>
                                      </p:cBhvr>
                                      <p:to>
                                        <p:strVal val="visible"/>
                                      </p:to>
                                    </p:set>
                                    <p:animEffect transition="in" filter="fade">
                                      <p:cBhvr>
                                        <p:cTn id="46" dur="550"/>
                                        <p:tgtEl>
                                          <p:spTgt spid="166"/>
                                        </p:tgtEl>
                                      </p:cBhvr>
                                    </p:animEffect>
                                  </p:childTnLst>
                                </p:cTn>
                              </p:par>
                              <p:par>
                                <p:cTn id="47" presetID="10" presetClass="entr" presetSubtype="0" fill="hold" nodeType="withEffect">
                                  <p:stCondLst>
                                    <p:cond delay="380"/>
                                  </p:stCondLst>
                                  <p:childTnLst>
                                    <p:set>
                                      <p:cBhvr>
                                        <p:cTn id="48" dur="1" fill="hold">
                                          <p:stCondLst>
                                            <p:cond delay="0"/>
                                          </p:stCondLst>
                                        </p:cTn>
                                        <p:tgtEl>
                                          <p:spTgt spid="171"/>
                                        </p:tgtEl>
                                        <p:attrNameLst>
                                          <p:attrName>style.visibility</p:attrName>
                                        </p:attrNameLst>
                                      </p:cBhvr>
                                      <p:to>
                                        <p:strVal val="visible"/>
                                      </p:to>
                                    </p:set>
                                    <p:animEffect transition="in" filter="fade">
                                      <p:cBhvr>
                                        <p:cTn id="49" dur="550"/>
                                        <p:tgtEl>
                                          <p:spTgt spid="171"/>
                                        </p:tgtEl>
                                      </p:cBhvr>
                                    </p:animEffect>
                                  </p:childTnLst>
                                </p:cTn>
                              </p:par>
                              <p:par>
                                <p:cTn id="50" presetID="10" presetClass="entr" presetSubtype="0" fill="hold" nodeType="withEffect">
                                  <p:stCondLst>
                                    <p:cond delay="380"/>
                                  </p:stCondLst>
                                  <p:childTnLst>
                                    <p:set>
                                      <p:cBhvr>
                                        <p:cTn id="51" dur="1" fill="hold">
                                          <p:stCondLst>
                                            <p:cond delay="0"/>
                                          </p:stCondLst>
                                        </p:cTn>
                                        <p:tgtEl>
                                          <p:spTgt spid="176"/>
                                        </p:tgtEl>
                                        <p:attrNameLst>
                                          <p:attrName>style.visibility</p:attrName>
                                        </p:attrNameLst>
                                      </p:cBhvr>
                                      <p:to>
                                        <p:strVal val="visible"/>
                                      </p:to>
                                    </p:set>
                                    <p:animEffect transition="in" filter="fade">
                                      <p:cBhvr>
                                        <p:cTn id="52" dur="550"/>
                                        <p:tgtEl>
                                          <p:spTgt spid="176"/>
                                        </p:tgtEl>
                                      </p:cBhvr>
                                    </p:animEffect>
                                  </p:childTnLst>
                                </p:cTn>
                              </p:par>
                              <p:par>
                                <p:cTn id="53" presetID="10" presetClass="entr" presetSubtype="0" fill="hold" nodeType="withEffect">
                                  <p:stCondLst>
                                    <p:cond delay="380"/>
                                  </p:stCondLst>
                                  <p:childTnLst>
                                    <p:set>
                                      <p:cBhvr>
                                        <p:cTn id="54" dur="1" fill="hold">
                                          <p:stCondLst>
                                            <p:cond delay="0"/>
                                          </p:stCondLst>
                                        </p:cTn>
                                        <p:tgtEl>
                                          <p:spTgt spid="177"/>
                                        </p:tgtEl>
                                        <p:attrNameLst>
                                          <p:attrName>style.visibility</p:attrName>
                                        </p:attrNameLst>
                                      </p:cBhvr>
                                      <p:to>
                                        <p:strVal val="visible"/>
                                      </p:to>
                                    </p:set>
                                    <p:animEffect transition="in" filter="fade">
                                      <p:cBhvr>
                                        <p:cTn id="55" dur="550"/>
                                        <p:tgtEl>
                                          <p:spTgt spid="177"/>
                                        </p:tgtEl>
                                      </p:cBhvr>
                                    </p:animEffect>
                                  </p:childTnLst>
                                </p:cTn>
                              </p:par>
                              <p:par>
                                <p:cTn id="56" presetID="10" presetClass="entr" presetSubtype="0" fill="hold" nodeType="withEffect">
                                  <p:stCondLst>
                                    <p:cond delay="760"/>
                                  </p:stCondLst>
                                  <p:childTnLst>
                                    <p:set>
                                      <p:cBhvr>
                                        <p:cTn id="57" dur="1" fill="hold">
                                          <p:stCondLst>
                                            <p:cond delay="0"/>
                                          </p:stCondLst>
                                        </p:cTn>
                                        <p:tgtEl>
                                          <p:spTgt spid="160"/>
                                        </p:tgtEl>
                                        <p:attrNameLst>
                                          <p:attrName>style.visibility</p:attrName>
                                        </p:attrNameLst>
                                      </p:cBhvr>
                                      <p:to>
                                        <p:strVal val="visible"/>
                                      </p:to>
                                    </p:set>
                                    <p:animEffect transition="in" filter="fade">
                                      <p:cBhvr>
                                        <p:cTn id="58" dur="550"/>
                                        <p:tgtEl>
                                          <p:spTgt spid="160"/>
                                        </p:tgtEl>
                                      </p:cBhvr>
                                    </p:animEffect>
                                  </p:childTnLst>
                                </p:cTn>
                              </p:par>
                              <p:par>
                                <p:cTn id="59" presetID="10" presetClass="entr" presetSubtype="0" fill="hold" nodeType="withEffect">
                                  <p:stCondLst>
                                    <p:cond delay="760"/>
                                  </p:stCondLst>
                                  <p:childTnLst>
                                    <p:set>
                                      <p:cBhvr>
                                        <p:cTn id="60" dur="1" fill="hold">
                                          <p:stCondLst>
                                            <p:cond delay="0"/>
                                          </p:stCondLst>
                                        </p:cTn>
                                        <p:tgtEl>
                                          <p:spTgt spid="178"/>
                                        </p:tgtEl>
                                        <p:attrNameLst>
                                          <p:attrName>style.visibility</p:attrName>
                                        </p:attrNameLst>
                                      </p:cBhvr>
                                      <p:to>
                                        <p:strVal val="visible"/>
                                      </p:to>
                                    </p:set>
                                    <p:animEffect transition="in" filter="fade">
                                      <p:cBhvr>
                                        <p:cTn id="61" dur="550"/>
                                        <p:tgtEl>
                                          <p:spTgt spid="178"/>
                                        </p:tgtEl>
                                      </p:cBhvr>
                                    </p:animEffect>
                                  </p:childTnLst>
                                </p:cTn>
                              </p:par>
                              <p:par>
                                <p:cTn id="62" presetID="10" presetClass="entr" presetSubtype="0" fill="hold" nodeType="withEffect">
                                  <p:stCondLst>
                                    <p:cond delay="760"/>
                                  </p:stCondLst>
                                  <p:childTnLst>
                                    <p:set>
                                      <p:cBhvr>
                                        <p:cTn id="63" dur="1" fill="hold">
                                          <p:stCondLst>
                                            <p:cond delay="0"/>
                                          </p:stCondLst>
                                        </p:cTn>
                                        <p:tgtEl>
                                          <p:spTgt spid="179"/>
                                        </p:tgtEl>
                                        <p:attrNameLst>
                                          <p:attrName>style.visibility</p:attrName>
                                        </p:attrNameLst>
                                      </p:cBhvr>
                                      <p:to>
                                        <p:strVal val="visible"/>
                                      </p:to>
                                    </p:set>
                                    <p:animEffect transition="in" filter="fade">
                                      <p:cBhvr>
                                        <p:cTn id="64" dur="550"/>
                                        <p:tgtEl>
                                          <p:spTgt spid="179"/>
                                        </p:tgtEl>
                                      </p:cBhvr>
                                    </p:animEffect>
                                  </p:childTnLst>
                                </p:cTn>
                              </p:par>
                              <p:par>
                                <p:cTn id="65" presetID="10" presetClass="entr" presetSubtype="0" fill="hold" nodeType="withEffect">
                                  <p:stCondLst>
                                    <p:cond delay="760"/>
                                  </p:stCondLst>
                                  <p:childTnLst>
                                    <p:set>
                                      <p:cBhvr>
                                        <p:cTn id="66" dur="1" fill="hold">
                                          <p:stCondLst>
                                            <p:cond delay="0"/>
                                          </p:stCondLst>
                                        </p:cTn>
                                        <p:tgtEl>
                                          <p:spTgt spid="180"/>
                                        </p:tgtEl>
                                        <p:attrNameLst>
                                          <p:attrName>style.visibility</p:attrName>
                                        </p:attrNameLst>
                                      </p:cBhvr>
                                      <p:to>
                                        <p:strVal val="visible"/>
                                      </p:to>
                                    </p:set>
                                    <p:animEffect transition="in" filter="fade">
                                      <p:cBhvr>
                                        <p:cTn id="67" dur="550"/>
                                        <p:tgtEl>
                                          <p:spTgt spid="180"/>
                                        </p:tgtEl>
                                      </p:cBhvr>
                                    </p:animEffect>
                                  </p:childTnLst>
                                </p:cTn>
                              </p:par>
                              <p:par>
                                <p:cTn id="68" presetID="10" presetClass="entr" presetSubtype="0" fill="hold" nodeType="withEffect">
                                  <p:stCondLst>
                                    <p:cond delay="760"/>
                                  </p:stCondLst>
                                  <p:childTnLst>
                                    <p:set>
                                      <p:cBhvr>
                                        <p:cTn id="69" dur="1" fill="hold">
                                          <p:stCondLst>
                                            <p:cond delay="0"/>
                                          </p:stCondLst>
                                        </p:cTn>
                                        <p:tgtEl>
                                          <p:spTgt spid="181"/>
                                        </p:tgtEl>
                                        <p:attrNameLst>
                                          <p:attrName>style.visibility</p:attrName>
                                        </p:attrNameLst>
                                      </p:cBhvr>
                                      <p:to>
                                        <p:strVal val="visible"/>
                                      </p:to>
                                    </p:set>
                                    <p:animEffect transition="in" filter="fade">
                                      <p:cBhvr>
                                        <p:cTn id="70" dur="550"/>
                                        <p:tgtEl>
                                          <p:spTgt spid="181"/>
                                        </p:tgtEl>
                                      </p:cBhvr>
                                    </p:animEffect>
                                  </p:childTnLst>
                                </p:cTn>
                              </p:par>
                              <p:par>
                                <p:cTn id="71" presetID="10" presetClass="entr" presetSubtype="0" fill="hold" nodeType="withEffect">
                                  <p:stCondLst>
                                    <p:cond delay="760"/>
                                  </p:stCondLst>
                                  <p:childTnLst>
                                    <p:set>
                                      <p:cBhvr>
                                        <p:cTn id="72" dur="1" fill="hold">
                                          <p:stCondLst>
                                            <p:cond delay="0"/>
                                          </p:stCondLst>
                                        </p:cTn>
                                        <p:tgtEl>
                                          <p:spTgt spid="182"/>
                                        </p:tgtEl>
                                        <p:attrNameLst>
                                          <p:attrName>style.visibility</p:attrName>
                                        </p:attrNameLst>
                                      </p:cBhvr>
                                      <p:to>
                                        <p:strVal val="visible"/>
                                      </p:to>
                                    </p:set>
                                    <p:animEffect transition="in" filter="fade">
                                      <p:cBhvr>
                                        <p:cTn id="73" dur="550"/>
                                        <p:tgtEl>
                                          <p:spTgt spid="182"/>
                                        </p:tgtEl>
                                      </p:cBhvr>
                                    </p:animEffect>
                                  </p:childTnLst>
                                </p:cTn>
                              </p:par>
                              <p:par>
                                <p:cTn id="74" presetID="10" presetClass="entr" presetSubtype="0" fill="hold" nodeType="withEffect">
                                  <p:stCondLst>
                                    <p:cond delay="760"/>
                                  </p:stCondLst>
                                  <p:childTnLst>
                                    <p:set>
                                      <p:cBhvr>
                                        <p:cTn id="75" dur="1" fill="hold">
                                          <p:stCondLst>
                                            <p:cond delay="0"/>
                                          </p:stCondLst>
                                        </p:cTn>
                                        <p:tgtEl>
                                          <p:spTgt spid="183"/>
                                        </p:tgtEl>
                                        <p:attrNameLst>
                                          <p:attrName>style.visibility</p:attrName>
                                        </p:attrNameLst>
                                      </p:cBhvr>
                                      <p:to>
                                        <p:strVal val="visible"/>
                                      </p:to>
                                    </p:set>
                                    <p:animEffect transition="in" filter="fade">
                                      <p:cBhvr>
                                        <p:cTn id="76" dur="550"/>
                                        <p:tgtEl>
                                          <p:spTgt spid="183"/>
                                        </p:tgtEl>
                                      </p:cBhvr>
                                    </p:animEffect>
                                  </p:childTnLst>
                                </p:cTn>
                              </p:par>
                              <p:par>
                                <p:cTn id="77" presetID="10" presetClass="entr" presetSubtype="0" fill="hold" nodeType="withEffect">
                                  <p:stCondLst>
                                    <p:cond delay="760"/>
                                  </p:stCondLst>
                                  <p:childTnLst>
                                    <p:set>
                                      <p:cBhvr>
                                        <p:cTn id="78" dur="1" fill="hold">
                                          <p:stCondLst>
                                            <p:cond delay="0"/>
                                          </p:stCondLst>
                                        </p:cTn>
                                        <p:tgtEl>
                                          <p:spTgt spid="184"/>
                                        </p:tgtEl>
                                        <p:attrNameLst>
                                          <p:attrName>style.visibility</p:attrName>
                                        </p:attrNameLst>
                                      </p:cBhvr>
                                      <p:to>
                                        <p:strVal val="visible"/>
                                      </p:to>
                                    </p:set>
                                    <p:animEffect transition="in" filter="fade">
                                      <p:cBhvr>
                                        <p:cTn id="79" dur="550"/>
                                        <p:tgtEl>
                                          <p:spTgt spid="184"/>
                                        </p:tgtEl>
                                      </p:cBhvr>
                                    </p:animEffect>
                                  </p:childTnLst>
                                </p:cTn>
                              </p:par>
                              <p:par>
                                <p:cTn id="80" presetID="10" presetClass="entr" presetSubtype="0" fill="hold" nodeType="withEffect">
                                  <p:stCondLst>
                                    <p:cond delay="760"/>
                                  </p:stCondLst>
                                  <p:childTnLst>
                                    <p:set>
                                      <p:cBhvr>
                                        <p:cTn id="81" dur="1" fill="hold">
                                          <p:stCondLst>
                                            <p:cond delay="0"/>
                                          </p:stCondLst>
                                        </p:cTn>
                                        <p:tgtEl>
                                          <p:spTgt spid="185"/>
                                        </p:tgtEl>
                                        <p:attrNameLst>
                                          <p:attrName>style.visibility</p:attrName>
                                        </p:attrNameLst>
                                      </p:cBhvr>
                                      <p:to>
                                        <p:strVal val="visible"/>
                                      </p:to>
                                    </p:set>
                                    <p:animEffect transition="in" filter="fade">
                                      <p:cBhvr>
                                        <p:cTn id="82" dur="550"/>
                                        <p:tgtEl>
                                          <p:spTgt spid="185"/>
                                        </p:tgtEl>
                                      </p:cBhvr>
                                    </p:animEffect>
                                  </p:childTnLst>
                                </p:cTn>
                              </p:par>
                              <p:par>
                                <p:cTn id="83" presetID="10" presetClass="entr" presetSubtype="0" fill="hold" nodeType="withEffect">
                                  <p:stCondLst>
                                    <p:cond delay="760"/>
                                  </p:stCondLst>
                                  <p:childTnLst>
                                    <p:set>
                                      <p:cBhvr>
                                        <p:cTn id="84" dur="1" fill="hold">
                                          <p:stCondLst>
                                            <p:cond delay="0"/>
                                          </p:stCondLst>
                                        </p:cTn>
                                        <p:tgtEl>
                                          <p:spTgt spid="186"/>
                                        </p:tgtEl>
                                        <p:attrNameLst>
                                          <p:attrName>style.visibility</p:attrName>
                                        </p:attrNameLst>
                                      </p:cBhvr>
                                      <p:to>
                                        <p:strVal val="visible"/>
                                      </p:to>
                                    </p:set>
                                    <p:animEffect transition="in" filter="fade">
                                      <p:cBhvr>
                                        <p:cTn id="85" dur="550"/>
                                        <p:tgtEl>
                                          <p:spTgt spid="186"/>
                                        </p:tgtEl>
                                      </p:cBhvr>
                                    </p:animEffect>
                                  </p:childTnLst>
                                </p:cTn>
                              </p:par>
                              <p:par>
                                <p:cTn id="86" presetID="10" presetClass="entr" presetSubtype="0" fill="hold" nodeType="withEffect">
                                  <p:stCondLst>
                                    <p:cond delay="760"/>
                                  </p:stCondLst>
                                  <p:childTnLst>
                                    <p:set>
                                      <p:cBhvr>
                                        <p:cTn id="87" dur="1" fill="hold">
                                          <p:stCondLst>
                                            <p:cond delay="0"/>
                                          </p:stCondLst>
                                        </p:cTn>
                                        <p:tgtEl>
                                          <p:spTgt spid="187"/>
                                        </p:tgtEl>
                                        <p:attrNameLst>
                                          <p:attrName>style.visibility</p:attrName>
                                        </p:attrNameLst>
                                      </p:cBhvr>
                                      <p:to>
                                        <p:strVal val="visible"/>
                                      </p:to>
                                    </p:set>
                                    <p:animEffect transition="in" filter="fade">
                                      <p:cBhvr>
                                        <p:cTn id="88" dur="550"/>
                                        <p:tgtEl>
                                          <p:spTgt spid="187"/>
                                        </p:tgtEl>
                                      </p:cBhvr>
                                    </p:animEffect>
                                  </p:childTnLst>
                                </p:cTn>
                              </p:par>
                              <p:par>
                                <p:cTn id="89" presetID="10" presetClass="entr" presetSubtype="0" fill="hold" nodeType="withEffect">
                                  <p:stCondLst>
                                    <p:cond delay="760"/>
                                  </p:stCondLst>
                                  <p:childTnLst>
                                    <p:set>
                                      <p:cBhvr>
                                        <p:cTn id="90" dur="1" fill="hold">
                                          <p:stCondLst>
                                            <p:cond delay="0"/>
                                          </p:stCondLst>
                                        </p:cTn>
                                        <p:tgtEl>
                                          <p:spTgt spid="188"/>
                                        </p:tgtEl>
                                        <p:attrNameLst>
                                          <p:attrName>style.visibility</p:attrName>
                                        </p:attrNameLst>
                                      </p:cBhvr>
                                      <p:to>
                                        <p:strVal val="visible"/>
                                      </p:to>
                                    </p:set>
                                    <p:animEffect transition="in" filter="fade">
                                      <p:cBhvr>
                                        <p:cTn id="91" dur="550"/>
                                        <p:tgtEl>
                                          <p:spTgt spid="188"/>
                                        </p:tgtEl>
                                      </p:cBhvr>
                                    </p:animEffect>
                                  </p:childTnLst>
                                </p:cTn>
                              </p:par>
                              <p:par>
                                <p:cTn id="92" presetID="10" presetClass="entr" presetSubtype="0" fill="hold" nodeType="withEffect">
                                  <p:stCondLst>
                                    <p:cond delay="1140"/>
                                  </p:stCondLst>
                                  <p:childTnLst>
                                    <p:set>
                                      <p:cBhvr>
                                        <p:cTn id="93" dur="1" fill="hold">
                                          <p:stCondLst>
                                            <p:cond delay="0"/>
                                          </p:stCondLst>
                                        </p:cTn>
                                        <p:tgtEl>
                                          <p:spTgt spid="189"/>
                                        </p:tgtEl>
                                        <p:attrNameLst>
                                          <p:attrName>style.visibility</p:attrName>
                                        </p:attrNameLst>
                                      </p:cBhvr>
                                      <p:to>
                                        <p:strVal val="visible"/>
                                      </p:to>
                                    </p:set>
                                    <p:animEffect transition="in" filter="fade">
                                      <p:cBhvr>
                                        <p:cTn id="94" dur="550"/>
                                        <p:tgtEl>
                                          <p:spTgt spid="189"/>
                                        </p:tgtEl>
                                      </p:cBhvr>
                                    </p:animEffect>
                                  </p:childTnLst>
                                </p:cTn>
                              </p:par>
                              <p:par>
                                <p:cTn id="95" presetID="10" presetClass="entr" presetSubtype="0" fill="hold" nodeType="withEffect">
                                  <p:stCondLst>
                                    <p:cond delay="1140"/>
                                  </p:stCondLst>
                                  <p:childTnLst>
                                    <p:set>
                                      <p:cBhvr>
                                        <p:cTn id="96" dur="1" fill="hold">
                                          <p:stCondLst>
                                            <p:cond delay="0"/>
                                          </p:stCondLst>
                                        </p:cTn>
                                        <p:tgtEl>
                                          <p:spTgt spid="195"/>
                                        </p:tgtEl>
                                        <p:attrNameLst>
                                          <p:attrName>style.visibility</p:attrName>
                                        </p:attrNameLst>
                                      </p:cBhvr>
                                      <p:to>
                                        <p:strVal val="visible"/>
                                      </p:to>
                                    </p:set>
                                    <p:animEffect transition="in" filter="fade">
                                      <p:cBhvr>
                                        <p:cTn id="97" dur="550"/>
                                        <p:tgtEl>
                                          <p:spTgt spid="195"/>
                                        </p:tgtEl>
                                      </p:cBhvr>
                                    </p:animEffect>
                                  </p:childTnLst>
                                </p:cTn>
                              </p:par>
                              <p:par>
                                <p:cTn id="98" presetID="10" presetClass="entr" presetSubtype="0" fill="hold" nodeType="withEffect">
                                  <p:stCondLst>
                                    <p:cond delay="1140"/>
                                  </p:stCondLst>
                                  <p:childTnLst>
                                    <p:set>
                                      <p:cBhvr>
                                        <p:cTn id="99" dur="1" fill="hold">
                                          <p:stCondLst>
                                            <p:cond delay="0"/>
                                          </p:stCondLst>
                                        </p:cTn>
                                        <p:tgtEl>
                                          <p:spTgt spid="201"/>
                                        </p:tgtEl>
                                        <p:attrNameLst>
                                          <p:attrName>style.visibility</p:attrName>
                                        </p:attrNameLst>
                                      </p:cBhvr>
                                      <p:to>
                                        <p:strVal val="visible"/>
                                      </p:to>
                                    </p:set>
                                    <p:animEffect transition="in" filter="fade">
                                      <p:cBhvr>
                                        <p:cTn id="100" dur="550"/>
                                        <p:tgtEl>
                                          <p:spTgt spid="201"/>
                                        </p:tgtEl>
                                      </p:cBhvr>
                                    </p:animEffect>
                                  </p:childTnLst>
                                </p:cTn>
                              </p:par>
                              <p:par>
                                <p:cTn id="101" presetID="10" presetClass="entr" presetSubtype="0" fill="hold" nodeType="withEffect">
                                  <p:stCondLst>
                                    <p:cond delay="1140"/>
                                  </p:stCondLst>
                                  <p:childTnLst>
                                    <p:set>
                                      <p:cBhvr>
                                        <p:cTn id="102" dur="1" fill="hold">
                                          <p:stCondLst>
                                            <p:cond delay="0"/>
                                          </p:stCondLst>
                                        </p:cTn>
                                        <p:tgtEl>
                                          <p:spTgt spid="207"/>
                                        </p:tgtEl>
                                        <p:attrNameLst>
                                          <p:attrName>style.visibility</p:attrName>
                                        </p:attrNameLst>
                                      </p:cBhvr>
                                      <p:to>
                                        <p:strVal val="visible"/>
                                      </p:to>
                                    </p:set>
                                    <p:animEffect transition="in" filter="fade">
                                      <p:cBhvr>
                                        <p:cTn id="103" dur="550"/>
                                        <p:tgtEl>
                                          <p:spTgt spid="207"/>
                                        </p:tgtEl>
                                      </p:cBhvr>
                                    </p:animEffect>
                                  </p:childTnLst>
                                </p:cTn>
                              </p:par>
                              <p:par>
                                <p:cTn id="104" presetID="10" presetClass="entr" presetSubtype="0" fill="hold" nodeType="withEffect">
                                  <p:stCondLst>
                                    <p:cond delay="1520"/>
                                  </p:stCondLst>
                                  <p:childTnLst>
                                    <p:set>
                                      <p:cBhvr>
                                        <p:cTn id="105" dur="1" fill="hold">
                                          <p:stCondLst>
                                            <p:cond delay="0"/>
                                          </p:stCondLst>
                                        </p:cTn>
                                        <p:tgtEl>
                                          <p:spTgt spid="161"/>
                                        </p:tgtEl>
                                        <p:attrNameLst>
                                          <p:attrName>style.visibility</p:attrName>
                                        </p:attrNameLst>
                                      </p:cBhvr>
                                      <p:to>
                                        <p:strVal val="visible"/>
                                      </p:to>
                                    </p:set>
                                    <p:animEffect transition="in" filter="fade">
                                      <p:cBhvr>
                                        <p:cTn id="106" dur="550"/>
                                        <p:tgtEl>
                                          <p:spTgt spid="161"/>
                                        </p:tgtEl>
                                      </p:cBhvr>
                                    </p:animEffect>
                                  </p:childTnLst>
                                </p:cTn>
                              </p:par>
                              <p:par>
                                <p:cTn id="107" presetID="10" presetClass="entr" presetSubtype="0" fill="hold" nodeType="withEffect">
                                  <p:stCondLst>
                                    <p:cond delay="1520"/>
                                  </p:stCondLst>
                                  <p:childTnLst>
                                    <p:set>
                                      <p:cBhvr>
                                        <p:cTn id="108" dur="1" fill="hold">
                                          <p:stCondLst>
                                            <p:cond delay="0"/>
                                          </p:stCondLst>
                                        </p:cTn>
                                        <p:tgtEl>
                                          <p:spTgt spid="190"/>
                                        </p:tgtEl>
                                        <p:attrNameLst>
                                          <p:attrName>style.visibility</p:attrName>
                                        </p:attrNameLst>
                                      </p:cBhvr>
                                      <p:to>
                                        <p:strVal val="visible"/>
                                      </p:to>
                                    </p:set>
                                    <p:animEffect transition="in" filter="fade">
                                      <p:cBhvr>
                                        <p:cTn id="109" dur="550"/>
                                        <p:tgtEl>
                                          <p:spTgt spid="190"/>
                                        </p:tgtEl>
                                      </p:cBhvr>
                                    </p:animEffect>
                                  </p:childTnLst>
                                </p:cTn>
                              </p:par>
                              <p:par>
                                <p:cTn id="110" presetID="10" presetClass="entr" presetSubtype="0" fill="hold" nodeType="withEffect">
                                  <p:stCondLst>
                                    <p:cond delay="1520"/>
                                  </p:stCondLst>
                                  <p:childTnLst>
                                    <p:set>
                                      <p:cBhvr>
                                        <p:cTn id="111" dur="1" fill="hold">
                                          <p:stCondLst>
                                            <p:cond delay="0"/>
                                          </p:stCondLst>
                                        </p:cTn>
                                        <p:tgtEl>
                                          <p:spTgt spid="191"/>
                                        </p:tgtEl>
                                        <p:attrNameLst>
                                          <p:attrName>style.visibility</p:attrName>
                                        </p:attrNameLst>
                                      </p:cBhvr>
                                      <p:to>
                                        <p:strVal val="visible"/>
                                      </p:to>
                                    </p:set>
                                    <p:animEffect transition="in" filter="fade">
                                      <p:cBhvr>
                                        <p:cTn id="112" dur="550"/>
                                        <p:tgtEl>
                                          <p:spTgt spid="191"/>
                                        </p:tgtEl>
                                      </p:cBhvr>
                                    </p:animEffect>
                                  </p:childTnLst>
                                </p:cTn>
                              </p:par>
                              <p:par>
                                <p:cTn id="113" presetID="10" presetClass="entr" presetSubtype="0" fill="hold" nodeType="withEffect">
                                  <p:stCondLst>
                                    <p:cond delay="1520"/>
                                  </p:stCondLst>
                                  <p:childTnLst>
                                    <p:set>
                                      <p:cBhvr>
                                        <p:cTn id="114" dur="1" fill="hold">
                                          <p:stCondLst>
                                            <p:cond delay="0"/>
                                          </p:stCondLst>
                                        </p:cTn>
                                        <p:tgtEl>
                                          <p:spTgt spid="192"/>
                                        </p:tgtEl>
                                        <p:attrNameLst>
                                          <p:attrName>style.visibility</p:attrName>
                                        </p:attrNameLst>
                                      </p:cBhvr>
                                      <p:to>
                                        <p:strVal val="visible"/>
                                      </p:to>
                                    </p:set>
                                    <p:animEffect transition="in" filter="fade">
                                      <p:cBhvr>
                                        <p:cTn id="115" dur="550"/>
                                        <p:tgtEl>
                                          <p:spTgt spid="192"/>
                                        </p:tgtEl>
                                      </p:cBhvr>
                                    </p:animEffect>
                                  </p:childTnLst>
                                </p:cTn>
                              </p:par>
                              <p:par>
                                <p:cTn id="116" presetID="10" presetClass="entr" presetSubtype="0" fill="hold" nodeType="withEffect">
                                  <p:stCondLst>
                                    <p:cond delay="1520"/>
                                  </p:stCondLst>
                                  <p:childTnLst>
                                    <p:set>
                                      <p:cBhvr>
                                        <p:cTn id="117" dur="1" fill="hold">
                                          <p:stCondLst>
                                            <p:cond delay="0"/>
                                          </p:stCondLst>
                                        </p:cTn>
                                        <p:tgtEl>
                                          <p:spTgt spid="193"/>
                                        </p:tgtEl>
                                        <p:attrNameLst>
                                          <p:attrName>style.visibility</p:attrName>
                                        </p:attrNameLst>
                                      </p:cBhvr>
                                      <p:to>
                                        <p:strVal val="visible"/>
                                      </p:to>
                                    </p:set>
                                    <p:animEffect transition="in" filter="fade">
                                      <p:cBhvr>
                                        <p:cTn id="118" dur="550"/>
                                        <p:tgtEl>
                                          <p:spTgt spid="193"/>
                                        </p:tgtEl>
                                      </p:cBhvr>
                                    </p:animEffect>
                                  </p:childTnLst>
                                </p:cTn>
                              </p:par>
                              <p:par>
                                <p:cTn id="119" presetID="10" presetClass="entr" presetSubtype="0" fill="hold" nodeType="withEffect">
                                  <p:stCondLst>
                                    <p:cond delay="1520"/>
                                  </p:stCondLst>
                                  <p:childTnLst>
                                    <p:set>
                                      <p:cBhvr>
                                        <p:cTn id="120" dur="1" fill="hold">
                                          <p:stCondLst>
                                            <p:cond delay="0"/>
                                          </p:stCondLst>
                                        </p:cTn>
                                        <p:tgtEl>
                                          <p:spTgt spid="194"/>
                                        </p:tgtEl>
                                        <p:attrNameLst>
                                          <p:attrName>style.visibility</p:attrName>
                                        </p:attrNameLst>
                                      </p:cBhvr>
                                      <p:to>
                                        <p:strVal val="visible"/>
                                      </p:to>
                                    </p:set>
                                    <p:animEffect transition="in" filter="fade">
                                      <p:cBhvr>
                                        <p:cTn id="121" dur="550"/>
                                        <p:tgtEl>
                                          <p:spTgt spid="194"/>
                                        </p:tgtEl>
                                      </p:cBhvr>
                                    </p:animEffect>
                                  </p:childTnLst>
                                </p:cTn>
                              </p:par>
                              <p:par>
                                <p:cTn id="122" presetID="10" presetClass="entr" presetSubtype="0" fill="hold" nodeType="withEffect">
                                  <p:stCondLst>
                                    <p:cond delay="1520"/>
                                  </p:stCondLst>
                                  <p:childTnLst>
                                    <p:set>
                                      <p:cBhvr>
                                        <p:cTn id="123" dur="1" fill="hold">
                                          <p:stCondLst>
                                            <p:cond delay="0"/>
                                          </p:stCondLst>
                                        </p:cTn>
                                        <p:tgtEl>
                                          <p:spTgt spid="196"/>
                                        </p:tgtEl>
                                        <p:attrNameLst>
                                          <p:attrName>style.visibility</p:attrName>
                                        </p:attrNameLst>
                                      </p:cBhvr>
                                      <p:to>
                                        <p:strVal val="visible"/>
                                      </p:to>
                                    </p:set>
                                    <p:animEffect transition="in" filter="fade">
                                      <p:cBhvr>
                                        <p:cTn id="124" dur="550"/>
                                        <p:tgtEl>
                                          <p:spTgt spid="196"/>
                                        </p:tgtEl>
                                      </p:cBhvr>
                                    </p:animEffect>
                                  </p:childTnLst>
                                </p:cTn>
                              </p:par>
                              <p:par>
                                <p:cTn id="125" presetID="10" presetClass="entr" presetSubtype="0" fill="hold" nodeType="withEffect">
                                  <p:stCondLst>
                                    <p:cond delay="1520"/>
                                  </p:stCondLst>
                                  <p:childTnLst>
                                    <p:set>
                                      <p:cBhvr>
                                        <p:cTn id="126" dur="1" fill="hold">
                                          <p:stCondLst>
                                            <p:cond delay="0"/>
                                          </p:stCondLst>
                                        </p:cTn>
                                        <p:tgtEl>
                                          <p:spTgt spid="197"/>
                                        </p:tgtEl>
                                        <p:attrNameLst>
                                          <p:attrName>style.visibility</p:attrName>
                                        </p:attrNameLst>
                                      </p:cBhvr>
                                      <p:to>
                                        <p:strVal val="visible"/>
                                      </p:to>
                                    </p:set>
                                    <p:animEffect transition="in" filter="fade">
                                      <p:cBhvr>
                                        <p:cTn id="127" dur="550"/>
                                        <p:tgtEl>
                                          <p:spTgt spid="197"/>
                                        </p:tgtEl>
                                      </p:cBhvr>
                                    </p:animEffect>
                                  </p:childTnLst>
                                </p:cTn>
                              </p:par>
                              <p:par>
                                <p:cTn id="128" presetID="10" presetClass="entr" presetSubtype="0" fill="hold" nodeType="withEffect">
                                  <p:stCondLst>
                                    <p:cond delay="1520"/>
                                  </p:stCondLst>
                                  <p:childTnLst>
                                    <p:set>
                                      <p:cBhvr>
                                        <p:cTn id="129" dur="1" fill="hold">
                                          <p:stCondLst>
                                            <p:cond delay="0"/>
                                          </p:stCondLst>
                                        </p:cTn>
                                        <p:tgtEl>
                                          <p:spTgt spid="198"/>
                                        </p:tgtEl>
                                        <p:attrNameLst>
                                          <p:attrName>style.visibility</p:attrName>
                                        </p:attrNameLst>
                                      </p:cBhvr>
                                      <p:to>
                                        <p:strVal val="visible"/>
                                      </p:to>
                                    </p:set>
                                    <p:animEffect transition="in" filter="fade">
                                      <p:cBhvr>
                                        <p:cTn id="130" dur="550"/>
                                        <p:tgtEl>
                                          <p:spTgt spid="198"/>
                                        </p:tgtEl>
                                      </p:cBhvr>
                                    </p:animEffect>
                                  </p:childTnLst>
                                </p:cTn>
                              </p:par>
                              <p:par>
                                <p:cTn id="131" presetID="10" presetClass="entr" presetSubtype="0" fill="hold" nodeType="withEffect">
                                  <p:stCondLst>
                                    <p:cond delay="1520"/>
                                  </p:stCondLst>
                                  <p:childTnLst>
                                    <p:set>
                                      <p:cBhvr>
                                        <p:cTn id="132" dur="1" fill="hold">
                                          <p:stCondLst>
                                            <p:cond delay="0"/>
                                          </p:stCondLst>
                                        </p:cTn>
                                        <p:tgtEl>
                                          <p:spTgt spid="199"/>
                                        </p:tgtEl>
                                        <p:attrNameLst>
                                          <p:attrName>style.visibility</p:attrName>
                                        </p:attrNameLst>
                                      </p:cBhvr>
                                      <p:to>
                                        <p:strVal val="visible"/>
                                      </p:to>
                                    </p:set>
                                    <p:animEffect transition="in" filter="fade">
                                      <p:cBhvr>
                                        <p:cTn id="133" dur="550"/>
                                        <p:tgtEl>
                                          <p:spTgt spid="199"/>
                                        </p:tgtEl>
                                      </p:cBhvr>
                                    </p:animEffect>
                                  </p:childTnLst>
                                </p:cTn>
                              </p:par>
                              <p:par>
                                <p:cTn id="134" presetID="10" presetClass="entr" presetSubtype="0" fill="hold" nodeType="withEffect">
                                  <p:stCondLst>
                                    <p:cond delay="1520"/>
                                  </p:stCondLst>
                                  <p:childTnLst>
                                    <p:set>
                                      <p:cBhvr>
                                        <p:cTn id="135" dur="1" fill="hold">
                                          <p:stCondLst>
                                            <p:cond delay="0"/>
                                          </p:stCondLst>
                                        </p:cTn>
                                        <p:tgtEl>
                                          <p:spTgt spid="200"/>
                                        </p:tgtEl>
                                        <p:attrNameLst>
                                          <p:attrName>style.visibility</p:attrName>
                                        </p:attrNameLst>
                                      </p:cBhvr>
                                      <p:to>
                                        <p:strVal val="visible"/>
                                      </p:to>
                                    </p:set>
                                    <p:animEffect transition="in" filter="fade">
                                      <p:cBhvr>
                                        <p:cTn id="136" dur="550"/>
                                        <p:tgtEl>
                                          <p:spTgt spid="200"/>
                                        </p:tgtEl>
                                      </p:cBhvr>
                                    </p:animEffect>
                                  </p:childTnLst>
                                </p:cTn>
                              </p:par>
                              <p:par>
                                <p:cTn id="137" presetID="10" presetClass="entr" presetSubtype="0" fill="hold" nodeType="withEffect">
                                  <p:stCondLst>
                                    <p:cond delay="1520"/>
                                  </p:stCondLst>
                                  <p:childTnLst>
                                    <p:set>
                                      <p:cBhvr>
                                        <p:cTn id="138" dur="1" fill="hold">
                                          <p:stCondLst>
                                            <p:cond delay="0"/>
                                          </p:stCondLst>
                                        </p:cTn>
                                        <p:tgtEl>
                                          <p:spTgt spid="202"/>
                                        </p:tgtEl>
                                        <p:attrNameLst>
                                          <p:attrName>style.visibility</p:attrName>
                                        </p:attrNameLst>
                                      </p:cBhvr>
                                      <p:to>
                                        <p:strVal val="visible"/>
                                      </p:to>
                                    </p:set>
                                    <p:animEffect transition="in" filter="fade">
                                      <p:cBhvr>
                                        <p:cTn id="139" dur="550"/>
                                        <p:tgtEl>
                                          <p:spTgt spid="202"/>
                                        </p:tgtEl>
                                      </p:cBhvr>
                                    </p:animEffect>
                                  </p:childTnLst>
                                </p:cTn>
                              </p:par>
                              <p:par>
                                <p:cTn id="140" presetID="10" presetClass="entr" presetSubtype="0" fill="hold" nodeType="withEffect">
                                  <p:stCondLst>
                                    <p:cond delay="1520"/>
                                  </p:stCondLst>
                                  <p:childTnLst>
                                    <p:set>
                                      <p:cBhvr>
                                        <p:cTn id="141" dur="1" fill="hold">
                                          <p:stCondLst>
                                            <p:cond delay="0"/>
                                          </p:stCondLst>
                                        </p:cTn>
                                        <p:tgtEl>
                                          <p:spTgt spid="203"/>
                                        </p:tgtEl>
                                        <p:attrNameLst>
                                          <p:attrName>style.visibility</p:attrName>
                                        </p:attrNameLst>
                                      </p:cBhvr>
                                      <p:to>
                                        <p:strVal val="visible"/>
                                      </p:to>
                                    </p:set>
                                    <p:animEffect transition="in" filter="fade">
                                      <p:cBhvr>
                                        <p:cTn id="142" dur="550"/>
                                        <p:tgtEl>
                                          <p:spTgt spid="203"/>
                                        </p:tgtEl>
                                      </p:cBhvr>
                                    </p:animEffect>
                                  </p:childTnLst>
                                </p:cTn>
                              </p:par>
                              <p:par>
                                <p:cTn id="143" presetID="10" presetClass="entr" presetSubtype="0" fill="hold" nodeType="withEffect">
                                  <p:stCondLst>
                                    <p:cond delay="1520"/>
                                  </p:stCondLst>
                                  <p:childTnLst>
                                    <p:set>
                                      <p:cBhvr>
                                        <p:cTn id="144" dur="1" fill="hold">
                                          <p:stCondLst>
                                            <p:cond delay="0"/>
                                          </p:stCondLst>
                                        </p:cTn>
                                        <p:tgtEl>
                                          <p:spTgt spid="204"/>
                                        </p:tgtEl>
                                        <p:attrNameLst>
                                          <p:attrName>style.visibility</p:attrName>
                                        </p:attrNameLst>
                                      </p:cBhvr>
                                      <p:to>
                                        <p:strVal val="visible"/>
                                      </p:to>
                                    </p:set>
                                    <p:animEffect transition="in" filter="fade">
                                      <p:cBhvr>
                                        <p:cTn id="145" dur="550"/>
                                        <p:tgtEl>
                                          <p:spTgt spid="204"/>
                                        </p:tgtEl>
                                      </p:cBhvr>
                                    </p:animEffect>
                                  </p:childTnLst>
                                </p:cTn>
                              </p:par>
                              <p:par>
                                <p:cTn id="146" presetID="10" presetClass="entr" presetSubtype="0" fill="hold" nodeType="withEffect">
                                  <p:stCondLst>
                                    <p:cond delay="1520"/>
                                  </p:stCondLst>
                                  <p:childTnLst>
                                    <p:set>
                                      <p:cBhvr>
                                        <p:cTn id="147" dur="1" fill="hold">
                                          <p:stCondLst>
                                            <p:cond delay="0"/>
                                          </p:stCondLst>
                                        </p:cTn>
                                        <p:tgtEl>
                                          <p:spTgt spid="205"/>
                                        </p:tgtEl>
                                        <p:attrNameLst>
                                          <p:attrName>style.visibility</p:attrName>
                                        </p:attrNameLst>
                                      </p:cBhvr>
                                      <p:to>
                                        <p:strVal val="visible"/>
                                      </p:to>
                                    </p:set>
                                    <p:animEffect transition="in" filter="fade">
                                      <p:cBhvr>
                                        <p:cTn id="148" dur="550"/>
                                        <p:tgtEl>
                                          <p:spTgt spid="205"/>
                                        </p:tgtEl>
                                      </p:cBhvr>
                                    </p:animEffect>
                                  </p:childTnLst>
                                </p:cTn>
                              </p:par>
                              <p:par>
                                <p:cTn id="149" presetID="10" presetClass="entr" presetSubtype="0" fill="hold" nodeType="withEffect">
                                  <p:stCondLst>
                                    <p:cond delay="1520"/>
                                  </p:stCondLst>
                                  <p:childTnLst>
                                    <p:set>
                                      <p:cBhvr>
                                        <p:cTn id="150" dur="1" fill="hold">
                                          <p:stCondLst>
                                            <p:cond delay="0"/>
                                          </p:stCondLst>
                                        </p:cTn>
                                        <p:tgtEl>
                                          <p:spTgt spid="206"/>
                                        </p:tgtEl>
                                        <p:attrNameLst>
                                          <p:attrName>style.visibility</p:attrName>
                                        </p:attrNameLst>
                                      </p:cBhvr>
                                      <p:to>
                                        <p:strVal val="visible"/>
                                      </p:to>
                                    </p:set>
                                    <p:animEffect transition="in" filter="fade">
                                      <p:cBhvr>
                                        <p:cTn id="151" dur="550"/>
                                        <p:tgtEl>
                                          <p:spTgt spid="206"/>
                                        </p:tgtEl>
                                      </p:cBhvr>
                                    </p:animEffect>
                                  </p:childTnLst>
                                </p:cTn>
                              </p:par>
                              <p:par>
                                <p:cTn id="152" presetID="10" presetClass="entr" presetSubtype="0" fill="hold" nodeType="withEffect">
                                  <p:stCondLst>
                                    <p:cond delay="1520"/>
                                  </p:stCondLst>
                                  <p:childTnLst>
                                    <p:set>
                                      <p:cBhvr>
                                        <p:cTn id="153" dur="1" fill="hold">
                                          <p:stCondLst>
                                            <p:cond delay="0"/>
                                          </p:stCondLst>
                                        </p:cTn>
                                        <p:tgtEl>
                                          <p:spTgt spid="208"/>
                                        </p:tgtEl>
                                        <p:attrNameLst>
                                          <p:attrName>style.visibility</p:attrName>
                                        </p:attrNameLst>
                                      </p:cBhvr>
                                      <p:to>
                                        <p:strVal val="visible"/>
                                      </p:to>
                                    </p:set>
                                    <p:animEffect transition="in" filter="fade">
                                      <p:cBhvr>
                                        <p:cTn id="154" dur="550"/>
                                        <p:tgtEl>
                                          <p:spTgt spid="208"/>
                                        </p:tgtEl>
                                      </p:cBhvr>
                                    </p:animEffect>
                                  </p:childTnLst>
                                </p:cTn>
                              </p:par>
                              <p:par>
                                <p:cTn id="155" presetID="10" presetClass="entr" presetSubtype="0" fill="hold" nodeType="withEffect">
                                  <p:stCondLst>
                                    <p:cond delay="1520"/>
                                  </p:stCondLst>
                                  <p:childTnLst>
                                    <p:set>
                                      <p:cBhvr>
                                        <p:cTn id="156" dur="1" fill="hold">
                                          <p:stCondLst>
                                            <p:cond delay="0"/>
                                          </p:stCondLst>
                                        </p:cTn>
                                        <p:tgtEl>
                                          <p:spTgt spid="209"/>
                                        </p:tgtEl>
                                        <p:attrNameLst>
                                          <p:attrName>style.visibility</p:attrName>
                                        </p:attrNameLst>
                                      </p:cBhvr>
                                      <p:to>
                                        <p:strVal val="visible"/>
                                      </p:to>
                                    </p:set>
                                    <p:animEffect transition="in" filter="fade">
                                      <p:cBhvr>
                                        <p:cTn id="157" dur="550"/>
                                        <p:tgtEl>
                                          <p:spTgt spid="209"/>
                                        </p:tgtEl>
                                      </p:cBhvr>
                                    </p:animEffect>
                                  </p:childTnLst>
                                </p:cTn>
                              </p:par>
                              <p:par>
                                <p:cTn id="158" presetID="10" presetClass="entr" presetSubtype="0" fill="hold" nodeType="withEffect">
                                  <p:stCondLst>
                                    <p:cond delay="1520"/>
                                  </p:stCondLst>
                                  <p:childTnLst>
                                    <p:set>
                                      <p:cBhvr>
                                        <p:cTn id="159" dur="1" fill="hold">
                                          <p:stCondLst>
                                            <p:cond delay="0"/>
                                          </p:stCondLst>
                                        </p:cTn>
                                        <p:tgtEl>
                                          <p:spTgt spid="210"/>
                                        </p:tgtEl>
                                        <p:attrNameLst>
                                          <p:attrName>style.visibility</p:attrName>
                                        </p:attrNameLst>
                                      </p:cBhvr>
                                      <p:to>
                                        <p:strVal val="visible"/>
                                      </p:to>
                                    </p:set>
                                    <p:animEffect transition="in" filter="fade">
                                      <p:cBhvr>
                                        <p:cTn id="160" dur="550"/>
                                        <p:tgtEl>
                                          <p:spTgt spid="210"/>
                                        </p:tgtEl>
                                      </p:cBhvr>
                                    </p:animEffect>
                                  </p:childTnLst>
                                </p:cTn>
                              </p:par>
                              <p:par>
                                <p:cTn id="161" presetID="10" presetClass="entr" presetSubtype="0" fill="hold" nodeType="withEffect">
                                  <p:stCondLst>
                                    <p:cond delay="1520"/>
                                  </p:stCondLst>
                                  <p:childTnLst>
                                    <p:set>
                                      <p:cBhvr>
                                        <p:cTn id="162" dur="1" fill="hold">
                                          <p:stCondLst>
                                            <p:cond delay="0"/>
                                          </p:stCondLst>
                                        </p:cTn>
                                        <p:tgtEl>
                                          <p:spTgt spid="211"/>
                                        </p:tgtEl>
                                        <p:attrNameLst>
                                          <p:attrName>style.visibility</p:attrName>
                                        </p:attrNameLst>
                                      </p:cBhvr>
                                      <p:to>
                                        <p:strVal val="visible"/>
                                      </p:to>
                                    </p:set>
                                    <p:animEffect transition="in" filter="fade">
                                      <p:cBhvr>
                                        <p:cTn id="163" dur="550"/>
                                        <p:tgtEl>
                                          <p:spTgt spid="211"/>
                                        </p:tgtEl>
                                      </p:cBhvr>
                                    </p:animEffect>
                                  </p:childTnLst>
                                </p:cTn>
                              </p:par>
                              <p:par>
                                <p:cTn id="164" presetID="10" presetClass="entr" presetSubtype="0" fill="hold" nodeType="withEffect">
                                  <p:stCondLst>
                                    <p:cond delay="1520"/>
                                  </p:stCondLst>
                                  <p:childTnLst>
                                    <p:set>
                                      <p:cBhvr>
                                        <p:cTn id="165" dur="1" fill="hold">
                                          <p:stCondLst>
                                            <p:cond delay="0"/>
                                          </p:stCondLst>
                                        </p:cTn>
                                        <p:tgtEl>
                                          <p:spTgt spid="212"/>
                                        </p:tgtEl>
                                        <p:attrNameLst>
                                          <p:attrName>style.visibility</p:attrName>
                                        </p:attrNameLst>
                                      </p:cBhvr>
                                      <p:to>
                                        <p:strVal val="visible"/>
                                      </p:to>
                                    </p:set>
                                    <p:animEffect transition="in" filter="fade">
                                      <p:cBhvr>
                                        <p:cTn id="166" dur="550"/>
                                        <p:tgtEl>
                                          <p:spTgt spid="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2"/>
          <p:cNvSpPr txBox="1">
            <a:spLocks noGrp="1"/>
          </p:cNvSpPr>
          <p:nvPr>
            <p:ph type="title"/>
          </p:nvPr>
        </p:nvSpPr>
        <p:spPr>
          <a:xfrm>
            <a:off x="548640" y="365760"/>
            <a:ext cx="11064240" cy="82296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libri"/>
              <a:buNone/>
            </a:pPr>
            <a:r>
              <a:rPr lang="en-US" sz="3600" b="1">
                <a:solidFill>
                  <a:schemeClr val="dk1"/>
                </a:solidFill>
              </a:rPr>
              <a:t>APIs and data model</a:t>
            </a:r>
            <a:endParaRPr sz="3600"/>
          </a:p>
        </p:txBody>
      </p:sp>
      <p:sp>
        <p:nvSpPr>
          <p:cNvPr id="220" name="Google Shape;220;p12"/>
          <p:cNvSpPr/>
          <p:nvPr/>
        </p:nvSpPr>
        <p:spPr>
          <a:xfrm>
            <a:off x="548640" y="1508760"/>
            <a:ext cx="3502152" cy="2423160"/>
          </a:xfrm>
          <a:prstGeom prst="roundRect">
            <a:avLst>
              <a:gd name="adj" fmla="val 5283"/>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2"/>
          <p:cNvSpPr/>
          <p:nvPr/>
        </p:nvSpPr>
        <p:spPr>
          <a:xfrm>
            <a:off x="777240" y="1737360"/>
            <a:ext cx="731520" cy="310896"/>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2"/>
          <p:cNvSpPr txBox="1"/>
          <p:nvPr/>
        </p:nvSpPr>
        <p:spPr>
          <a:xfrm>
            <a:off x="777240" y="1737360"/>
            <a:ext cx="7315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4140C"/>
              </a:buClr>
              <a:buSzPts val="1200"/>
              <a:buFont typeface="Calibri"/>
              <a:buNone/>
            </a:pPr>
            <a:r>
              <a:rPr lang="en-US" sz="1200" b="1" i="0" u="none" strike="noStrike" cap="none">
                <a:solidFill>
                  <a:srgbClr val="04140C"/>
                </a:solidFill>
                <a:latin typeface="Calibri"/>
                <a:ea typeface="Calibri"/>
                <a:cs typeface="Calibri"/>
                <a:sym typeface="Calibri"/>
              </a:rPr>
              <a:t>POST</a:t>
            </a:r>
            <a:endParaRPr sz="1200" b="0" i="0" u="none" strike="noStrike" cap="none">
              <a:solidFill>
                <a:schemeClr val="dk1"/>
              </a:solidFill>
              <a:latin typeface="Calibri"/>
              <a:ea typeface="Calibri"/>
              <a:cs typeface="Calibri"/>
              <a:sym typeface="Calibri"/>
            </a:endParaRPr>
          </a:p>
        </p:txBody>
      </p:sp>
      <p:sp>
        <p:nvSpPr>
          <p:cNvPr id="223" name="Google Shape;223;p12"/>
          <p:cNvSpPr txBox="1"/>
          <p:nvPr/>
        </p:nvSpPr>
        <p:spPr>
          <a:xfrm>
            <a:off x="777240" y="2194560"/>
            <a:ext cx="30175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/api/process-record</a:t>
            </a:r>
            <a:endParaRPr sz="2000" b="0" i="0" u="none" strike="noStrike" cap="none">
              <a:solidFill>
                <a:schemeClr val="dk1"/>
              </a:solidFill>
              <a:latin typeface="Calibri"/>
              <a:ea typeface="Calibri"/>
              <a:cs typeface="Calibri"/>
              <a:sym typeface="Calibri"/>
            </a:endParaRPr>
          </a:p>
        </p:txBody>
      </p:sp>
      <p:sp>
        <p:nvSpPr>
          <p:cNvPr id="224" name="Google Shape;224;p12"/>
          <p:cNvSpPr txBox="1"/>
          <p:nvPr/>
        </p:nvSpPr>
        <p:spPr>
          <a:xfrm>
            <a:off x="777240" y="2651760"/>
            <a:ext cx="3063240" cy="12344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In: </a:t>
            </a:r>
            <a:r>
              <a:rPr lang="en-US" sz="1400" b="0" i="0" u="none" strike="noStrike" cap="none">
                <a:solidFill>
                  <a:srgbClr val="A5C2B2"/>
                </a:solidFill>
                <a:latin typeface="Calibri"/>
                <a:ea typeface="Calibri"/>
                <a:cs typeface="Calibri"/>
                <a:sym typeface="Calibri"/>
              </a:rPr>
              <a:t>Multipart form: file (PDF, JPEG, PNG up to 4 MB) and optional ABHA ID.</a:t>
            </a:r>
            <a:endParaRPr sz="1400" b="0" i="0" u="none" strike="noStrike" cap="none">
              <a:solidFill>
                <a:schemeClr val="dk1"/>
              </a:solidFill>
              <a:latin typeface="Calibri"/>
              <a:ea typeface="Calibri"/>
              <a:cs typeface="Calibri"/>
              <a:sym typeface="Calibri"/>
            </a:endParaRPr>
          </a:p>
          <a:p>
            <a:pPr marL="0" marR="0" lvl="0" indent="0" algn="l" rtl="0">
              <a:spcBef>
                <a:spcPts val="60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Out: </a:t>
            </a:r>
            <a:r>
              <a:rPr lang="en-US" sz="1400" b="0" i="0" u="none" strike="noStrike" cap="none">
                <a:solidFill>
                  <a:srgbClr val="A5C2B2"/>
                </a:solidFill>
                <a:latin typeface="Calibri"/>
                <a:ea typeface="Calibri"/>
                <a:cs typeface="Calibri"/>
                <a:sym typeface="Calibri"/>
              </a:rPr>
              <a:t>Saved record with AI summary, medicines, test values and diagnoses.</a:t>
            </a:r>
            <a:endParaRPr sz="1400" b="0" i="0" u="none" strike="noStrike" cap="none">
              <a:solidFill>
                <a:schemeClr val="dk1"/>
              </a:solidFill>
              <a:latin typeface="Calibri"/>
              <a:ea typeface="Calibri"/>
              <a:cs typeface="Calibri"/>
              <a:sym typeface="Calibri"/>
            </a:endParaRPr>
          </a:p>
        </p:txBody>
      </p:sp>
      <p:sp>
        <p:nvSpPr>
          <p:cNvPr id="225" name="Google Shape;225;p12"/>
          <p:cNvSpPr/>
          <p:nvPr/>
        </p:nvSpPr>
        <p:spPr>
          <a:xfrm>
            <a:off x="4325112" y="1508760"/>
            <a:ext cx="3502152" cy="2423160"/>
          </a:xfrm>
          <a:prstGeom prst="roundRect">
            <a:avLst>
              <a:gd name="adj" fmla="val 5283"/>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2"/>
          <p:cNvSpPr/>
          <p:nvPr/>
        </p:nvSpPr>
        <p:spPr>
          <a:xfrm>
            <a:off x="4553712" y="1737360"/>
            <a:ext cx="731520" cy="310896"/>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2"/>
          <p:cNvSpPr txBox="1"/>
          <p:nvPr/>
        </p:nvSpPr>
        <p:spPr>
          <a:xfrm>
            <a:off x="4553712" y="1737360"/>
            <a:ext cx="7315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4140C"/>
              </a:buClr>
              <a:buSzPts val="1200"/>
              <a:buFont typeface="Calibri"/>
              <a:buNone/>
            </a:pPr>
            <a:r>
              <a:rPr lang="en-US" sz="1200" b="1" i="0" u="none" strike="noStrike" cap="none">
                <a:solidFill>
                  <a:srgbClr val="04140C"/>
                </a:solidFill>
                <a:latin typeface="Calibri"/>
                <a:ea typeface="Calibri"/>
                <a:cs typeface="Calibri"/>
                <a:sym typeface="Calibri"/>
              </a:rPr>
              <a:t>POST</a:t>
            </a:r>
            <a:endParaRPr sz="1200" b="0" i="0" u="none" strike="noStrike" cap="none">
              <a:solidFill>
                <a:schemeClr val="dk1"/>
              </a:solidFill>
              <a:latin typeface="Calibri"/>
              <a:ea typeface="Calibri"/>
              <a:cs typeface="Calibri"/>
              <a:sym typeface="Calibri"/>
            </a:endParaRPr>
          </a:p>
        </p:txBody>
      </p:sp>
      <p:sp>
        <p:nvSpPr>
          <p:cNvPr id="228" name="Google Shape;228;p12"/>
          <p:cNvSpPr txBox="1"/>
          <p:nvPr/>
        </p:nvSpPr>
        <p:spPr>
          <a:xfrm>
            <a:off x="4553712" y="2194560"/>
            <a:ext cx="30175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/api/chat</a:t>
            </a:r>
            <a:endParaRPr sz="2000" b="0" i="0" u="none" strike="noStrike" cap="none">
              <a:solidFill>
                <a:schemeClr val="dk1"/>
              </a:solidFill>
              <a:latin typeface="Calibri"/>
              <a:ea typeface="Calibri"/>
              <a:cs typeface="Calibri"/>
              <a:sym typeface="Calibri"/>
            </a:endParaRPr>
          </a:p>
        </p:txBody>
      </p:sp>
      <p:sp>
        <p:nvSpPr>
          <p:cNvPr id="229" name="Google Shape;229;p12"/>
          <p:cNvSpPr txBox="1"/>
          <p:nvPr/>
        </p:nvSpPr>
        <p:spPr>
          <a:xfrm>
            <a:off x="4553712" y="2651760"/>
            <a:ext cx="3063240" cy="12344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In: </a:t>
            </a:r>
            <a:r>
              <a:rPr lang="en-US" sz="1400" b="0" i="0" u="none" strike="noStrike" cap="none">
                <a:solidFill>
                  <a:srgbClr val="A5C2B2"/>
                </a:solidFill>
                <a:latin typeface="Calibri"/>
                <a:ea typeface="Calibri"/>
                <a:cs typeface="Calibri"/>
                <a:sym typeface="Calibri"/>
              </a:rPr>
              <a:t>JSON: message, history and an optional base64 report image.</a:t>
            </a:r>
            <a:endParaRPr sz="1400" b="0" i="0" u="none" strike="noStrike" cap="none">
              <a:solidFill>
                <a:schemeClr val="dk1"/>
              </a:solidFill>
              <a:latin typeface="Calibri"/>
              <a:ea typeface="Calibri"/>
              <a:cs typeface="Calibri"/>
              <a:sym typeface="Calibri"/>
            </a:endParaRPr>
          </a:p>
          <a:p>
            <a:pPr marL="0" marR="0" lvl="0" indent="0" algn="l" rtl="0">
              <a:spcBef>
                <a:spcPts val="60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Out: </a:t>
            </a:r>
            <a:r>
              <a:rPr lang="en-US" sz="1400" b="0" i="0" u="none" strike="noStrike" cap="none">
                <a:solidFill>
                  <a:srgbClr val="A5C2B2"/>
                </a:solidFill>
                <a:latin typeface="Calibri"/>
                <a:ea typeface="Calibri"/>
                <a:cs typeface="Calibri"/>
                <a:sym typeface="Calibri"/>
              </a:rPr>
              <a:t>Assistant reply, with a safe offline fallback.</a:t>
            </a:r>
            <a:endParaRPr sz="1400" b="0" i="0" u="none" strike="noStrike" cap="none">
              <a:solidFill>
                <a:schemeClr val="dk1"/>
              </a:solidFill>
              <a:latin typeface="Calibri"/>
              <a:ea typeface="Calibri"/>
              <a:cs typeface="Calibri"/>
              <a:sym typeface="Calibri"/>
            </a:endParaRPr>
          </a:p>
        </p:txBody>
      </p:sp>
      <p:sp>
        <p:nvSpPr>
          <p:cNvPr id="230" name="Google Shape;230;p12"/>
          <p:cNvSpPr/>
          <p:nvPr/>
        </p:nvSpPr>
        <p:spPr>
          <a:xfrm>
            <a:off x="8101584" y="1508760"/>
            <a:ext cx="3502152" cy="2423160"/>
          </a:xfrm>
          <a:prstGeom prst="roundRect">
            <a:avLst>
              <a:gd name="adj" fmla="val 5283"/>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2"/>
          <p:cNvSpPr/>
          <p:nvPr/>
        </p:nvSpPr>
        <p:spPr>
          <a:xfrm>
            <a:off x="8330184" y="1737360"/>
            <a:ext cx="731520" cy="310896"/>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2"/>
          <p:cNvSpPr txBox="1"/>
          <p:nvPr/>
        </p:nvSpPr>
        <p:spPr>
          <a:xfrm>
            <a:off x="8330184" y="1737360"/>
            <a:ext cx="7315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4140C"/>
              </a:buClr>
              <a:buSzPts val="1200"/>
              <a:buFont typeface="Calibri"/>
              <a:buNone/>
            </a:pPr>
            <a:r>
              <a:rPr lang="en-US" sz="1200" b="1" i="0" u="none" strike="noStrike" cap="none">
                <a:solidFill>
                  <a:srgbClr val="04140C"/>
                </a:solidFill>
                <a:latin typeface="Calibri"/>
                <a:ea typeface="Calibri"/>
                <a:cs typeface="Calibri"/>
                <a:sym typeface="Calibri"/>
              </a:rPr>
              <a:t>POST</a:t>
            </a:r>
            <a:endParaRPr sz="1200" b="0" i="0" u="none" strike="noStrike" cap="none">
              <a:solidFill>
                <a:schemeClr val="dk1"/>
              </a:solidFill>
              <a:latin typeface="Calibri"/>
              <a:ea typeface="Calibri"/>
              <a:cs typeface="Calibri"/>
              <a:sym typeface="Calibri"/>
            </a:endParaRPr>
          </a:p>
        </p:txBody>
      </p:sp>
      <p:sp>
        <p:nvSpPr>
          <p:cNvPr id="233" name="Google Shape;233;p12"/>
          <p:cNvSpPr txBox="1"/>
          <p:nvPr/>
        </p:nvSpPr>
        <p:spPr>
          <a:xfrm>
            <a:off x="8330184" y="2194560"/>
            <a:ext cx="30175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/api/translate</a:t>
            </a:r>
            <a:endParaRPr sz="2000" b="0" i="0" u="none" strike="noStrike" cap="none">
              <a:solidFill>
                <a:schemeClr val="dk1"/>
              </a:solidFill>
              <a:latin typeface="Calibri"/>
              <a:ea typeface="Calibri"/>
              <a:cs typeface="Calibri"/>
              <a:sym typeface="Calibri"/>
            </a:endParaRPr>
          </a:p>
        </p:txBody>
      </p:sp>
      <p:sp>
        <p:nvSpPr>
          <p:cNvPr id="234" name="Google Shape;234;p12"/>
          <p:cNvSpPr txBox="1"/>
          <p:nvPr/>
        </p:nvSpPr>
        <p:spPr>
          <a:xfrm>
            <a:off x="8330184" y="2651760"/>
            <a:ext cx="3063240" cy="12344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In: </a:t>
            </a:r>
            <a:r>
              <a:rPr lang="en-US" sz="1400" b="0" i="0" u="none" strike="noStrike" cap="none">
                <a:solidFill>
                  <a:srgbClr val="A5C2B2"/>
                </a:solidFill>
                <a:latin typeface="Calibri"/>
                <a:ea typeface="Calibri"/>
                <a:cs typeface="Calibri"/>
                <a:sym typeface="Calibri"/>
              </a:rPr>
              <a:t>JSON: text and target language (hi, te, ta).</a:t>
            </a:r>
            <a:endParaRPr sz="1400" b="0" i="0" u="none" strike="noStrike" cap="none">
              <a:solidFill>
                <a:schemeClr val="dk1"/>
              </a:solidFill>
              <a:latin typeface="Calibri"/>
              <a:ea typeface="Calibri"/>
              <a:cs typeface="Calibri"/>
              <a:sym typeface="Calibri"/>
            </a:endParaRPr>
          </a:p>
          <a:p>
            <a:pPr marL="0" marR="0" lvl="0" indent="0" algn="l" rtl="0">
              <a:spcBef>
                <a:spcPts val="60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Out: </a:t>
            </a:r>
            <a:r>
              <a:rPr lang="en-US" sz="1400" b="0" i="0" u="none" strike="noStrike" cap="none">
                <a:solidFill>
                  <a:srgbClr val="A5C2B2"/>
                </a:solidFill>
                <a:latin typeface="Calibri"/>
                <a:ea typeface="Calibri"/>
                <a:cs typeface="Calibri"/>
                <a:sym typeface="Calibri"/>
              </a:rPr>
              <a:t>Clinically translated text for summaries and instructions.</a:t>
            </a:r>
            <a:endParaRPr sz="1400" b="0" i="0" u="none" strike="noStrike" cap="none">
              <a:solidFill>
                <a:schemeClr val="dk1"/>
              </a:solidFill>
              <a:latin typeface="Calibri"/>
              <a:ea typeface="Calibri"/>
              <a:cs typeface="Calibri"/>
              <a:sym typeface="Calibri"/>
            </a:endParaRPr>
          </a:p>
        </p:txBody>
      </p:sp>
      <p:sp>
        <p:nvSpPr>
          <p:cNvPr id="235" name="Google Shape;235;p12"/>
          <p:cNvSpPr/>
          <p:nvPr/>
        </p:nvSpPr>
        <p:spPr>
          <a:xfrm>
            <a:off x="548640" y="4206240"/>
            <a:ext cx="6766560" cy="1965960"/>
          </a:xfrm>
          <a:prstGeom prst="roundRect">
            <a:avLst>
              <a:gd name="adj" fmla="val 6512"/>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2"/>
          <p:cNvSpPr txBox="1"/>
          <p:nvPr/>
        </p:nvSpPr>
        <p:spPr>
          <a:xfrm>
            <a:off x="777240" y="4389120"/>
            <a:ext cx="63093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health_timeline</a:t>
            </a:r>
            <a:r>
              <a:rPr lang="en-US" sz="1200" b="0" i="0" u="none" strike="noStrike" cap="none">
                <a:solidFill>
                  <a:srgbClr val="A5C2B2"/>
                </a:solidFill>
                <a:latin typeface="Calibri"/>
                <a:ea typeface="Calibri"/>
                <a:cs typeface="Calibri"/>
                <a:sym typeface="Calibri"/>
              </a:rPr>
              <a:t>   PostgreSQL table on Supabase</a:t>
            </a:r>
            <a:endParaRPr sz="1800" b="0" i="0" u="none" strike="noStrike" cap="none">
              <a:solidFill>
                <a:schemeClr val="dk1"/>
              </a:solidFill>
              <a:latin typeface="Calibri"/>
              <a:ea typeface="Calibri"/>
              <a:cs typeface="Calibri"/>
              <a:sym typeface="Calibri"/>
            </a:endParaRPr>
          </a:p>
        </p:txBody>
      </p:sp>
      <p:sp>
        <p:nvSpPr>
          <p:cNvPr id="237" name="Google Shape;237;p12"/>
          <p:cNvSpPr/>
          <p:nvPr/>
        </p:nvSpPr>
        <p:spPr>
          <a:xfrm>
            <a:off x="777240" y="4937760"/>
            <a:ext cx="1417320" cy="384048"/>
          </a:xfrm>
          <a:prstGeom prst="roundRect">
            <a:avLst>
              <a:gd name="adj" fmla="val 19048"/>
            </a:avLst>
          </a:prstGeom>
          <a:solidFill>
            <a:schemeClr val="dk1">
              <a:alpha val="10196"/>
            </a:schemeClr>
          </a:solidFill>
          <a:ln w="9525" cap="flat" cmpd="sng">
            <a:solidFill>
              <a:schemeClr val="dk1">
                <a:alpha val="25098"/>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2"/>
          <p:cNvSpPr txBox="1"/>
          <p:nvPr/>
        </p:nvSpPr>
        <p:spPr>
          <a:xfrm>
            <a:off x="777240" y="4937760"/>
            <a:ext cx="141732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200"/>
              <a:buFont typeface="Calibri"/>
              <a:buNone/>
            </a:pPr>
            <a:r>
              <a:rPr lang="en-US" sz="1200" b="1" i="0" u="none" strike="noStrike" cap="none">
                <a:solidFill>
                  <a:schemeClr val="dk1"/>
                </a:solidFill>
                <a:latin typeface="Calibri"/>
                <a:ea typeface="Calibri"/>
                <a:cs typeface="Calibri"/>
                <a:sym typeface="Calibri"/>
              </a:rPr>
              <a:t>id</a:t>
            </a:r>
            <a:endParaRPr sz="1200" b="0" i="0" u="none" strike="noStrike" cap="none">
              <a:solidFill>
                <a:schemeClr val="dk1"/>
              </a:solidFill>
              <a:latin typeface="Calibri"/>
              <a:ea typeface="Calibri"/>
              <a:cs typeface="Calibri"/>
              <a:sym typeface="Calibri"/>
            </a:endParaRPr>
          </a:p>
        </p:txBody>
      </p:sp>
      <p:sp>
        <p:nvSpPr>
          <p:cNvPr id="239" name="Google Shape;239;p12"/>
          <p:cNvSpPr/>
          <p:nvPr/>
        </p:nvSpPr>
        <p:spPr>
          <a:xfrm>
            <a:off x="2377440" y="4937760"/>
            <a:ext cx="1417320" cy="384048"/>
          </a:xfrm>
          <a:prstGeom prst="roundRect">
            <a:avLst>
              <a:gd name="adj" fmla="val 19048"/>
            </a:avLst>
          </a:prstGeom>
          <a:solidFill>
            <a:schemeClr val="dk1">
              <a:alpha val="10196"/>
            </a:schemeClr>
          </a:solidFill>
          <a:ln w="9525" cap="flat" cmpd="sng">
            <a:solidFill>
              <a:schemeClr val="dk1">
                <a:alpha val="25098"/>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2"/>
          <p:cNvSpPr txBox="1"/>
          <p:nvPr/>
        </p:nvSpPr>
        <p:spPr>
          <a:xfrm>
            <a:off x="2377440" y="4937760"/>
            <a:ext cx="141732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200"/>
              <a:buFont typeface="Calibri"/>
              <a:buNone/>
            </a:pPr>
            <a:r>
              <a:rPr lang="en-US" sz="1200" b="1" i="0" u="none" strike="noStrike" cap="none">
                <a:solidFill>
                  <a:schemeClr val="dk1"/>
                </a:solidFill>
                <a:latin typeface="Calibri"/>
                <a:ea typeface="Calibri"/>
                <a:cs typeface="Calibri"/>
                <a:sym typeface="Calibri"/>
              </a:rPr>
              <a:t>mock_abha_id</a:t>
            </a:r>
            <a:endParaRPr sz="1200" b="0" i="0" u="none" strike="noStrike" cap="none">
              <a:solidFill>
                <a:schemeClr val="dk1"/>
              </a:solidFill>
              <a:latin typeface="Calibri"/>
              <a:ea typeface="Calibri"/>
              <a:cs typeface="Calibri"/>
              <a:sym typeface="Calibri"/>
            </a:endParaRPr>
          </a:p>
        </p:txBody>
      </p:sp>
      <p:sp>
        <p:nvSpPr>
          <p:cNvPr id="241" name="Google Shape;241;p12"/>
          <p:cNvSpPr/>
          <p:nvPr/>
        </p:nvSpPr>
        <p:spPr>
          <a:xfrm>
            <a:off x="3977640" y="4937760"/>
            <a:ext cx="1417320" cy="384048"/>
          </a:xfrm>
          <a:prstGeom prst="roundRect">
            <a:avLst>
              <a:gd name="adj" fmla="val 19048"/>
            </a:avLst>
          </a:prstGeom>
          <a:solidFill>
            <a:schemeClr val="dk1">
              <a:alpha val="10196"/>
            </a:schemeClr>
          </a:solidFill>
          <a:ln w="9525" cap="flat" cmpd="sng">
            <a:solidFill>
              <a:schemeClr val="dk1">
                <a:alpha val="25098"/>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2"/>
          <p:cNvSpPr txBox="1"/>
          <p:nvPr/>
        </p:nvSpPr>
        <p:spPr>
          <a:xfrm>
            <a:off x="3977640" y="4937760"/>
            <a:ext cx="141732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200"/>
              <a:buFont typeface="Calibri"/>
              <a:buNone/>
            </a:pPr>
            <a:r>
              <a:rPr lang="en-US" sz="1200" b="1" i="0" u="none" strike="noStrike" cap="none">
                <a:solidFill>
                  <a:schemeClr val="dk1"/>
                </a:solidFill>
                <a:latin typeface="Calibri"/>
                <a:ea typeface="Calibri"/>
                <a:cs typeface="Calibri"/>
                <a:sym typeface="Calibri"/>
              </a:rPr>
              <a:t>document_url</a:t>
            </a:r>
            <a:endParaRPr sz="1200" b="0" i="0" u="none" strike="noStrike" cap="none">
              <a:solidFill>
                <a:schemeClr val="dk1"/>
              </a:solidFill>
              <a:latin typeface="Calibri"/>
              <a:ea typeface="Calibri"/>
              <a:cs typeface="Calibri"/>
              <a:sym typeface="Calibri"/>
            </a:endParaRPr>
          </a:p>
        </p:txBody>
      </p:sp>
      <p:sp>
        <p:nvSpPr>
          <p:cNvPr id="243" name="Google Shape;243;p12"/>
          <p:cNvSpPr/>
          <p:nvPr/>
        </p:nvSpPr>
        <p:spPr>
          <a:xfrm>
            <a:off x="5577840" y="4937760"/>
            <a:ext cx="1417320" cy="384048"/>
          </a:xfrm>
          <a:prstGeom prst="roundRect">
            <a:avLst>
              <a:gd name="adj" fmla="val 19048"/>
            </a:avLst>
          </a:prstGeom>
          <a:solidFill>
            <a:schemeClr val="dk1">
              <a:alpha val="10196"/>
            </a:schemeClr>
          </a:solidFill>
          <a:ln w="9525" cap="flat" cmpd="sng">
            <a:solidFill>
              <a:schemeClr val="dk1">
                <a:alpha val="25098"/>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2"/>
          <p:cNvSpPr txBox="1"/>
          <p:nvPr/>
        </p:nvSpPr>
        <p:spPr>
          <a:xfrm>
            <a:off x="5577840" y="4937760"/>
            <a:ext cx="141732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200"/>
              <a:buFont typeface="Calibri"/>
              <a:buNone/>
            </a:pPr>
            <a:r>
              <a:rPr lang="en-US" sz="1200" b="1" i="0" u="none" strike="noStrike" cap="none">
                <a:solidFill>
                  <a:schemeClr val="dk1"/>
                </a:solidFill>
                <a:latin typeface="Calibri"/>
                <a:ea typeface="Calibri"/>
                <a:cs typeface="Calibri"/>
                <a:sym typeface="Calibri"/>
              </a:rPr>
              <a:t>document_type</a:t>
            </a:r>
            <a:endParaRPr sz="1200" b="0" i="0" u="none" strike="noStrike" cap="none">
              <a:solidFill>
                <a:schemeClr val="dk1"/>
              </a:solidFill>
              <a:latin typeface="Calibri"/>
              <a:ea typeface="Calibri"/>
              <a:cs typeface="Calibri"/>
              <a:sym typeface="Calibri"/>
            </a:endParaRPr>
          </a:p>
        </p:txBody>
      </p:sp>
      <p:sp>
        <p:nvSpPr>
          <p:cNvPr id="245" name="Google Shape;245;p12"/>
          <p:cNvSpPr/>
          <p:nvPr/>
        </p:nvSpPr>
        <p:spPr>
          <a:xfrm>
            <a:off x="777240" y="5504688"/>
            <a:ext cx="1417320" cy="384048"/>
          </a:xfrm>
          <a:prstGeom prst="roundRect">
            <a:avLst>
              <a:gd name="adj" fmla="val 19048"/>
            </a:avLst>
          </a:prstGeom>
          <a:solidFill>
            <a:schemeClr val="dk1">
              <a:alpha val="10196"/>
            </a:schemeClr>
          </a:solidFill>
          <a:ln w="9525" cap="flat" cmpd="sng">
            <a:solidFill>
              <a:schemeClr val="dk1">
                <a:alpha val="25098"/>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2"/>
          <p:cNvSpPr txBox="1"/>
          <p:nvPr/>
        </p:nvSpPr>
        <p:spPr>
          <a:xfrm>
            <a:off x="777240" y="5504688"/>
            <a:ext cx="141732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200"/>
              <a:buFont typeface="Calibri"/>
              <a:buNone/>
            </a:pPr>
            <a:r>
              <a:rPr lang="en-US" sz="1200" b="1" i="0" u="none" strike="noStrike" cap="none">
                <a:solidFill>
                  <a:schemeClr val="dk1"/>
                </a:solidFill>
                <a:latin typeface="Calibri"/>
                <a:ea typeface="Calibri"/>
                <a:cs typeface="Calibri"/>
                <a:sym typeface="Calibri"/>
              </a:rPr>
              <a:t>ai_summary_english</a:t>
            </a:r>
            <a:endParaRPr sz="1200" b="0" i="0" u="none" strike="noStrike" cap="none">
              <a:solidFill>
                <a:schemeClr val="dk1"/>
              </a:solidFill>
              <a:latin typeface="Calibri"/>
              <a:ea typeface="Calibri"/>
              <a:cs typeface="Calibri"/>
              <a:sym typeface="Calibri"/>
            </a:endParaRPr>
          </a:p>
        </p:txBody>
      </p:sp>
      <p:sp>
        <p:nvSpPr>
          <p:cNvPr id="247" name="Google Shape;247;p12"/>
          <p:cNvSpPr/>
          <p:nvPr/>
        </p:nvSpPr>
        <p:spPr>
          <a:xfrm>
            <a:off x="2377440" y="5504688"/>
            <a:ext cx="1417320" cy="384048"/>
          </a:xfrm>
          <a:prstGeom prst="roundRect">
            <a:avLst>
              <a:gd name="adj" fmla="val 19048"/>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2"/>
          <p:cNvSpPr txBox="1"/>
          <p:nvPr/>
        </p:nvSpPr>
        <p:spPr>
          <a:xfrm>
            <a:off x="2377440" y="5504688"/>
            <a:ext cx="141732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4140C"/>
              </a:buClr>
              <a:buSzPts val="1200"/>
              <a:buFont typeface="Calibri"/>
              <a:buNone/>
            </a:pPr>
            <a:r>
              <a:rPr lang="en-US" sz="1200" b="1" i="0" u="none" strike="noStrike" cap="none">
                <a:solidFill>
                  <a:srgbClr val="04140C"/>
                </a:solidFill>
                <a:latin typeface="Calibri"/>
                <a:ea typeface="Calibri"/>
                <a:cs typeface="Calibri"/>
                <a:sym typeface="Calibri"/>
              </a:rPr>
              <a:t>fhir_data (JSONB)</a:t>
            </a:r>
            <a:endParaRPr sz="1200" b="0" i="0" u="none" strike="noStrike" cap="none">
              <a:solidFill>
                <a:schemeClr val="dk1"/>
              </a:solidFill>
              <a:latin typeface="Calibri"/>
              <a:ea typeface="Calibri"/>
              <a:cs typeface="Calibri"/>
              <a:sym typeface="Calibri"/>
            </a:endParaRPr>
          </a:p>
        </p:txBody>
      </p:sp>
      <p:sp>
        <p:nvSpPr>
          <p:cNvPr id="249" name="Google Shape;249;p12"/>
          <p:cNvSpPr/>
          <p:nvPr/>
        </p:nvSpPr>
        <p:spPr>
          <a:xfrm>
            <a:off x="3977640" y="5504688"/>
            <a:ext cx="1417320" cy="384048"/>
          </a:xfrm>
          <a:prstGeom prst="roundRect">
            <a:avLst>
              <a:gd name="adj" fmla="val 19048"/>
            </a:avLst>
          </a:prstGeom>
          <a:solidFill>
            <a:schemeClr val="dk1">
              <a:alpha val="10196"/>
            </a:schemeClr>
          </a:solidFill>
          <a:ln w="9525" cap="flat" cmpd="sng">
            <a:solidFill>
              <a:schemeClr val="dk1">
                <a:alpha val="25098"/>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2"/>
          <p:cNvSpPr txBox="1"/>
          <p:nvPr/>
        </p:nvSpPr>
        <p:spPr>
          <a:xfrm>
            <a:off x="3977640" y="5504688"/>
            <a:ext cx="141732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200"/>
              <a:buFont typeface="Calibri"/>
              <a:buNone/>
            </a:pPr>
            <a:r>
              <a:rPr lang="en-US" sz="1200" b="1" i="0" u="none" strike="noStrike" cap="none">
                <a:solidFill>
                  <a:schemeClr val="dk1"/>
                </a:solidFill>
                <a:latin typeface="Calibri"/>
                <a:ea typeface="Calibri"/>
                <a:cs typeface="Calibri"/>
                <a:sym typeface="Calibri"/>
              </a:rPr>
              <a:t>created_at</a:t>
            </a:r>
            <a:endParaRPr sz="1200" b="0" i="0" u="none" strike="noStrike" cap="none">
              <a:solidFill>
                <a:schemeClr val="dk1"/>
              </a:solidFill>
              <a:latin typeface="Calibri"/>
              <a:ea typeface="Calibri"/>
              <a:cs typeface="Calibri"/>
              <a:sym typeface="Calibri"/>
            </a:endParaRPr>
          </a:p>
        </p:txBody>
      </p:sp>
      <p:sp>
        <p:nvSpPr>
          <p:cNvPr id="251" name="Google Shape;251;p12"/>
          <p:cNvSpPr/>
          <p:nvPr/>
        </p:nvSpPr>
        <p:spPr>
          <a:xfrm>
            <a:off x="7589520" y="4206240"/>
            <a:ext cx="4050792" cy="1965960"/>
          </a:xfrm>
          <a:prstGeom prst="roundRect">
            <a:avLst>
              <a:gd name="adj" fmla="val 6512"/>
            </a:avLst>
          </a:prstGeom>
          <a:solidFill>
            <a:schemeClr val="accent1">
              <a:alpha val="14118"/>
            </a:schemeClr>
          </a:solidFill>
          <a:ln w="12700" cap="flat" cmpd="sng">
            <a:solidFill>
              <a:schemeClr val="accent1">
                <a:alpha val="54902"/>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2"/>
          <p:cNvSpPr txBox="1"/>
          <p:nvPr/>
        </p:nvSpPr>
        <p:spPr>
          <a:xfrm>
            <a:off x="7863840" y="4389120"/>
            <a:ext cx="35661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ABDM FHIR R4 export</a:t>
            </a:r>
            <a:endParaRPr sz="1800" b="0" i="0" u="none" strike="noStrike" cap="none">
              <a:solidFill>
                <a:schemeClr val="dk1"/>
              </a:solidFill>
              <a:latin typeface="Calibri"/>
              <a:ea typeface="Calibri"/>
              <a:cs typeface="Calibri"/>
              <a:sym typeface="Calibri"/>
            </a:endParaRPr>
          </a:p>
        </p:txBody>
      </p:sp>
      <p:sp>
        <p:nvSpPr>
          <p:cNvPr id="253" name="Google Shape;253;p12"/>
          <p:cNvSpPr txBox="1"/>
          <p:nvPr/>
        </p:nvSpPr>
        <p:spPr>
          <a:xfrm>
            <a:off x="7863840" y="4846320"/>
            <a:ext cx="3566160" cy="123444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accent3"/>
              </a:buClr>
              <a:buSzPts val="1600"/>
              <a:buFont typeface="Calibri"/>
              <a:buChar char="•"/>
            </a:pPr>
            <a:r>
              <a:rPr lang="en-US" sz="1600" b="0" i="0" u="none" strike="noStrike" cap="none">
                <a:solidFill>
                  <a:schemeClr val="accent3"/>
                </a:solidFill>
                <a:latin typeface="Calibri"/>
                <a:ea typeface="Calibri"/>
                <a:cs typeface="Calibri"/>
                <a:sym typeface="Calibri"/>
              </a:rPr>
              <a:t>Patient / ABHA ID</a:t>
            </a:r>
            <a:endParaRPr sz="160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chemeClr val="accent3"/>
              </a:buClr>
              <a:buSzPts val="1600"/>
              <a:buFont typeface="Calibri"/>
              <a:buChar char="•"/>
            </a:pPr>
            <a:r>
              <a:rPr lang="en-US" sz="1600" b="0" i="0" u="none" strike="noStrike" cap="none">
                <a:solidFill>
                  <a:schemeClr val="accent3"/>
                </a:solidFill>
                <a:latin typeface="Calibri"/>
                <a:ea typeface="Calibri"/>
                <a:cs typeface="Calibri"/>
                <a:sym typeface="Calibri"/>
              </a:rPr>
              <a:t>MedicationRequest</a:t>
            </a:r>
            <a:endParaRPr sz="160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chemeClr val="accent3"/>
              </a:buClr>
              <a:buSzPts val="1600"/>
              <a:buFont typeface="Calibri"/>
              <a:buChar char="•"/>
            </a:pPr>
            <a:r>
              <a:rPr lang="en-US" sz="1600" b="0" i="0" u="none" strike="noStrike" cap="none">
                <a:solidFill>
                  <a:schemeClr val="accent3"/>
                </a:solidFill>
                <a:latin typeface="Calibri"/>
                <a:ea typeface="Calibri"/>
                <a:cs typeface="Calibri"/>
                <a:sym typeface="Calibri"/>
              </a:rPr>
              <a:t>Observation</a:t>
            </a:r>
            <a:endParaRPr sz="160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chemeClr val="accent3"/>
              </a:buClr>
              <a:buSzPts val="1600"/>
              <a:buFont typeface="Calibri"/>
              <a:buChar char="•"/>
            </a:pPr>
            <a:r>
              <a:rPr lang="en-US" sz="1600" b="0" i="0" u="none" strike="noStrike" cap="none">
                <a:solidFill>
                  <a:schemeClr val="accent3"/>
                </a:solidFill>
                <a:latin typeface="Calibri"/>
                <a:ea typeface="Calibri"/>
                <a:cs typeface="Calibri"/>
                <a:sym typeface="Calibri"/>
              </a:rPr>
              <a:t>DiagnosticReport</a:t>
            </a:r>
            <a:endParaRPr sz="1600" b="0" i="0" u="none" strike="noStrike" cap="none">
              <a:solidFill>
                <a:schemeClr val="dk1"/>
              </a:solidFill>
              <a:latin typeface="Calibri"/>
              <a:ea typeface="Calibri"/>
              <a:cs typeface="Calibri"/>
              <a:sym typeface="Calibri"/>
            </a:endParaRPr>
          </a:p>
        </p:txBody>
      </p:sp>
      <p:sp>
        <p:nvSpPr>
          <p:cNvPr id="254" name="Google Shape;254;p12"/>
          <p:cNvSpPr txBox="1">
            <a:spLocks noGrp="1"/>
          </p:cNvSpPr>
          <p:nvPr>
            <p:ph type="sldNum" idx="4294967295"/>
          </p:nvPr>
        </p:nvSpPr>
        <p:spPr>
          <a:xfrm>
            <a:off x="11064240" y="6400800"/>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100" b="0" i="0" u="none" strike="noStrike" cap="none">
                <a:solidFill>
                  <a:srgbClr val="6F8F7F"/>
                </a:solidFill>
                <a:latin typeface="Calibri"/>
                <a:ea typeface="Calibri"/>
                <a:cs typeface="Calibri"/>
                <a:sym typeface="Calibri"/>
              </a:rPr>
              <a:t>6</a:t>
            </a:fld>
            <a:endParaRPr sz="1100" b="0" i="0" u="none" strike="noStrike" cap="none">
              <a:solidFill>
                <a:srgbClr val="6F8F7F"/>
              </a:solidFill>
              <a:latin typeface="Calibri"/>
              <a:ea typeface="Calibri"/>
              <a:cs typeface="Calibri"/>
              <a:sym typeface="Calibri"/>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0"/>
                                        </p:tgtEl>
                                        <p:attrNameLst>
                                          <p:attrName>style.visibility</p:attrName>
                                        </p:attrNameLst>
                                      </p:cBhvr>
                                      <p:to>
                                        <p:strVal val="visible"/>
                                      </p:to>
                                    </p:set>
                                    <p:animEffect transition="in" filter="fade">
                                      <p:cBhvr>
                                        <p:cTn id="7" dur="550"/>
                                        <p:tgtEl>
                                          <p:spTgt spid="220"/>
                                        </p:tgtEl>
                                      </p:cBhvr>
                                    </p:animEffect>
                                  </p:childTnLst>
                                </p:cTn>
                              </p:par>
                              <p:par>
                                <p:cTn id="8" presetID="10" presetClass="entr" presetSubtype="0" fill="hold" nodeType="withEffect">
                                  <p:stCondLst>
                                    <p:cond delay="0"/>
                                  </p:stCondLst>
                                  <p:childTnLst>
                                    <p:set>
                                      <p:cBhvr>
                                        <p:cTn id="9" dur="1" fill="hold">
                                          <p:stCondLst>
                                            <p:cond delay="0"/>
                                          </p:stCondLst>
                                        </p:cTn>
                                        <p:tgtEl>
                                          <p:spTgt spid="221"/>
                                        </p:tgtEl>
                                        <p:attrNameLst>
                                          <p:attrName>style.visibility</p:attrName>
                                        </p:attrNameLst>
                                      </p:cBhvr>
                                      <p:to>
                                        <p:strVal val="visible"/>
                                      </p:to>
                                    </p:set>
                                    <p:animEffect transition="in" filter="fade">
                                      <p:cBhvr>
                                        <p:cTn id="10" dur="550"/>
                                        <p:tgtEl>
                                          <p:spTgt spid="221"/>
                                        </p:tgtEl>
                                      </p:cBhvr>
                                    </p:animEffect>
                                  </p:childTnLst>
                                </p:cTn>
                              </p:par>
                              <p:par>
                                <p:cTn id="11" presetID="10" presetClass="entr" presetSubtype="0" fill="hold" nodeType="withEffect">
                                  <p:stCondLst>
                                    <p:cond delay="0"/>
                                  </p:stCondLst>
                                  <p:childTnLst>
                                    <p:set>
                                      <p:cBhvr>
                                        <p:cTn id="12" dur="1" fill="hold">
                                          <p:stCondLst>
                                            <p:cond delay="0"/>
                                          </p:stCondLst>
                                        </p:cTn>
                                        <p:tgtEl>
                                          <p:spTgt spid="222"/>
                                        </p:tgtEl>
                                        <p:attrNameLst>
                                          <p:attrName>style.visibility</p:attrName>
                                        </p:attrNameLst>
                                      </p:cBhvr>
                                      <p:to>
                                        <p:strVal val="visible"/>
                                      </p:to>
                                    </p:set>
                                    <p:animEffect transition="in" filter="fade">
                                      <p:cBhvr>
                                        <p:cTn id="13" dur="550"/>
                                        <p:tgtEl>
                                          <p:spTgt spid="222"/>
                                        </p:tgtEl>
                                      </p:cBhvr>
                                    </p:animEffect>
                                  </p:childTnLst>
                                </p:cTn>
                              </p:par>
                              <p:par>
                                <p:cTn id="14" presetID="10" presetClass="entr" presetSubtype="0" fill="hold" nodeType="withEffect">
                                  <p:stCondLst>
                                    <p:cond delay="0"/>
                                  </p:stCondLst>
                                  <p:childTnLst>
                                    <p:set>
                                      <p:cBhvr>
                                        <p:cTn id="15" dur="1" fill="hold">
                                          <p:stCondLst>
                                            <p:cond delay="0"/>
                                          </p:stCondLst>
                                        </p:cTn>
                                        <p:tgtEl>
                                          <p:spTgt spid="223"/>
                                        </p:tgtEl>
                                        <p:attrNameLst>
                                          <p:attrName>style.visibility</p:attrName>
                                        </p:attrNameLst>
                                      </p:cBhvr>
                                      <p:to>
                                        <p:strVal val="visible"/>
                                      </p:to>
                                    </p:set>
                                    <p:animEffect transition="in" filter="fade">
                                      <p:cBhvr>
                                        <p:cTn id="16" dur="550"/>
                                        <p:tgtEl>
                                          <p:spTgt spid="223"/>
                                        </p:tgtEl>
                                      </p:cBhvr>
                                    </p:animEffect>
                                  </p:childTnLst>
                                </p:cTn>
                              </p:par>
                              <p:par>
                                <p:cTn id="17" presetID="10" presetClass="entr" presetSubtype="0" fill="hold" nodeType="withEffect">
                                  <p:stCondLst>
                                    <p:cond delay="0"/>
                                  </p:stCondLst>
                                  <p:childTnLst>
                                    <p:set>
                                      <p:cBhvr>
                                        <p:cTn id="18" dur="1" fill="hold">
                                          <p:stCondLst>
                                            <p:cond delay="0"/>
                                          </p:stCondLst>
                                        </p:cTn>
                                        <p:tgtEl>
                                          <p:spTgt spid="224"/>
                                        </p:tgtEl>
                                        <p:attrNameLst>
                                          <p:attrName>style.visibility</p:attrName>
                                        </p:attrNameLst>
                                      </p:cBhvr>
                                      <p:to>
                                        <p:strVal val="visible"/>
                                      </p:to>
                                    </p:set>
                                    <p:animEffect transition="in" filter="fade">
                                      <p:cBhvr>
                                        <p:cTn id="19" dur="550"/>
                                        <p:tgtEl>
                                          <p:spTgt spid="224"/>
                                        </p:tgtEl>
                                      </p:cBhvr>
                                    </p:animEffect>
                                  </p:childTnLst>
                                </p:cTn>
                              </p:par>
                              <p:par>
                                <p:cTn id="20" presetID="10" presetClass="entr" presetSubtype="0" fill="hold" nodeType="withEffect">
                                  <p:stCondLst>
                                    <p:cond delay="380"/>
                                  </p:stCondLst>
                                  <p:childTnLst>
                                    <p:set>
                                      <p:cBhvr>
                                        <p:cTn id="21" dur="1" fill="hold">
                                          <p:stCondLst>
                                            <p:cond delay="0"/>
                                          </p:stCondLst>
                                        </p:cTn>
                                        <p:tgtEl>
                                          <p:spTgt spid="225"/>
                                        </p:tgtEl>
                                        <p:attrNameLst>
                                          <p:attrName>style.visibility</p:attrName>
                                        </p:attrNameLst>
                                      </p:cBhvr>
                                      <p:to>
                                        <p:strVal val="visible"/>
                                      </p:to>
                                    </p:set>
                                    <p:animEffect transition="in" filter="fade">
                                      <p:cBhvr>
                                        <p:cTn id="22" dur="550"/>
                                        <p:tgtEl>
                                          <p:spTgt spid="225"/>
                                        </p:tgtEl>
                                      </p:cBhvr>
                                    </p:animEffect>
                                  </p:childTnLst>
                                </p:cTn>
                              </p:par>
                              <p:par>
                                <p:cTn id="23" presetID="10" presetClass="entr" presetSubtype="0" fill="hold" nodeType="withEffect">
                                  <p:stCondLst>
                                    <p:cond delay="380"/>
                                  </p:stCondLst>
                                  <p:childTnLst>
                                    <p:set>
                                      <p:cBhvr>
                                        <p:cTn id="24" dur="1" fill="hold">
                                          <p:stCondLst>
                                            <p:cond delay="0"/>
                                          </p:stCondLst>
                                        </p:cTn>
                                        <p:tgtEl>
                                          <p:spTgt spid="226"/>
                                        </p:tgtEl>
                                        <p:attrNameLst>
                                          <p:attrName>style.visibility</p:attrName>
                                        </p:attrNameLst>
                                      </p:cBhvr>
                                      <p:to>
                                        <p:strVal val="visible"/>
                                      </p:to>
                                    </p:set>
                                    <p:animEffect transition="in" filter="fade">
                                      <p:cBhvr>
                                        <p:cTn id="25" dur="550"/>
                                        <p:tgtEl>
                                          <p:spTgt spid="226"/>
                                        </p:tgtEl>
                                      </p:cBhvr>
                                    </p:animEffect>
                                  </p:childTnLst>
                                </p:cTn>
                              </p:par>
                              <p:par>
                                <p:cTn id="26" presetID="10" presetClass="entr" presetSubtype="0" fill="hold" nodeType="withEffect">
                                  <p:stCondLst>
                                    <p:cond delay="380"/>
                                  </p:stCondLst>
                                  <p:childTnLst>
                                    <p:set>
                                      <p:cBhvr>
                                        <p:cTn id="27" dur="1" fill="hold">
                                          <p:stCondLst>
                                            <p:cond delay="0"/>
                                          </p:stCondLst>
                                        </p:cTn>
                                        <p:tgtEl>
                                          <p:spTgt spid="227"/>
                                        </p:tgtEl>
                                        <p:attrNameLst>
                                          <p:attrName>style.visibility</p:attrName>
                                        </p:attrNameLst>
                                      </p:cBhvr>
                                      <p:to>
                                        <p:strVal val="visible"/>
                                      </p:to>
                                    </p:set>
                                    <p:animEffect transition="in" filter="fade">
                                      <p:cBhvr>
                                        <p:cTn id="28" dur="550"/>
                                        <p:tgtEl>
                                          <p:spTgt spid="227"/>
                                        </p:tgtEl>
                                      </p:cBhvr>
                                    </p:animEffect>
                                  </p:childTnLst>
                                </p:cTn>
                              </p:par>
                              <p:par>
                                <p:cTn id="29" presetID="10" presetClass="entr" presetSubtype="0" fill="hold" nodeType="withEffect">
                                  <p:stCondLst>
                                    <p:cond delay="380"/>
                                  </p:stCondLst>
                                  <p:childTnLst>
                                    <p:set>
                                      <p:cBhvr>
                                        <p:cTn id="30" dur="1" fill="hold">
                                          <p:stCondLst>
                                            <p:cond delay="0"/>
                                          </p:stCondLst>
                                        </p:cTn>
                                        <p:tgtEl>
                                          <p:spTgt spid="228"/>
                                        </p:tgtEl>
                                        <p:attrNameLst>
                                          <p:attrName>style.visibility</p:attrName>
                                        </p:attrNameLst>
                                      </p:cBhvr>
                                      <p:to>
                                        <p:strVal val="visible"/>
                                      </p:to>
                                    </p:set>
                                    <p:animEffect transition="in" filter="fade">
                                      <p:cBhvr>
                                        <p:cTn id="31" dur="550"/>
                                        <p:tgtEl>
                                          <p:spTgt spid="228"/>
                                        </p:tgtEl>
                                      </p:cBhvr>
                                    </p:animEffect>
                                  </p:childTnLst>
                                </p:cTn>
                              </p:par>
                              <p:par>
                                <p:cTn id="32" presetID="10" presetClass="entr" presetSubtype="0" fill="hold" nodeType="withEffect">
                                  <p:stCondLst>
                                    <p:cond delay="380"/>
                                  </p:stCondLst>
                                  <p:childTnLst>
                                    <p:set>
                                      <p:cBhvr>
                                        <p:cTn id="33" dur="1" fill="hold">
                                          <p:stCondLst>
                                            <p:cond delay="0"/>
                                          </p:stCondLst>
                                        </p:cTn>
                                        <p:tgtEl>
                                          <p:spTgt spid="229"/>
                                        </p:tgtEl>
                                        <p:attrNameLst>
                                          <p:attrName>style.visibility</p:attrName>
                                        </p:attrNameLst>
                                      </p:cBhvr>
                                      <p:to>
                                        <p:strVal val="visible"/>
                                      </p:to>
                                    </p:set>
                                    <p:animEffect transition="in" filter="fade">
                                      <p:cBhvr>
                                        <p:cTn id="34" dur="550"/>
                                        <p:tgtEl>
                                          <p:spTgt spid="229"/>
                                        </p:tgtEl>
                                      </p:cBhvr>
                                    </p:animEffect>
                                  </p:childTnLst>
                                </p:cTn>
                              </p:par>
                              <p:par>
                                <p:cTn id="35" presetID="10" presetClass="entr" presetSubtype="0" fill="hold" nodeType="withEffect">
                                  <p:stCondLst>
                                    <p:cond delay="760"/>
                                  </p:stCondLst>
                                  <p:childTnLst>
                                    <p:set>
                                      <p:cBhvr>
                                        <p:cTn id="36" dur="1" fill="hold">
                                          <p:stCondLst>
                                            <p:cond delay="0"/>
                                          </p:stCondLst>
                                        </p:cTn>
                                        <p:tgtEl>
                                          <p:spTgt spid="230"/>
                                        </p:tgtEl>
                                        <p:attrNameLst>
                                          <p:attrName>style.visibility</p:attrName>
                                        </p:attrNameLst>
                                      </p:cBhvr>
                                      <p:to>
                                        <p:strVal val="visible"/>
                                      </p:to>
                                    </p:set>
                                    <p:animEffect transition="in" filter="fade">
                                      <p:cBhvr>
                                        <p:cTn id="37" dur="550"/>
                                        <p:tgtEl>
                                          <p:spTgt spid="230"/>
                                        </p:tgtEl>
                                      </p:cBhvr>
                                    </p:animEffect>
                                  </p:childTnLst>
                                </p:cTn>
                              </p:par>
                              <p:par>
                                <p:cTn id="38" presetID="10" presetClass="entr" presetSubtype="0" fill="hold" nodeType="withEffect">
                                  <p:stCondLst>
                                    <p:cond delay="760"/>
                                  </p:stCondLst>
                                  <p:childTnLst>
                                    <p:set>
                                      <p:cBhvr>
                                        <p:cTn id="39" dur="1" fill="hold">
                                          <p:stCondLst>
                                            <p:cond delay="0"/>
                                          </p:stCondLst>
                                        </p:cTn>
                                        <p:tgtEl>
                                          <p:spTgt spid="231"/>
                                        </p:tgtEl>
                                        <p:attrNameLst>
                                          <p:attrName>style.visibility</p:attrName>
                                        </p:attrNameLst>
                                      </p:cBhvr>
                                      <p:to>
                                        <p:strVal val="visible"/>
                                      </p:to>
                                    </p:set>
                                    <p:animEffect transition="in" filter="fade">
                                      <p:cBhvr>
                                        <p:cTn id="40" dur="550"/>
                                        <p:tgtEl>
                                          <p:spTgt spid="231"/>
                                        </p:tgtEl>
                                      </p:cBhvr>
                                    </p:animEffect>
                                  </p:childTnLst>
                                </p:cTn>
                              </p:par>
                              <p:par>
                                <p:cTn id="41" presetID="10" presetClass="entr" presetSubtype="0" fill="hold" nodeType="withEffect">
                                  <p:stCondLst>
                                    <p:cond delay="760"/>
                                  </p:stCondLst>
                                  <p:childTnLst>
                                    <p:set>
                                      <p:cBhvr>
                                        <p:cTn id="42" dur="1" fill="hold">
                                          <p:stCondLst>
                                            <p:cond delay="0"/>
                                          </p:stCondLst>
                                        </p:cTn>
                                        <p:tgtEl>
                                          <p:spTgt spid="232"/>
                                        </p:tgtEl>
                                        <p:attrNameLst>
                                          <p:attrName>style.visibility</p:attrName>
                                        </p:attrNameLst>
                                      </p:cBhvr>
                                      <p:to>
                                        <p:strVal val="visible"/>
                                      </p:to>
                                    </p:set>
                                    <p:animEffect transition="in" filter="fade">
                                      <p:cBhvr>
                                        <p:cTn id="43" dur="550"/>
                                        <p:tgtEl>
                                          <p:spTgt spid="232"/>
                                        </p:tgtEl>
                                      </p:cBhvr>
                                    </p:animEffect>
                                  </p:childTnLst>
                                </p:cTn>
                              </p:par>
                              <p:par>
                                <p:cTn id="44" presetID="10" presetClass="entr" presetSubtype="0" fill="hold" nodeType="withEffect">
                                  <p:stCondLst>
                                    <p:cond delay="760"/>
                                  </p:stCondLst>
                                  <p:childTnLst>
                                    <p:set>
                                      <p:cBhvr>
                                        <p:cTn id="45" dur="1" fill="hold">
                                          <p:stCondLst>
                                            <p:cond delay="0"/>
                                          </p:stCondLst>
                                        </p:cTn>
                                        <p:tgtEl>
                                          <p:spTgt spid="233"/>
                                        </p:tgtEl>
                                        <p:attrNameLst>
                                          <p:attrName>style.visibility</p:attrName>
                                        </p:attrNameLst>
                                      </p:cBhvr>
                                      <p:to>
                                        <p:strVal val="visible"/>
                                      </p:to>
                                    </p:set>
                                    <p:animEffect transition="in" filter="fade">
                                      <p:cBhvr>
                                        <p:cTn id="46" dur="550"/>
                                        <p:tgtEl>
                                          <p:spTgt spid="233"/>
                                        </p:tgtEl>
                                      </p:cBhvr>
                                    </p:animEffect>
                                  </p:childTnLst>
                                </p:cTn>
                              </p:par>
                              <p:par>
                                <p:cTn id="47" presetID="10" presetClass="entr" presetSubtype="0" fill="hold" nodeType="withEffect">
                                  <p:stCondLst>
                                    <p:cond delay="760"/>
                                  </p:stCondLst>
                                  <p:childTnLst>
                                    <p:set>
                                      <p:cBhvr>
                                        <p:cTn id="48" dur="1" fill="hold">
                                          <p:stCondLst>
                                            <p:cond delay="0"/>
                                          </p:stCondLst>
                                        </p:cTn>
                                        <p:tgtEl>
                                          <p:spTgt spid="234"/>
                                        </p:tgtEl>
                                        <p:attrNameLst>
                                          <p:attrName>style.visibility</p:attrName>
                                        </p:attrNameLst>
                                      </p:cBhvr>
                                      <p:to>
                                        <p:strVal val="visible"/>
                                      </p:to>
                                    </p:set>
                                    <p:animEffect transition="in" filter="fade">
                                      <p:cBhvr>
                                        <p:cTn id="49" dur="550"/>
                                        <p:tgtEl>
                                          <p:spTgt spid="234"/>
                                        </p:tgtEl>
                                      </p:cBhvr>
                                    </p:animEffect>
                                  </p:childTnLst>
                                </p:cTn>
                              </p:par>
                              <p:par>
                                <p:cTn id="50" presetID="10" presetClass="entr" presetSubtype="0" fill="hold" nodeType="withEffect">
                                  <p:stCondLst>
                                    <p:cond delay="1140"/>
                                  </p:stCondLst>
                                  <p:childTnLst>
                                    <p:set>
                                      <p:cBhvr>
                                        <p:cTn id="51" dur="1" fill="hold">
                                          <p:stCondLst>
                                            <p:cond delay="0"/>
                                          </p:stCondLst>
                                        </p:cTn>
                                        <p:tgtEl>
                                          <p:spTgt spid="235"/>
                                        </p:tgtEl>
                                        <p:attrNameLst>
                                          <p:attrName>style.visibility</p:attrName>
                                        </p:attrNameLst>
                                      </p:cBhvr>
                                      <p:to>
                                        <p:strVal val="visible"/>
                                      </p:to>
                                    </p:set>
                                    <p:animEffect transition="in" filter="fade">
                                      <p:cBhvr>
                                        <p:cTn id="52" dur="550"/>
                                        <p:tgtEl>
                                          <p:spTgt spid="235"/>
                                        </p:tgtEl>
                                      </p:cBhvr>
                                    </p:animEffect>
                                  </p:childTnLst>
                                </p:cTn>
                              </p:par>
                              <p:par>
                                <p:cTn id="53" presetID="10" presetClass="entr" presetSubtype="0" fill="hold" nodeType="withEffect">
                                  <p:stCondLst>
                                    <p:cond delay="1140"/>
                                  </p:stCondLst>
                                  <p:childTnLst>
                                    <p:set>
                                      <p:cBhvr>
                                        <p:cTn id="54" dur="1" fill="hold">
                                          <p:stCondLst>
                                            <p:cond delay="0"/>
                                          </p:stCondLst>
                                        </p:cTn>
                                        <p:tgtEl>
                                          <p:spTgt spid="236"/>
                                        </p:tgtEl>
                                        <p:attrNameLst>
                                          <p:attrName>style.visibility</p:attrName>
                                        </p:attrNameLst>
                                      </p:cBhvr>
                                      <p:to>
                                        <p:strVal val="visible"/>
                                      </p:to>
                                    </p:set>
                                    <p:animEffect transition="in" filter="fade">
                                      <p:cBhvr>
                                        <p:cTn id="55" dur="550"/>
                                        <p:tgtEl>
                                          <p:spTgt spid="236"/>
                                        </p:tgtEl>
                                      </p:cBhvr>
                                    </p:animEffect>
                                  </p:childTnLst>
                                </p:cTn>
                              </p:par>
                              <p:par>
                                <p:cTn id="56" presetID="10" presetClass="entr" presetSubtype="0" fill="hold" nodeType="withEffect">
                                  <p:stCondLst>
                                    <p:cond delay="1140"/>
                                  </p:stCondLst>
                                  <p:childTnLst>
                                    <p:set>
                                      <p:cBhvr>
                                        <p:cTn id="57" dur="1" fill="hold">
                                          <p:stCondLst>
                                            <p:cond delay="0"/>
                                          </p:stCondLst>
                                        </p:cTn>
                                        <p:tgtEl>
                                          <p:spTgt spid="237"/>
                                        </p:tgtEl>
                                        <p:attrNameLst>
                                          <p:attrName>style.visibility</p:attrName>
                                        </p:attrNameLst>
                                      </p:cBhvr>
                                      <p:to>
                                        <p:strVal val="visible"/>
                                      </p:to>
                                    </p:set>
                                    <p:animEffect transition="in" filter="fade">
                                      <p:cBhvr>
                                        <p:cTn id="58" dur="550"/>
                                        <p:tgtEl>
                                          <p:spTgt spid="237"/>
                                        </p:tgtEl>
                                      </p:cBhvr>
                                    </p:animEffect>
                                  </p:childTnLst>
                                </p:cTn>
                              </p:par>
                              <p:par>
                                <p:cTn id="59" presetID="10" presetClass="entr" presetSubtype="0" fill="hold" nodeType="withEffect">
                                  <p:stCondLst>
                                    <p:cond delay="1140"/>
                                  </p:stCondLst>
                                  <p:childTnLst>
                                    <p:set>
                                      <p:cBhvr>
                                        <p:cTn id="60" dur="1" fill="hold">
                                          <p:stCondLst>
                                            <p:cond delay="0"/>
                                          </p:stCondLst>
                                        </p:cTn>
                                        <p:tgtEl>
                                          <p:spTgt spid="238"/>
                                        </p:tgtEl>
                                        <p:attrNameLst>
                                          <p:attrName>style.visibility</p:attrName>
                                        </p:attrNameLst>
                                      </p:cBhvr>
                                      <p:to>
                                        <p:strVal val="visible"/>
                                      </p:to>
                                    </p:set>
                                    <p:animEffect transition="in" filter="fade">
                                      <p:cBhvr>
                                        <p:cTn id="61" dur="550"/>
                                        <p:tgtEl>
                                          <p:spTgt spid="238"/>
                                        </p:tgtEl>
                                      </p:cBhvr>
                                    </p:animEffect>
                                  </p:childTnLst>
                                </p:cTn>
                              </p:par>
                              <p:par>
                                <p:cTn id="62" presetID="10" presetClass="entr" presetSubtype="0" fill="hold" nodeType="withEffect">
                                  <p:stCondLst>
                                    <p:cond delay="1140"/>
                                  </p:stCondLst>
                                  <p:childTnLst>
                                    <p:set>
                                      <p:cBhvr>
                                        <p:cTn id="63" dur="1" fill="hold">
                                          <p:stCondLst>
                                            <p:cond delay="0"/>
                                          </p:stCondLst>
                                        </p:cTn>
                                        <p:tgtEl>
                                          <p:spTgt spid="239"/>
                                        </p:tgtEl>
                                        <p:attrNameLst>
                                          <p:attrName>style.visibility</p:attrName>
                                        </p:attrNameLst>
                                      </p:cBhvr>
                                      <p:to>
                                        <p:strVal val="visible"/>
                                      </p:to>
                                    </p:set>
                                    <p:animEffect transition="in" filter="fade">
                                      <p:cBhvr>
                                        <p:cTn id="64" dur="550"/>
                                        <p:tgtEl>
                                          <p:spTgt spid="239"/>
                                        </p:tgtEl>
                                      </p:cBhvr>
                                    </p:animEffect>
                                  </p:childTnLst>
                                </p:cTn>
                              </p:par>
                              <p:par>
                                <p:cTn id="65" presetID="10" presetClass="entr" presetSubtype="0" fill="hold" nodeType="withEffect">
                                  <p:stCondLst>
                                    <p:cond delay="1140"/>
                                  </p:stCondLst>
                                  <p:childTnLst>
                                    <p:set>
                                      <p:cBhvr>
                                        <p:cTn id="66" dur="1" fill="hold">
                                          <p:stCondLst>
                                            <p:cond delay="0"/>
                                          </p:stCondLst>
                                        </p:cTn>
                                        <p:tgtEl>
                                          <p:spTgt spid="240"/>
                                        </p:tgtEl>
                                        <p:attrNameLst>
                                          <p:attrName>style.visibility</p:attrName>
                                        </p:attrNameLst>
                                      </p:cBhvr>
                                      <p:to>
                                        <p:strVal val="visible"/>
                                      </p:to>
                                    </p:set>
                                    <p:animEffect transition="in" filter="fade">
                                      <p:cBhvr>
                                        <p:cTn id="67" dur="550"/>
                                        <p:tgtEl>
                                          <p:spTgt spid="240"/>
                                        </p:tgtEl>
                                      </p:cBhvr>
                                    </p:animEffect>
                                  </p:childTnLst>
                                </p:cTn>
                              </p:par>
                              <p:par>
                                <p:cTn id="68" presetID="10" presetClass="entr" presetSubtype="0" fill="hold" nodeType="withEffect">
                                  <p:stCondLst>
                                    <p:cond delay="1140"/>
                                  </p:stCondLst>
                                  <p:childTnLst>
                                    <p:set>
                                      <p:cBhvr>
                                        <p:cTn id="69" dur="1" fill="hold">
                                          <p:stCondLst>
                                            <p:cond delay="0"/>
                                          </p:stCondLst>
                                        </p:cTn>
                                        <p:tgtEl>
                                          <p:spTgt spid="241"/>
                                        </p:tgtEl>
                                        <p:attrNameLst>
                                          <p:attrName>style.visibility</p:attrName>
                                        </p:attrNameLst>
                                      </p:cBhvr>
                                      <p:to>
                                        <p:strVal val="visible"/>
                                      </p:to>
                                    </p:set>
                                    <p:animEffect transition="in" filter="fade">
                                      <p:cBhvr>
                                        <p:cTn id="70" dur="550"/>
                                        <p:tgtEl>
                                          <p:spTgt spid="241"/>
                                        </p:tgtEl>
                                      </p:cBhvr>
                                    </p:animEffect>
                                  </p:childTnLst>
                                </p:cTn>
                              </p:par>
                              <p:par>
                                <p:cTn id="71" presetID="10" presetClass="entr" presetSubtype="0" fill="hold" nodeType="withEffect">
                                  <p:stCondLst>
                                    <p:cond delay="1140"/>
                                  </p:stCondLst>
                                  <p:childTnLst>
                                    <p:set>
                                      <p:cBhvr>
                                        <p:cTn id="72" dur="1" fill="hold">
                                          <p:stCondLst>
                                            <p:cond delay="0"/>
                                          </p:stCondLst>
                                        </p:cTn>
                                        <p:tgtEl>
                                          <p:spTgt spid="242"/>
                                        </p:tgtEl>
                                        <p:attrNameLst>
                                          <p:attrName>style.visibility</p:attrName>
                                        </p:attrNameLst>
                                      </p:cBhvr>
                                      <p:to>
                                        <p:strVal val="visible"/>
                                      </p:to>
                                    </p:set>
                                    <p:animEffect transition="in" filter="fade">
                                      <p:cBhvr>
                                        <p:cTn id="73" dur="550"/>
                                        <p:tgtEl>
                                          <p:spTgt spid="242"/>
                                        </p:tgtEl>
                                      </p:cBhvr>
                                    </p:animEffect>
                                  </p:childTnLst>
                                </p:cTn>
                              </p:par>
                              <p:par>
                                <p:cTn id="74" presetID="10" presetClass="entr" presetSubtype="0" fill="hold" nodeType="withEffect">
                                  <p:stCondLst>
                                    <p:cond delay="1140"/>
                                  </p:stCondLst>
                                  <p:childTnLst>
                                    <p:set>
                                      <p:cBhvr>
                                        <p:cTn id="75" dur="1" fill="hold">
                                          <p:stCondLst>
                                            <p:cond delay="0"/>
                                          </p:stCondLst>
                                        </p:cTn>
                                        <p:tgtEl>
                                          <p:spTgt spid="243"/>
                                        </p:tgtEl>
                                        <p:attrNameLst>
                                          <p:attrName>style.visibility</p:attrName>
                                        </p:attrNameLst>
                                      </p:cBhvr>
                                      <p:to>
                                        <p:strVal val="visible"/>
                                      </p:to>
                                    </p:set>
                                    <p:animEffect transition="in" filter="fade">
                                      <p:cBhvr>
                                        <p:cTn id="76" dur="550"/>
                                        <p:tgtEl>
                                          <p:spTgt spid="243"/>
                                        </p:tgtEl>
                                      </p:cBhvr>
                                    </p:animEffect>
                                  </p:childTnLst>
                                </p:cTn>
                              </p:par>
                              <p:par>
                                <p:cTn id="77" presetID="10" presetClass="entr" presetSubtype="0" fill="hold" nodeType="withEffect">
                                  <p:stCondLst>
                                    <p:cond delay="1140"/>
                                  </p:stCondLst>
                                  <p:childTnLst>
                                    <p:set>
                                      <p:cBhvr>
                                        <p:cTn id="78" dur="1" fill="hold">
                                          <p:stCondLst>
                                            <p:cond delay="0"/>
                                          </p:stCondLst>
                                        </p:cTn>
                                        <p:tgtEl>
                                          <p:spTgt spid="244"/>
                                        </p:tgtEl>
                                        <p:attrNameLst>
                                          <p:attrName>style.visibility</p:attrName>
                                        </p:attrNameLst>
                                      </p:cBhvr>
                                      <p:to>
                                        <p:strVal val="visible"/>
                                      </p:to>
                                    </p:set>
                                    <p:animEffect transition="in" filter="fade">
                                      <p:cBhvr>
                                        <p:cTn id="79" dur="550"/>
                                        <p:tgtEl>
                                          <p:spTgt spid="244"/>
                                        </p:tgtEl>
                                      </p:cBhvr>
                                    </p:animEffect>
                                  </p:childTnLst>
                                </p:cTn>
                              </p:par>
                              <p:par>
                                <p:cTn id="80" presetID="10" presetClass="entr" presetSubtype="0" fill="hold" nodeType="withEffect">
                                  <p:stCondLst>
                                    <p:cond delay="1140"/>
                                  </p:stCondLst>
                                  <p:childTnLst>
                                    <p:set>
                                      <p:cBhvr>
                                        <p:cTn id="81" dur="1" fill="hold">
                                          <p:stCondLst>
                                            <p:cond delay="0"/>
                                          </p:stCondLst>
                                        </p:cTn>
                                        <p:tgtEl>
                                          <p:spTgt spid="245"/>
                                        </p:tgtEl>
                                        <p:attrNameLst>
                                          <p:attrName>style.visibility</p:attrName>
                                        </p:attrNameLst>
                                      </p:cBhvr>
                                      <p:to>
                                        <p:strVal val="visible"/>
                                      </p:to>
                                    </p:set>
                                    <p:animEffect transition="in" filter="fade">
                                      <p:cBhvr>
                                        <p:cTn id="82" dur="550"/>
                                        <p:tgtEl>
                                          <p:spTgt spid="245"/>
                                        </p:tgtEl>
                                      </p:cBhvr>
                                    </p:animEffect>
                                  </p:childTnLst>
                                </p:cTn>
                              </p:par>
                              <p:par>
                                <p:cTn id="83" presetID="10" presetClass="entr" presetSubtype="0" fill="hold" nodeType="withEffect">
                                  <p:stCondLst>
                                    <p:cond delay="1140"/>
                                  </p:stCondLst>
                                  <p:childTnLst>
                                    <p:set>
                                      <p:cBhvr>
                                        <p:cTn id="84" dur="1" fill="hold">
                                          <p:stCondLst>
                                            <p:cond delay="0"/>
                                          </p:stCondLst>
                                        </p:cTn>
                                        <p:tgtEl>
                                          <p:spTgt spid="246"/>
                                        </p:tgtEl>
                                        <p:attrNameLst>
                                          <p:attrName>style.visibility</p:attrName>
                                        </p:attrNameLst>
                                      </p:cBhvr>
                                      <p:to>
                                        <p:strVal val="visible"/>
                                      </p:to>
                                    </p:set>
                                    <p:animEffect transition="in" filter="fade">
                                      <p:cBhvr>
                                        <p:cTn id="85" dur="550"/>
                                        <p:tgtEl>
                                          <p:spTgt spid="246"/>
                                        </p:tgtEl>
                                      </p:cBhvr>
                                    </p:animEffect>
                                  </p:childTnLst>
                                </p:cTn>
                              </p:par>
                              <p:par>
                                <p:cTn id="86" presetID="10" presetClass="entr" presetSubtype="0" fill="hold" nodeType="withEffect">
                                  <p:stCondLst>
                                    <p:cond delay="1140"/>
                                  </p:stCondLst>
                                  <p:childTnLst>
                                    <p:set>
                                      <p:cBhvr>
                                        <p:cTn id="87" dur="1" fill="hold">
                                          <p:stCondLst>
                                            <p:cond delay="0"/>
                                          </p:stCondLst>
                                        </p:cTn>
                                        <p:tgtEl>
                                          <p:spTgt spid="247"/>
                                        </p:tgtEl>
                                        <p:attrNameLst>
                                          <p:attrName>style.visibility</p:attrName>
                                        </p:attrNameLst>
                                      </p:cBhvr>
                                      <p:to>
                                        <p:strVal val="visible"/>
                                      </p:to>
                                    </p:set>
                                    <p:animEffect transition="in" filter="fade">
                                      <p:cBhvr>
                                        <p:cTn id="88" dur="550"/>
                                        <p:tgtEl>
                                          <p:spTgt spid="247"/>
                                        </p:tgtEl>
                                      </p:cBhvr>
                                    </p:animEffect>
                                  </p:childTnLst>
                                </p:cTn>
                              </p:par>
                              <p:par>
                                <p:cTn id="89" presetID="10" presetClass="entr" presetSubtype="0" fill="hold" nodeType="withEffect">
                                  <p:stCondLst>
                                    <p:cond delay="1140"/>
                                  </p:stCondLst>
                                  <p:childTnLst>
                                    <p:set>
                                      <p:cBhvr>
                                        <p:cTn id="90" dur="1" fill="hold">
                                          <p:stCondLst>
                                            <p:cond delay="0"/>
                                          </p:stCondLst>
                                        </p:cTn>
                                        <p:tgtEl>
                                          <p:spTgt spid="248"/>
                                        </p:tgtEl>
                                        <p:attrNameLst>
                                          <p:attrName>style.visibility</p:attrName>
                                        </p:attrNameLst>
                                      </p:cBhvr>
                                      <p:to>
                                        <p:strVal val="visible"/>
                                      </p:to>
                                    </p:set>
                                    <p:animEffect transition="in" filter="fade">
                                      <p:cBhvr>
                                        <p:cTn id="91" dur="550"/>
                                        <p:tgtEl>
                                          <p:spTgt spid="248"/>
                                        </p:tgtEl>
                                      </p:cBhvr>
                                    </p:animEffect>
                                  </p:childTnLst>
                                </p:cTn>
                              </p:par>
                              <p:par>
                                <p:cTn id="92" presetID="10" presetClass="entr" presetSubtype="0" fill="hold" nodeType="withEffect">
                                  <p:stCondLst>
                                    <p:cond delay="1140"/>
                                  </p:stCondLst>
                                  <p:childTnLst>
                                    <p:set>
                                      <p:cBhvr>
                                        <p:cTn id="93" dur="1" fill="hold">
                                          <p:stCondLst>
                                            <p:cond delay="0"/>
                                          </p:stCondLst>
                                        </p:cTn>
                                        <p:tgtEl>
                                          <p:spTgt spid="249"/>
                                        </p:tgtEl>
                                        <p:attrNameLst>
                                          <p:attrName>style.visibility</p:attrName>
                                        </p:attrNameLst>
                                      </p:cBhvr>
                                      <p:to>
                                        <p:strVal val="visible"/>
                                      </p:to>
                                    </p:set>
                                    <p:animEffect transition="in" filter="fade">
                                      <p:cBhvr>
                                        <p:cTn id="94" dur="550"/>
                                        <p:tgtEl>
                                          <p:spTgt spid="249"/>
                                        </p:tgtEl>
                                      </p:cBhvr>
                                    </p:animEffect>
                                  </p:childTnLst>
                                </p:cTn>
                              </p:par>
                              <p:par>
                                <p:cTn id="95" presetID="10" presetClass="entr" presetSubtype="0" fill="hold" nodeType="withEffect">
                                  <p:stCondLst>
                                    <p:cond delay="1140"/>
                                  </p:stCondLst>
                                  <p:childTnLst>
                                    <p:set>
                                      <p:cBhvr>
                                        <p:cTn id="96" dur="1" fill="hold">
                                          <p:stCondLst>
                                            <p:cond delay="0"/>
                                          </p:stCondLst>
                                        </p:cTn>
                                        <p:tgtEl>
                                          <p:spTgt spid="250"/>
                                        </p:tgtEl>
                                        <p:attrNameLst>
                                          <p:attrName>style.visibility</p:attrName>
                                        </p:attrNameLst>
                                      </p:cBhvr>
                                      <p:to>
                                        <p:strVal val="visible"/>
                                      </p:to>
                                    </p:set>
                                    <p:animEffect transition="in" filter="fade">
                                      <p:cBhvr>
                                        <p:cTn id="97" dur="550"/>
                                        <p:tgtEl>
                                          <p:spTgt spid="250"/>
                                        </p:tgtEl>
                                      </p:cBhvr>
                                    </p:animEffect>
                                  </p:childTnLst>
                                </p:cTn>
                              </p:par>
                              <p:par>
                                <p:cTn id="98" presetID="10" presetClass="entr" presetSubtype="0" fill="hold" nodeType="withEffect">
                                  <p:stCondLst>
                                    <p:cond delay="1520"/>
                                  </p:stCondLst>
                                  <p:childTnLst>
                                    <p:set>
                                      <p:cBhvr>
                                        <p:cTn id="99" dur="1" fill="hold">
                                          <p:stCondLst>
                                            <p:cond delay="0"/>
                                          </p:stCondLst>
                                        </p:cTn>
                                        <p:tgtEl>
                                          <p:spTgt spid="251"/>
                                        </p:tgtEl>
                                        <p:attrNameLst>
                                          <p:attrName>style.visibility</p:attrName>
                                        </p:attrNameLst>
                                      </p:cBhvr>
                                      <p:to>
                                        <p:strVal val="visible"/>
                                      </p:to>
                                    </p:set>
                                    <p:animEffect transition="in" filter="fade">
                                      <p:cBhvr>
                                        <p:cTn id="100" dur="550"/>
                                        <p:tgtEl>
                                          <p:spTgt spid="251"/>
                                        </p:tgtEl>
                                      </p:cBhvr>
                                    </p:animEffect>
                                  </p:childTnLst>
                                </p:cTn>
                              </p:par>
                              <p:par>
                                <p:cTn id="101" presetID="10" presetClass="entr" presetSubtype="0" fill="hold" nodeType="withEffect">
                                  <p:stCondLst>
                                    <p:cond delay="1520"/>
                                  </p:stCondLst>
                                  <p:childTnLst>
                                    <p:set>
                                      <p:cBhvr>
                                        <p:cTn id="102" dur="1" fill="hold">
                                          <p:stCondLst>
                                            <p:cond delay="0"/>
                                          </p:stCondLst>
                                        </p:cTn>
                                        <p:tgtEl>
                                          <p:spTgt spid="252"/>
                                        </p:tgtEl>
                                        <p:attrNameLst>
                                          <p:attrName>style.visibility</p:attrName>
                                        </p:attrNameLst>
                                      </p:cBhvr>
                                      <p:to>
                                        <p:strVal val="visible"/>
                                      </p:to>
                                    </p:set>
                                    <p:animEffect transition="in" filter="fade">
                                      <p:cBhvr>
                                        <p:cTn id="103" dur="550"/>
                                        <p:tgtEl>
                                          <p:spTgt spid="252"/>
                                        </p:tgtEl>
                                      </p:cBhvr>
                                    </p:animEffect>
                                  </p:childTnLst>
                                </p:cTn>
                              </p:par>
                              <p:par>
                                <p:cTn id="104" presetID="10" presetClass="entr" presetSubtype="0" fill="hold" nodeType="withEffect">
                                  <p:stCondLst>
                                    <p:cond delay="1520"/>
                                  </p:stCondLst>
                                  <p:childTnLst>
                                    <p:set>
                                      <p:cBhvr>
                                        <p:cTn id="105" dur="1" fill="hold">
                                          <p:stCondLst>
                                            <p:cond delay="0"/>
                                          </p:stCondLst>
                                        </p:cTn>
                                        <p:tgtEl>
                                          <p:spTgt spid="253"/>
                                        </p:tgtEl>
                                        <p:attrNameLst>
                                          <p:attrName>style.visibility</p:attrName>
                                        </p:attrNameLst>
                                      </p:cBhvr>
                                      <p:to>
                                        <p:strVal val="visible"/>
                                      </p:to>
                                    </p:set>
                                    <p:animEffect transition="in" filter="fade">
                                      <p:cBhvr>
                                        <p:cTn id="106" dur="550"/>
                                        <p:tgtEl>
                                          <p:spTgt spid="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3"/>
          <p:cNvSpPr txBox="1">
            <a:spLocks noGrp="1"/>
          </p:cNvSpPr>
          <p:nvPr>
            <p:ph type="title"/>
          </p:nvPr>
        </p:nvSpPr>
        <p:spPr>
          <a:xfrm>
            <a:off x="548640" y="365760"/>
            <a:ext cx="11064240" cy="82296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libri"/>
              <a:buNone/>
            </a:pPr>
            <a:r>
              <a:rPr lang="en-US" sz="3600" b="1">
                <a:solidFill>
                  <a:schemeClr val="dk1"/>
                </a:solidFill>
              </a:rPr>
              <a:t>Tech stack</a:t>
            </a:r>
            <a:endParaRPr sz="3600"/>
          </a:p>
        </p:txBody>
      </p:sp>
      <p:sp>
        <p:nvSpPr>
          <p:cNvPr id="261" name="Google Shape;261;p13"/>
          <p:cNvSpPr/>
          <p:nvPr/>
        </p:nvSpPr>
        <p:spPr>
          <a:xfrm>
            <a:off x="548640" y="1508760"/>
            <a:ext cx="11064240" cy="676656"/>
          </a:xfrm>
          <a:prstGeom prst="roundRect">
            <a:avLst>
              <a:gd name="adj" fmla="val 18919"/>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3"/>
          <p:cNvSpPr/>
          <p:nvPr/>
        </p:nvSpPr>
        <p:spPr>
          <a:xfrm>
            <a:off x="731520" y="1600200"/>
            <a:ext cx="493776" cy="49377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3" name="Google Shape;263;p13" descr="preencoded.png"/>
          <p:cNvPicPr preferRelativeResize="0"/>
          <p:nvPr/>
        </p:nvPicPr>
        <p:blipFill rotWithShape="1">
          <a:blip r:embed="rId3">
            <a:alphaModFix/>
          </a:blip>
          <a:srcRect/>
          <a:stretch/>
        </p:blipFill>
        <p:spPr>
          <a:xfrm>
            <a:off x="859902" y="1728582"/>
            <a:ext cx="237012" cy="237012"/>
          </a:xfrm>
          <a:prstGeom prst="rect">
            <a:avLst/>
          </a:prstGeom>
          <a:noFill/>
          <a:ln>
            <a:noFill/>
          </a:ln>
        </p:spPr>
      </p:pic>
      <p:sp>
        <p:nvSpPr>
          <p:cNvPr id="264" name="Google Shape;264;p13"/>
          <p:cNvSpPr txBox="1"/>
          <p:nvPr/>
        </p:nvSpPr>
        <p:spPr>
          <a:xfrm>
            <a:off x="1463040" y="1508760"/>
            <a:ext cx="210312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Frontend</a:t>
            </a:r>
            <a:endParaRPr sz="1400" b="0" i="0" u="none" strike="noStrike" cap="none">
              <a:solidFill>
                <a:schemeClr val="dk1"/>
              </a:solidFill>
              <a:latin typeface="Calibri"/>
              <a:ea typeface="Calibri"/>
              <a:cs typeface="Calibri"/>
              <a:sym typeface="Calibri"/>
            </a:endParaRPr>
          </a:p>
        </p:txBody>
      </p:sp>
      <p:sp>
        <p:nvSpPr>
          <p:cNvPr id="265" name="Google Shape;265;p13"/>
          <p:cNvSpPr txBox="1"/>
          <p:nvPr/>
        </p:nvSpPr>
        <p:spPr>
          <a:xfrm>
            <a:off x="3566160" y="1508760"/>
            <a:ext cx="338328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Next.js 16 + TypeScript</a:t>
            </a:r>
            <a:endParaRPr sz="2000" b="0" i="0" u="none" strike="noStrike" cap="none">
              <a:solidFill>
                <a:schemeClr val="dk1"/>
              </a:solidFill>
              <a:latin typeface="Calibri"/>
              <a:ea typeface="Calibri"/>
              <a:cs typeface="Calibri"/>
              <a:sym typeface="Calibri"/>
            </a:endParaRPr>
          </a:p>
        </p:txBody>
      </p:sp>
      <p:sp>
        <p:nvSpPr>
          <p:cNvPr id="266" name="Google Shape;266;p13"/>
          <p:cNvSpPr txBox="1"/>
          <p:nvPr/>
        </p:nvSpPr>
        <p:spPr>
          <a:xfrm>
            <a:off x="7040880" y="1508760"/>
            <a:ext cx="438912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Responsive dashboard in four languages, built with Turbopack.</a:t>
            </a:r>
            <a:endParaRPr sz="1400" b="0" i="0" u="none" strike="noStrike" cap="none">
              <a:solidFill>
                <a:schemeClr val="dk1"/>
              </a:solidFill>
              <a:latin typeface="Calibri"/>
              <a:ea typeface="Calibri"/>
              <a:cs typeface="Calibri"/>
              <a:sym typeface="Calibri"/>
            </a:endParaRPr>
          </a:p>
        </p:txBody>
      </p:sp>
      <p:sp>
        <p:nvSpPr>
          <p:cNvPr id="267" name="Google Shape;267;p13"/>
          <p:cNvSpPr/>
          <p:nvPr/>
        </p:nvSpPr>
        <p:spPr>
          <a:xfrm>
            <a:off x="548640" y="2295144"/>
            <a:ext cx="11064240" cy="676656"/>
          </a:xfrm>
          <a:prstGeom prst="roundRect">
            <a:avLst>
              <a:gd name="adj" fmla="val 18919"/>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3"/>
          <p:cNvSpPr/>
          <p:nvPr/>
        </p:nvSpPr>
        <p:spPr>
          <a:xfrm>
            <a:off x="731520" y="2386584"/>
            <a:ext cx="493776" cy="493776"/>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9" name="Google Shape;269;p13" descr="preencoded.png"/>
          <p:cNvPicPr preferRelativeResize="0"/>
          <p:nvPr/>
        </p:nvPicPr>
        <p:blipFill rotWithShape="1">
          <a:blip r:embed="rId4">
            <a:alphaModFix/>
          </a:blip>
          <a:srcRect/>
          <a:stretch/>
        </p:blipFill>
        <p:spPr>
          <a:xfrm>
            <a:off x="859902" y="2514966"/>
            <a:ext cx="237012" cy="237012"/>
          </a:xfrm>
          <a:prstGeom prst="rect">
            <a:avLst/>
          </a:prstGeom>
          <a:noFill/>
          <a:ln>
            <a:noFill/>
          </a:ln>
        </p:spPr>
      </p:pic>
      <p:sp>
        <p:nvSpPr>
          <p:cNvPr id="270" name="Google Shape;270;p13"/>
          <p:cNvSpPr txBox="1"/>
          <p:nvPr/>
        </p:nvSpPr>
        <p:spPr>
          <a:xfrm>
            <a:off x="1463040" y="2295144"/>
            <a:ext cx="210312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AI engine</a:t>
            </a:r>
            <a:endParaRPr sz="1400" b="0" i="0" u="none" strike="noStrike" cap="none">
              <a:solidFill>
                <a:schemeClr val="dk1"/>
              </a:solidFill>
              <a:latin typeface="Calibri"/>
              <a:ea typeface="Calibri"/>
              <a:cs typeface="Calibri"/>
              <a:sym typeface="Calibri"/>
            </a:endParaRPr>
          </a:p>
        </p:txBody>
      </p:sp>
      <p:sp>
        <p:nvSpPr>
          <p:cNvPr id="271" name="Google Shape;271;p13"/>
          <p:cNvSpPr txBox="1"/>
          <p:nvPr/>
        </p:nvSpPr>
        <p:spPr>
          <a:xfrm>
            <a:off x="3566160" y="2295144"/>
            <a:ext cx="338328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Google Gemini 3.8 Flash</a:t>
            </a:r>
            <a:endParaRPr sz="2000" b="0" i="0" u="none" strike="noStrike" cap="none">
              <a:solidFill>
                <a:schemeClr val="dk1"/>
              </a:solidFill>
              <a:latin typeface="Calibri"/>
              <a:ea typeface="Calibri"/>
              <a:cs typeface="Calibri"/>
              <a:sym typeface="Calibri"/>
            </a:endParaRPr>
          </a:p>
        </p:txBody>
      </p:sp>
      <p:sp>
        <p:nvSpPr>
          <p:cNvPr id="272" name="Google Shape;272;p13"/>
          <p:cNvSpPr txBox="1"/>
          <p:nvPr/>
        </p:nvSpPr>
        <p:spPr>
          <a:xfrm>
            <a:off x="7040880" y="2295144"/>
            <a:ext cx="438912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Multimodal vision OCR, plain-language summaries and chat.</a:t>
            </a:r>
            <a:endParaRPr sz="1400" b="0" i="0" u="none" strike="noStrike" cap="none">
              <a:solidFill>
                <a:schemeClr val="dk1"/>
              </a:solidFill>
              <a:latin typeface="Calibri"/>
              <a:ea typeface="Calibri"/>
              <a:cs typeface="Calibri"/>
              <a:sym typeface="Calibri"/>
            </a:endParaRPr>
          </a:p>
        </p:txBody>
      </p:sp>
      <p:sp>
        <p:nvSpPr>
          <p:cNvPr id="273" name="Google Shape;273;p13"/>
          <p:cNvSpPr/>
          <p:nvPr/>
        </p:nvSpPr>
        <p:spPr>
          <a:xfrm>
            <a:off x="548640" y="3081528"/>
            <a:ext cx="11064240" cy="676656"/>
          </a:xfrm>
          <a:prstGeom prst="roundRect">
            <a:avLst>
              <a:gd name="adj" fmla="val 18919"/>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3"/>
          <p:cNvSpPr/>
          <p:nvPr/>
        </p:nvSpPr>
        <p:spPr>
          <a:xfrm>
            <a:off x="731520" y="3172968"/>
            <a:ext cx="493776" cy="49377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5" name="Google Shape;275;p13" descr="preencoded.png"/>
          <p:cNvPicPr preferRelativeResize="0"/>
          <p:nvPr/>
        </p:nvPicPr>
        <p:blipFill rotWithShape="1">
          <a:blip r:embed="rId5">
            <a:alphaModFix/>
          </a:blip>
          <a:srcRect/>
          <a:stretch/>
        </p:blipFill>
        <p:spPr>
          <a:xfrm>
            <a:off x="859902" y="3301350"/>
            <a:ext cx="237012" cy="237012"/>
          </a:xfrm>
          <a:prstGeom prst="rect">
            <a:avLst/>
          </a:prstGeom>
          <a:noFill/>
          <a:ln>
            <a:noFill/>
          </a:ln>
        </p:spPr>
      </p:pic>
      <p:sp>
        <p:nvSpPr>
          <p:cNvPr id="276" name="Google Shape;276;p13"/>
          <p:cNvSpPr txBox="1"/>
          <p:nvPr/>
        </p:nvSpPr>
        <p:spPr>
          <a:xfrm>
            <a:off x="1463040" y="3081528"/>
            <a:ext cx="210312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Backend</a:t>
            </a:r>
            <a:endParaRPr sz="1400" b="0" i="0" u="none" strike="noStrike" cap="none">
              <a:solidFill>
                <a:schemeClr val="dk1"/>
              </a:solidFill>
              <a:latin typeface="Calibri"/>
              <a:ea typeface="Calibri"/>
              <a:cs typeface="Calibri"/>
              <a:sym typeface="Calibri"/>
            </a:endParaRPr>
          </a:p>
        </p:txBody>
      </p:sp>
      <p:sp>
        <p:nvSpPr>
          <p:cNvPr id="277" name="Google Shape;277;p13"/>
          <p:cNvSpPr txBox="1"/>
          <p:nvPr/>
        </p:nvSpPr>
        <p:spPr>
          <a:xfrm>
            <a:off x="3566160" y="3081528"/>
            <a:ext cx="338328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Next.js API routes</a:t>
            </a:r>
            <a:endParaRPr sz="2000" b="0" i="0" u="none" strike="noStrike" cap="none">
              <a:solidFill>
                <a:schemeClr val="dk1"/>
              </a:solidFill>
              <a:latin typeface="Calibri"/>
              <a:ea typeface="Calibri"/>
              <a:cs typeface="Calibri"/>
              <a:sym typeface="Calibri"/>
            </a:endParaRPr>
          </a:p>
        </p:txBody>
      </p:sp>
      <p:sp>
        <p:nvSpPr>
          <p:cNvPr id="278" name="Google Shape;278;p13"/>
          <p:cNvSpPr txBox="1"/>
          <p:nvPr/>
        </p:nvSpPr>
        <p:spPr>
          <a:xfrm>
            <a:off x="7040880" y="3081528"/>
            <a:ext cx="438912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Serverless handlers for upload, chat and translation.</a:t>
            </a:r>
            <a:endParaRPr sz="1400" b="0" i="0" u="none" strike="noStrike" cap="none">
              <a:solidFill>
                <a:schemeClr val="dk1"/>
              </a:solidFill>
              <a:latin typeface="Calibri"/>
              <a:ea typeface="Calibri"/>
              <a:cs typeface="Calibri"/>
              <a:sym typeface="Calibri"/>
            </a:endParaRPr>
          </a:p>
        </p:txBody>
      </p:sp>
      <p:sp>
        <p:nvSpPr>
          <p:cNvPr id="279" name="Google Shape;279;p13"/>
          <p:cNvSpPr/>
          <p:nvPr/>
        </p:nvSpPr>
        <p:spPr>
          <a:xfrm>
            <a:off x="548640" y="3867912"/>
            <a:ext cx="11064240" cy="676656"/>
          </a:xfrm>
          <a:prstGeom prst="roundRect">
            <a:avLst>
              <a:gd name="adj" fmla="val 18919"/>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3"/>
          <p:cNvSpPr/>
          <p:nvPr/>
        </p:nvSpPr>
        <p:spPr>
          <a:xfrm>
            <a:off x="731520" y="3959352"/>
            <a:ext cx="493776" cy="49377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1" name="Google Shape;281;p13" descr="preencoded.png"/>
          <p:cNvPicPr preferRelativeResize="0"/>
          <p:nvPr/>
        </p:nvPicPr>
        <p:blipFill rotWithShape="1">
          <a:blip r:embed="rId6">
            <a:alphaModFix/>
          </a:blip>
          <a:srcRect/>
          <a:stretch/>
        </p:blipFill>
        <p:spPr>
          <a:xfrm>
            <a:off x="859902" y="4087734"/>
            <a:ext cx="237012" cy="237012"/>
          </a:xfrm>
          <a:prstGeom prst="rect">
            <a:avLst/>
          </a:prstGeom>
          <a:noFill/>
          <a:ln>
            <a:noFill/>
          </a:ln>
        </p:spPr>
      </p:pic>
      <p:sp>
        <p:nvSpPr>
          <p:cNvPr id="282" name="Google Shape;282;p13"/>
          <p:cNvSpPr txBox="1"/>
          <p:nvPr/>
        </p:nvSpPr>
        <p:spPr>
          <a:xfrm>
            <a:off x="1463040" y="3867912"/>
            <a:ext cx="210312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Data and storage</a:t>
            </a:r>
            <a:endParaRPr sz="1400" b="0" i="0" u="none" strike="noStrike" cap="none">
              <a:solidFill>
                <a:schemeClr val="dk1"/>
              </a:solidFill>
              <a:latin typeface="Calibri"/>
              <a:ea typeface="Calibri"/>
              <a:cs typeface="Calibri"/>
              <a:sym typeface="Calibri"/>
            </a:endParaRPr>
          </a:p>
        </p:txBody>
      </p:sp>
      <p:sp>
        <p:nvSpPr>
          <p:cNvPr id="283" name="Google Shape;283;p13"/>
          <p:cNvSpPr txBox="1"/>
          <p:nvPr/>
        </p:nvSpPr>
        <p:spPr>
          <a:xfrm>
            <a:off x="3566160" y="3867912"/>
            <a:ext cx="338328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Supabase</a:t>
            </a:r>
            <a:endParaRPr sz="2000" b="0" i="0" u="none" strike="noStrike" cap="none">
              <a:solidFill>
                <a:schemeClr val="dk1"/>
              </a:solidFill>
              <a:latin typeface="Calibri"/>
              <a:ea typeface="Calibri"/>
              <a:cs typeface="Calibri"/>
              <a:sym typeface="Calibri"/>
            </a:endParaRPr>
          </a:p>
        </p:txBody>
      </p:sp>
      <p:sp>
        <p:nvSpPr>
          <p:cNvPr id="284" name="Google Shape;284;p13"/>
          <p:cNvSpPr txBox="1"/>
          <p:nvPr/>
        </p:nvSpPr>
        <p:spPr>
          <a:xfrm>
            <a:off x="7040880" y="3867912"/>
            <a:ext cx="438912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PostgreSQL JSONB timeline and private file storage.</a:t>
            </a:r>
            <a:endParaRPr sz="1400" b="0" i="0" u="none" strike="noStrike" cap="none">
              <a:solidFill>
                <a:schemeClr val="dk1"/>
              </a:solidFill>
              <a:latin typeface="Calibri"/>
              <a:ea typeface="Calibri"/>
              <a:cs typeface="Calibri"/>
              <a:sym typeface="Calibri"/>
            </a:endParaRPr>
          </a:p>
        </p:txBody>
      </p:sp>
      <p:sp>
        <p:nvSpPr>
          <p:cNvPr id="285" name="Google Shape;285;p13"/>
          <p:cNvSpPr/>
          <p:nvPr/>
        </p:nvSpPr>
        <p:spPr>
          <a:xfrm>
            <a:off x="548640" y="4654296"/>
            <a:ext cx="11064240" cy="676656"/>
          </a:xfrm>
          <a:prstGeom prst="roundRect">
            <a:avLst>
              <a:gd name="adj" fmla="val 18919"/>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3"/>
          <p:cNvSpPr/>
          <p:nvPr/>
        </p:nvSpPr>
        <p:spPr>
          <a:xfrm>
            <a:off x="731520" y="4745736"/>
            <a:ext cx="493776" cy="49377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7" name="Google Shape;287;p13" descr="preencoded.png"/>
          <p:cNvPicPr preferRelativeResize="0"/>
          <p:nvPr/>
        </p:nvPicPr>
        <p:blipFill rotWithShape="1">
          <a:blip r:embed="rId7">
            <a:alphaModFix/>
          </a:blip>
          <a:srcRect/>
          <a:stretch/>
        </p:blipFill>
        <p:spPr>
          <a:xfrm>
            <a:off x="859902" y="4874118"/>
            <a:ext cx="237012" cy="237012"/>
          </a:xfrm>
          <a:prstGeom prst="rect">
            <a:avLst/>
          </a:prstGeom>
          <a:noFill/>
          <a:ln>
            <a:noFill/>
          </a:ln>
        </p:spPr>
      </p:pic>
      <p:sp>
        <p:nvSpPr>
          <p:cNvPr id="288" name="Google Shape;288;p13"/>
          <p:cNvSpPr txBox="1"/>
          <p:nvPr/>
        </p:nvSpPr>
        <p:spPr>
          <a:xfrm>
            <a:off x="1463040" y="4654296"/>
            <a:ext cx="210312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Standards</a:t>
            </a:r>
            <a:endParaRPr sz="1400" b="0" i="0" u="none" strike="noStrike" cap="none">
              <a:solidFill>
                <a:schemeClr val="dk1"/>
              </a:solidFill>
              <a:latin typeface="Calibri"/>
              <a:ea typeface="Calibri"/>
              <a:cs typeface="Calibri"/>
              <a:sym typeface="Calibri"/>
            </a:endParaRPr>
          </a:p>
        </p:txBody>
      </p:sp>
      <p:sp>
        <p:nvSpPr>
          <p:cNvPr id="289" name="Google Shape;289;p13"/>
          <p:cNvSpPr txBox="1"/>
          <p:nvPr/>
        </p:nvSpPr>
        <p:spPr>
          <a:xfrm>
            <a:off x="3566160" y="4654296"/>
            <a:ext cx="338328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ABDM FHIR R4</a:t>
            </a:r>
            <a:endParaRPr sz="2000" b="0" i="0" u="none" strike="noStrike" cap="none">
              <a:solidFill>
                <a:schemeClr val="dk1"/>
              </a:solidFill>
              <a:latin typeface="Calibri"/>
              <a:ea typeface="Calibri"/>
              <a:cs typeface="Calibri"/>
              <a:sym typeface="Calibri"/>
            </a:endParaRPr>
          </a:p>
        </p:txBody>
      </p:sp>
      <p:sp>
        <p:nvSpPr>
          <p:cNvPr id="290" name="Google Shape;290;p13"/>
          <p:cNvSpPr txBox="1"/>
          <p:nvPr/>
        </p:nvSpPr>
        <p:spPr>
          <a:xfrm>
            <a:off x="7040880" y="4654296"/>
            <a:ext cx="438912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Interoperable Patient, Observation and DiagnosticReport resources.</a:t>
            </a:r>
            <a:endParaRPr sz="1400" b="0" i="0" u="none" strike="noStrike" cap="none">
              <a:solidFill>
                <a:schemeClr val="dk1"/>
              </a:solidFill>
              <a:latin typeface="Calibri"/>
              <a:ea typeface="Calibri"/>
              <a:cs typeface="Calibri"/>
              <a:sym typeface="Calibri"/>
            </a:endParaRPr>
          </a:p>
        </p:txBody>
      </p:sp>
      <p:sp>
        <p:nvSpPr>
          <p:cNvPr id="291" name="Google Shape;291;p13"/>
          <p:cNvSpPr/>
          <p:nvPr/>
        </p:nvSpPr>
        <p:spPr>
          <a:xfrm>
            <a:off x="548640" y="5440680"/>
            <a:ext cx="11064240" cy="676656"/>
          </a:xfrm>
          <a:prstGeom prst="roundRect">
            <a:avLst>
              <a:gd name="adj" fmla="val 18919"/>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3"/>
          <p:cNvSpPr/>
          <p:nvPr/>
        </p:nvSpPr>
        <p:spPr>
          <a:xfrm>
            <a:off x="731520" y="5532120"/>
            <a:ext cx="493776" cy="49377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3" name="Google Shape;293;p13" descr="preencoded.png"/>
          <p:cNvPicPr preferRelativeResize="0"/>
          <p:nvPr/>
        </p:nvPicPr>
        <p:blipFill rotWithShape="1">
          <a:blip r:embed="rId8">
            <a:alphaModFix/>
          </a:blip>
          <a:srcRect/>
          <a:stretch/>
        </p:blipFill>
        <p:spPr>
          <a:xfrm>
            <a:off x="859902" y="5660502"/>
            <a:ext cx="237012" cy="237012"/>
          </a:xfrm>
          <a:prstGeom prst="rect">
            <a:avLst/>
          </a:prstGeom>
          <a:noFill/>
          <a:ln>
            <a:noFill/>
          </a:ln>
        </p:spPr>
      </p:pic>
      <p:sp>
        <p:nvSpPr>
          <p:cNvPr id="294" name="Google Shape;294;p13"/>
          <p:cNvSpPr txBox="1"/>
          <p:nvPr/>
        </p:nvSpPr>
        <p:spPr>
          <a:xfrm>
            <a:off x="1463040" y="5440680"/>
            <a:ext cx="210312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Deployment</a:t>
            </a:r>
            <a:endParaRPr sz="1400" b="0" i="0" u="none" strike="noStrike" cap="none">
              <a:solidFill>
                <a:schemeClr val="dk1"/>
              </a:solidFill>
              <a:latin typeface="Calibri"/>
              <a:ea typeface="Calibri"/>
              <a:cs typeface="Calibri"/>
              <a:sym typeface="Calibri"/>
            </a:endParaRPr>
          </a:p>
        </p:txBody>
      </p:sp>
      <p:sp>
        <p:nvSpPr>
          <p:cNvPr id="295" name="Google Shape;295;p13"/>
          <p:cNvSpPr txBox="1"/>
          <p:nvPr/>
        </p:nvSpPr>
        <p:spPr>
          <a:xfrm>
            <a:off x="3566160" y="5440680"/>
            <a:ext cx="338328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Vercel</a:t>
            </a:r>
            <a:endParaRPr sz="2000" b="0" i="0" u="none" strike="noStrike" cap="none">
              <a:solidFill>
                <a:schemeClr val="dk1"/>
              </a:solidFill>
              <a:latin typeface="Calibri"/>
              <a:ea typeface="Calibri"/>
              <a:cs typeface="Calibri"/>
              <a:sym typeface="Calibri"/>
            </a:endParaRPr>
          </a:p>
        </p:txBody>
      </p:sp>
      <p:sp>
        <p:nvSpPr>
          <p:cNvPr id="296" name="Google Shape;296;p13"/>
          <p:cNvSpPr txBox="1"/>
          <p:nvPr/>
        </p:nvSpPr>
        <p:spPr>
          <a:xfrm>
            <a:off x="7040880" y="5440680"/>
            <a:ext cx="438912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5C2B2"/>
              </a:buClr>
              <a:buSzPts val="1400"/>
              <a:buFont typeface="Calibri"/>
              <a:buNone/>
            </a:pPr>
            <a:r>
              <a:rPr lang="en-US" sz="1400" b="0" i="0" u="none" strike="noStrike" cap="none">
                <a:solidFill>
                  <a:srgbClr val="A5C2B2"/>
                </a:solidFill>
                <a:latin typeface="Calibri"/>
                <a:ea typeface="Calibri"/>
                <a:cs typeface="Calibri"/>
                <a:sym typeface="Calibri"/>
              </a:rPr>
              <a:t>One-click deploy; the demo runs even without credentials.</a:t>
            </a:r>
            <a:endParaRPr sz="1400" b="0" i="0" u="none" strike="noStrike" cap="none">
              <a:solidFill>
                <a:schemeClr val="dk1"/>
              </a:solidFill>
              <a:latin typeface="Calibri"/>
              <a:ea typeface="Calibri"/>
              <a:cs typeface="Calibri"/>
              <a:sym typeface="Calibri"/>
            </a:endParaRPr>
          </a:p>
        </p:txBody>
      </p:sp>
      <p:sp>
        <p:nvSpPr>
          <p:cNvPr id="297" name="Google Shape;297;p13"/>
          <p:cNvSpPr txBox="1">
            <a:spLocks noGrp="1"/>
          </p:cNvSpPr>
          <p:nvPr>
            <p:ph type="sldNum" idx="4294967295"/>
          </p:nvPr>
        </p:nvSpPr>
        <p:spPr>
          <a:xfrm>
            <a:off x="11064240" y="6400800"/>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100" b="0" i="0" u="none" strike="noStrike" cap="none">
                <a:solidFill>
                  <a:srgbClr val="6F8F7F"/>
                </a:solidFill>
                <a:latin typeface="Calibri"/>
                <a:ea typeface="Calibri"/>
                <a:cs typeface="Calibri"/>
                <a:sym typeface="Calibri"/>
              </a:rPr>
              <a:t>7</a:t>
            </a:fld>
            <a:endParaRPr sz="1100" b="0" i="0" u="none" strike="noStrike" cap="none">
              <a:solidFill>
                <a:srgbClr val="6F8F7F"/>
              </a:solidFill>
              <a:latin typeface="Calibri"/>
              <a:ea typeface="Calibri"/>
              <a:cs typeface="Calibri"/>
              <a:sym typeface="Calibri"/>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1"/>
                                        </p:tgtEl>
                                        <p:attrNameLst>
                                          <p:attrName>style.visibility</p:attrName>
                                        </p:attrNameLst>
                                      </p:cBhvr>
                                      <p:to>
                                        <p:strVal val="visible"/>
                                      </p:to>
                                    </p:set>
                                    <p:animEffect transition="in" filter="fade">
                                      <p:cBhvr>
                                        <p:cTn id="7" dur="550"/>
                                        <p:tgtEl>
                                          <p:spTgt spid="261"/>
                                        </p:tgtEl>
                                      </p:cBhvr>
                                    </p:animEffect>
                                  </p:childTnLst>
                                </p:cTn>
                              </p:par>
                              <p:par>
                                <p:cTn id="8" presetID="10" presetClass="entr" presetSubtype="0" fill="hold" nodeType="withEffect">
                                  <p:stCondLst>
                                    <p:cond delay="0"/>
                                  </p:stCondLst>
                                  <p:childTnLst>
                                    <p:set>
                                      <p:cBhvr>
                                        <p:cTn id="9" dur="1" fill="hold">
                                          <p:stCondLst>
                                            <p:cond delay="0"/>
                                          </p:stCondLst>
                                        </p:cTn>
                                        <p:tgtEl>
                                          <p:spTgt spid="262"/>
                                        </p:tgtEl>
                                        <p:attrNameLst>
                                          <p:attrName>style.visibility</p:attrName>
                                        </p:attrNameLst>
                                      </p:cBhvr>
                                      <p:to>
                                        <p:strVal val="visible"/>
                                      </p:to>
                                    </p:set>
                                    <p:animEffect transition="in" filter="fade">
                                      <p:cBhvr>
                                        <p:cTn id="10" dur="550"/>
                                        <p:tgtEl>
                                          <p:spTgt spid="262"/>
                                        </p:tgtEl>
                                      </p:cBhvr>
                                    </p:animEffect>
                                  </p:childTnLst>
                                </p:cTn>
                              </p:par>
                              <p:par>
                                <p:cTn id="11" presetID="10" presetClass="entr" presetSubtype="0" fill="hold" nodeType="withEffect">
                                  <p:stCondLst>
                                    <p:cond delay="0"/>
                                  </p:stCondLst>
                                  <p:childTnLst>
                                    <p:set>
                                      <p:cBhvr>
                                        <p:cTn id="12" dur="1" fill="hold">
                                          <p:stCondLst>
                                            <p:cond delay="0"/>
                                          </p:stCondLst>
                                        </p:cTn>
                                        <p:tgtEl>
                                          <p:spTgt spid="263"/>
                                        </p:tgtEl>
                                        <p:attrNameLst>
                                          <p:attrName>style.visibility</p:attrName>
                                        </p:attrNameLst>
                                      </p:cBhvr>
                                      <p:to>
                                        <p:strVal val="visible"/>
                                      </p:to>
                                    </p:set>
                                    <p:animEffect transition="in" filter="fade">
                                      <p:cBhvr>
                                        <p:cTn id="13" dur="550"/>
                                        <p:tgtEl>
                                          <p:spTgt spid="263"/>
                                        </p:tgtEl>
                                      </p:cBhvr>
                                    </p:animEffect>
                                  </p:childTnLst>
                                </p:cTn>
                              </p:par>
                              <p:par>
                                <p:cTn id="14" presetID="10" presetClass="entr" presetSubtype="0" fill="hold" nodeType="withEffect">
                                  <p:stCondLst>
                                    <p:cond delay="0"/>
                                  </p:stCondLst>
                                  <p:childTnLst>
                                    <p:set>
                                      <p:cBhvr>
                                        <p:cTn id="15" dur="1" fill="hold">
                                          <p:stCondLst>
                                            <p:cond delay="0"/>
                                          </p:stCondLst>
                                        </p:cTn>
                                        <p:tgtEl>
                                          <p:spTgt spid="264"/>
                                        </p:tgtEl>
                                        <p:attrNameLst>
                                          <p:attrName>style.visibility</p:attrName>
                                        </p:attrNameLst>
                                      </p:cBhvr>
                                      <p:to>
                                        <p:strVal val="visible"/>
                                      </p:to>
                                    </p:set>
                                    <p:animEffect transition="in" filter="fade">
                                      <p:cBhvr>
                                        <p:cTn id="16" dur="550"/>
                                        <p:tgtEl>
                                          <p:spTgt spid="264"/>
                                        </p:tgtEl>
                                      </p:cBhvr>
                                    </p:animEffect>
                                  </p:childTnLst>
                                </p:cTn>
                              </p:par>
                              <p:par>
                                <p:cTn id="17" presetID="10" presetClass="entr" presetSubtype="0" fill="hold" nodeType="withEffect">
                                  <p:stCondLst>
                                    <p:cond delay="0"/>
                                  </p:stCondLst>
                                  <p:childTnLst>
                                    <p:set>
                                      <p:cBhvr>
                                        <p:cTn id="18" dur="1" fill="hold">
                                          <p:stCondLst>
                                            <p:cond delay="0"/>
                                          </p:stCondLst>
                                        </p:cTn>
                                        <p:tgtEl>
                                          <p:spTgt spid="265"/>
                                        </p:tgtEl>
                                        <p:attrNameLst>
                                          <p:attrName>style.visibility</p:attrName>
                                        </p:attrNameLst>
                                      </p:cBhvr>
                                      <p:to>
                                        <p:strVal val="visible"/>
                                      </p:to>
                                    </p:set>
                                    <p:animEffect transition="in" filter="fade">
                                      <p:cBhvr>
                                        <p:cTn id="19" dur="550"/>
                                        <p:tgtEl>
                                          <p:spTgt spid="265"/>
                                        </p:tgtEl>
                                      </p:cBhvr>
                                    </p:animEffect>
                                  </p:childTnLst>
                                </p:cTn>
                              </p:par>
                              <p:par>
                                <p:cTn id="20" presetID="10" presetClass="entr" presetSubtype="0" fill="hold" nodeType="withEffect">
                                  <p:stCondLst>
                                    <p:cond delay="0"/>
                                  </p:stCondLst>
                                  <p:childTnLst>
                                    <p:set>
                                      <p:cBhvr>
                                        <p:cTn id="21" dur="1" fill="hold">
                                          <p:stCondLst>
                                            <p:cond delay="0"/>
                                          </p:stCondLst>
                                        </p:cTn>
                                        <p:tgtEl>
                                          <p:spTgt spid="266"/>
                                        </p:tgtEl>
                                        <p:attrNameLst>
                                          <p:attrName>style.visibility</p:attrName>
                                        </p:attrNameLst>
                                      </p:cBhvr>
                                      <p:to>
                                        <p:strVal val="visible"/>
                                      </p:to>
                                    </p:set>
                                    <p:animEffect transition="in" filter="fade">
                                      <p:cBhvr>
                                        <p:cTn id="22" dur="550"/>
                                        <p:tgtEl>
                                          <p:spTgt spid="266"/>
                                        </p:tgtEl>
                                      </p:cBhvr>
                                    </p:animEffect>
                                  </p:childTnLst>
                                </p:cTn>
                              </p:par>
                              <p:par>
                                <p:cTn id="23" presetID="10" presetClass="entr" presetSubtype="0" fill="hold" nodeType="withEffect">
                                  <p:stCondLst>
                                    <p:cond delay="380"/>
                                  </p:stCondLst>
                                  <p:childTnLst>
                                    <p:set>
                                      <p:cBhvr>
                                        <p:cTn id="24" dur="1" fill="hold">
                                          <p:stCondLst>
                                            <p:cond delay="0"/>
                                          </p:stCondLst>
                                        </p:cTn>
                                        <p:tgtEl>
                                          <p:spTgt spid="267"/>
                                        </p:tgtEl>
                                        <p:attrNameLst>
                                          <p:attrName>style.visibility</p:attrName>
                                        </p:attrNameLst>
                                      </p:cBhvr>
                                      <p:to>
                                        <p:strVal val="visible"/>
                                      </p:to>
                                    </p:set>
                                    <p:animEffect transition="in" filter="fade">
                                      <p:cBhvr>
                                        <p:cTn id="25" dur="550"/>
                                        <p:tgtEl>
                                          <p:spTgt spid="267"/>
                                        </p:tgtEl>
                                      </p:cBhvr>
                                    </p:animEffect>
                                  </p:childTnLst>
                                </p:cTn>
                              </p:par>
                              <p:par>
                                <p:cTn id="26" presetID="10" presetClass="entr" presetSubtype="0" fill="hold" nodeType="withEffect">
                                  <p:stCondLst>
                                    <p:cond delay="380"/>
                                  </p:stCondLst>
                                  <p:childTnLst>
                                    <p:set>
                                      <p:cBhvr>
                                        <p:cTn id="27" dur="1" fill="hold">
                                          <p:stCondLst>
                                            <p:cond delay="0"/>
                                          </p:stCondLst>
                                        </p:cTn>
                                        <p:tgtEl>
                                          <p:spTgt spid="268"/>
                                        </p:tgtEl>
                                        <p:attrNameLst>
                                          <p:attrName>style.visibility</p:attrName>
                                        </p:attrNameLst>
                                      </p:cBhvr>
                                      <p:to>
                                        <p:strVal val="visible"/>
                                      </p:to>
                                    </p:set>
                                    <p:animEffect transition="in" filter="fade">
                                      <p:cBhvr>
                                        <p:cTn id="28" dur="550"/>
                                        <p:tgtEl>
                                          <p:spTgt spid="268"/>
                                        </p:tgtEl>
                                      </p:cBhvr>
                                    </p:animEffect>
                                  </p:childTnLst>
                                </p:cTn>
                              </p:par>
                              <p:par>
                                <p:cTn id="29" presetID="10" presetClass="entr" presetSubtype="0" fill="hold" nodeType="withEffect">
                                  <p:stCondLst>
                                    <p:cond delay="380"/>
                                  </p:stCondLst>
                                  <p:childTnLst>
                                    <p:set>
                                      <p:cBhvr>
                                        <p:cTn id="30" dur="1" fill="hold">
                                          <p:stCondLst>
                                            <p:cond delay="0"/>
                                          </p:stCondLst>
                                        </p:cTn>
                                        <p:tgtEl>
                                          <p:spTgt spid="269"/>
                                        </p:tgtEl>
                                        <p:attrNameLst>
                                          <p:attrName>style.visibility</p:attrName>
                                        </p:attrNameLst>
                                      </p:cBhvr>
                                      <p:to>
                                        <p:strVal val="visible"/>
                                      </p:to>
                                    </p:set>
                                    <p:animEffect transition="in" filter="fade">
                                      <p:cBhvr>
                                        <p:cTn id="31" dur="550"/>
                                        <p:tgtEl>
                                          <p:spTgt spid="269"/>
                                        </p:tgtEl>
                                      </p:cBhvr>
                                    </p:animEffect>
                                  </p:childTnLst>
                                </p:cTn>
                              </p:par>
                              <p:par>
                                <p:cTn id="32" presetID="10" presetClass="entr" presetSubtype="0" fill="hold" nodeType="withEffect">
                                  <p:stCondLst>
                                    <p:cond delay="380"/>
                                  </p:stCondLst>
                                  <p:childTnLst>
                                    <p:set>
                                      <p:cBhvr>
                                        <p:cTn id="33" dur="1" fill="hold">
                                          <p:stCondLst>
                                            <p:cond delay="0"/>
                                          </p:stCondLst>
                                        </p:cTn>
                                        <p:tgtEl>
                                          <p:spTgt spid="270"/>
                                        </p:tgtEl>
                                        <p:attrNameLst>
                                          <p:attrName>style.visibility</p:attrName>
                                        </p:attrNameLst>
                                      </p:cBhvr>
                                      <p:to>
                                        <p:strVal val="visible"/>
                                      </p:to>
                                    </p:set>
                                    <p:animEffect transition="in" filter="fade">
                                      <p:cBhvr>
                                        <p:cTn id="34" dur="550"/>
                                        <p:tgtEl>
                                          <p:spTgt spid="270"/>
                                        </p:tgtEl>
                                      </p:cBhvr>
                                    </p:animEffect>
                                  </p:childTnLst>
                                </p:cTn>
                              </p:par>
                              <p:par>
                                <p:cTn id="35" presetID="10" presetClass="entr" presetSubtype="0" fill="hold" nodeType="withEffect">
                                  <p:stCondLst>
                                    <p:cond delay="380"/>
                                  </p:stCondLst>
                                  <p:childTnLst>
                                    <p:set>
                                      <p:cBhvr>
                                        <p:cTn id="36" dur="1" fill="hold">
                                          <p:stCondLst>
                                            <p:cond delay="0"/>
                                          </p:stCondLst>
                                        </p:cTn>
                                        <p:tgtEl>
                                          <p:spTgt spid="271"/>
                                        </p:tgtEl>
                                        <p:attrNameLst>
                                          <p:attrName>style.visibility</p:attrName>
                                        </p:attrNameLst>
                                      </p:cBhvr>
                                      <p:to>
                                        <p:strVal val="visible"/>
                                      </p:to>
                                    </p:set>
                                    <p:animEffect transition="in" filter="fade">
                                      <p:cBhvr>
                                        <p:cTn id="37" dur="550"/>
                                        <p:tgtEl>
                                          <p:spTgt spid="271"/>
                                        </p:tgtEl>
                                      </p:cBhvr>
                                    </p:animEffect>
                                  </p:childTnLst>
                                </p:cTn>
                              </p:par>
                              <p:par>
                                <p:cTn id="38" presetID="10" presetClass="entr" presetSubtype="0" fill="hold" nodeType="withEffect">
                                  <p:stCondLst>
                                    <p:cond delay="380"/>
                                  </p:stCondLst>
                                  <p:childTnLst>
                                    <p:set>
                                      <p:cBhvr>
                                        <p:cTn id="39" dur="1" fill="hold">
                                          <p:stCondLst>
                                            <p:cond delay="0"/>
                                          </p:stCondLst>
                                        </p:cTn>
                                        <p:tgtEl>
                                          <p:spTgt spid="272"/>
                                        </p:tgtEl>
                                        <p:attrNameLst>
                                          <p:attrName>style.visibility</p:attrName>
                                        </p:attrNameLst>
                                      </p:cBhvr>
                                      <p:to>
                                        <p:strVal val="visible"/>
                                      </p:to>
                                    </p:set>
                                    <p:animEffect transition="in" filter="fade">
                                      <p:cBhvr>
                                        <p:cTn id="40" dur="550"/>
                                        <p:tgtEl>
                                          <p:spTgt spid="272"/>
                                        </p:tgtEl>
                                      </p:cBhvr>
                                    </p:animEffect>
                                  </p:childTnLst>
                                </p:cTn>
                              </p:par>
                              <p:par>
                                <p:cTn id="41" presetID="10" presetClass="entr" presetSubtype="0" fill="hold" nodeType="withEffect">
                                  <p:stCondLst>
                                    <p:cond delay="760"/>
                                  </p:stCondLst>
                                  <p:childTnLst>
                                    <p:set>
                                      <p:cBhvr>
                                        <p:cTn id="42" dur="1" fill="hold">
                                          <p:stCondLst>
                                            <p:cond delay="0"/>
                                          </p:stCondLst>
                                        </p:cTn>
                                        <p:tgtEl>
                                          <p:spTgt spid="273"/>
                                        </p:tgtEl>
                                        <p:attrNameLst>
                                          <p:attrName>style.visibility</p:attrName>
                                        </p:attrNameLst>
                                      </p:cBhvr>
                                      <p:to>
                                        <p:strVal val="visible"/>
                                      </p:to>
                                    </p:set>
                                    <p:animEffect transition="in" filter="fade">
                                      <p:cBhvr>
                                        <p:cTn id="43" dur="550"/>
                                        <p:tgtEl>
                                          <p:spTgt spid="273"/>
                                        </p:tgtEl>
                                      </p:cBhvr>
                                    </p:animEffect>
                                  </p:childTnLst>
                                </p:cTn>
                              </p:par>
                              <p:par>
                                <p:cTn id="44" presetID="10" presetClass="entr" presetSubtype="0" fill="hold" nodeType="withEffect">
                                  <p:stCondLst>
                                    <p:cond delay="760"/>
                                  </p:stCondLst>
                                  <p:childTnLst>
                                    <p:set>
                                      <p:cBhvr>
                                        <p:cTn id="45" dur="1" fill="hold">
                                          <p:stCondLst>
                                            <p:cond delay="0"/>
                                          </p:stCondLst>
                                        </p:cTn>
                                        <p:tgtEl>
                                          <p:spTgt spid="274"/>
                                        </p:tgtEl>
                                        <p:attrNameLst>
                                          <p:attrName>style.visibility</p:attrName>
                                        </p:attrNameLst>
                                      </p:cBhvr>
                                      <p:to>
                                        <p:strVal val="visible"/>
                                      </p:to>
                                    </p:set>
                                    <p:animEffect transition="in" filter="fade">
                                      <p:cBhvr>
                                        <p:cTn id="46" dur="550"/>
                                        <p:tgtEl>
                                          <p:spTgt spid="274"/>
                                        </p:tgtEl>
                                      </p:cBhvr>
                                    </p:animEffect>
                                  </p:childTnLst>
                                </p:cTn>
                              </p:par>
                              <p:par>
                                <p:cTn id="47" presetID="10" presetClass="entr" presetSubtype="0" fill="hold" nodeType="withEffect">
                                  <p:stCondLst>
                                    <p:cond delay="760"/>
                                  </p:stCondLst>
                                  <p:childTnLst>
                                    <p:set>
                                      <p:cBhvr>
                                        <p:cTn id="48" dur="1" fill="hold">
                                          <p:stCondLst>
                                            <p:cond delay="0"/>
                                          </p:stCondLst>
                                        </p:cTn>
                                        <p:tgtEl>
                                          <p:spTgt spid="275"/>
                                        </p:tgtEl>
                                        <p:attrNameLst>
                                          <p:attrName>style.visibility</p:attrName>
                                        </p:attrNameLst>
                                      </p:cBhvr>
                                      <p:to>
                                        <p:strVal val="visible"/>
                                      </p:to>
                                    </p:set>
                                    <p:animEffect transition="in" filter="fade">
                                      <p:cBhvr>
                                        <p:cTn id="49" dur="550"/>
                                        <p:tgtEl>
                                          <p:spTgt spid="275"/>
                                        </p:tgtEl>
                                      </p:cBhvr>
                                    </p:animEffect>
                                  </p:childTnLst>
                                </p:cTn>
                              </p:par>
                              <p:par>
                                <p:cTn id="50" presetID="10" presetClass="entr" presetSubtype="0" fill="hold" nodeType="withEffect">
                                  <p:stCondLst>
                                    <p:cond delay="760"/>
                                  </p:stCondLst>
                                  <p:childTnLst>
                                    <p:set>
                                      <p:cBhvr>
                                        <p:cTn id="51" dur="1" fill="hold">
                                          <p:stCondLst>
                                            <p:cond delay="0"/>
                                          </p:stCondLst>
                                        </p:cTn>
                                        <p:tgtEl>
                                          <p:spTgt spid="276"/>
                                        </p:tgtEl>
                                        <p:attrNameLst>
                                          <p:attrName>style.visibility</p:attrName>
                                        </p:attrNameLst>
                                      </p:cBhvr>
                                      <p:to>
                                        <p:strVal val="visible"/>
                                      </p:to>
                                    </p:set>
                                    <p:animEffect transition="in" filter="fade">
                                      <p:cBhvr>
                                        <p:cTn id="52" dur="550"/>
                                        <p:tgtEl>
                                          <p:spTgt spid="276"/>
                                        </p:tgtEl>
                                      </p:cBhvr>
                                    </p:animEffect>
                                  </p:childTnLst>
                                </p:cTn>
                              </p:par>
                              <p:par>
                                <p:cTn id="53" presetID="10" presetClass="entr" presetSubtype="0" fill="hold" nodeType="withEffect">
                                  <p:stCondLst>
                                    <p:cond delay="760"/>
                                  </p:stCondLst>
                                  <p:childTnLst>
                                    <p:set>
                                      <p:cBhvr>
                                        <p:cTn id="54" dur="1" fill="hold">
                                          <p:stCondLst>
                                            <p:cond delay="0"/>
                                          </p:stCondLst>
                                        </p:cTn>
                                        <p:tgtEl>
                                          <p:spTgt spid="277"/>
                                        </p:tgtEl>
                                        <p:attrNameLst>
                                          <p:attrName>style.visibility</p:attrName>
                                        </p:attrNameLst>
                                      </p:cBhvr>
                                      <p:to>
                                        <p:strVal val="visible"/>
                                      </p:to>
                                    </p:set>
                                    <p:animEffect transition="in" filter="fade">
                                      <p:cBhvr>
                                        <p:cTn id="55" dur="550"/>
                                        <p:tgtEl>
                                          <p:spTgt spid="277"/>
                                        </p:tgtEl>
                                      </p:cBhvr>
                                    </p:animEffect>
                                  </p:childTnLst>
                                </p:cTn>
                              </p:par>
                              <p:par>
                                <p:cTn id="56" presetID="10" presetClass="entr" presetSubtype="0" fill="hold" nodeType="withEffect">
                                  <p:stCondLst>
                                    <p:cond delay="760"/>
                                  </p:stCondLst>
                                  <p:childTnLst>
                                    <p:set>
                                      <p:cBhvr>
                                        <p:cTn id="57" dur="1" fill="hold">
                                          <p:stCondLst>
                                            <p:cond delay="0"/>
                                          </p:stCondLst>
                                        </p:cTn>
                                        <p:tgtEl>
                                          <p:spTgt spid="278"/>
                                        </p:tgtEl>
                                        <p:attrNameLst>
                                          <p:attrName>style.visibility</p:attrName>
                                        </p:attrNameLst>
                                      </p:cBhvr>
                                      <p:to>
                                        <p:strVal val="visible"/>
                                      </p:to>
                                    </p:set>
                                    <p:animEffect transition="in" filter="fade">
                                      <p:cBhvr>
                                        <p:cTn id="58" dur="550"/>
                                        <p:tgtEl>
                                          <p:spTgt spid="278"/>
                                        </p:tgtEl>
                                      </p:cBhvr>
                                    </p:animEffect>
                                  </p:childTnLst>
                                </p:cTn>
                              </p:par>
                              <p:par>
                                <p:cTn id="59" presetID="10" presetClass="entr" presetSubtype="0" fill="hold" nodeType="withEffect">
                                  <p:stCondLst>
                                    <p:cond delay="1140"/>
                                  </p:stCondLst>
                                  <p:childTnLst>
                                    <p:set>
                                      <p:cBhvr>
                                        <p:cTn id="60" dur="1" fill="hold">
                                          <p:stCondLst>
                                            <p:cond delay="0"/>
                                          </p:stCondLst>
                                        </p:cTn>
                                        <p:tgtEl>
                                          <p:spTgt spid="279"/>
                                        </p:tgtEl>
                                        <p:attrNameLst>
                                          <p:attrName>style.visibility</p:attrName>
                                        </p:attrNameLst>
                                      </p:cBhvr>
                                      <p:to>
                                        <p:strVal val="visible"/>
                                      </p:to>
                                    </p:set>
                                    <p:animEffect transition="in" filter="fade">
                                      <p:cBhvr>
                                        <p:cTn id="61" dur="550"/>
                                        <p:tgtEl>
                                          <p:spTgt spid="279"/>
                                        </p:tgtEl>
                                      </p:cBhvr>
                                    </p:animEffect>
                                  </p:childTnLst>
                                </p:cTn>
                              </p:par>
                              <p:par>
                                <p:cTn id="62" presetID="10" presetClass="entr" presetSubtype="0" fill="hold" nodeType="withEffect">
                                  <p:stCondLst>
                                    <p:cond delay="1140"/>
                                  </p:stCondLst>
                                  <p:childTnLst>
                                    <p:set>
                                      <p:cBhvr>
                                        <p:cTn id="63" dur="1" fill="hold">
                                          <p:stCondLst>
                                            <p:cond delay="0"/>
                                          </p:stCondLst>
                                        </p:cTn>
                                        <p:tgtEl>
                                          <p:spTgt spid="280"/>
                                        </p:tgtEl>
                                        <p:attrNameLst>
                                          <p:attrName>style.visibility</p:attrName>
                                        </p:attrNameLst>
                                      </p:cBhvr>
                                      <p:to>
                                        <p:strVal val="visible"/>
                                      </p:to>
                                    </p:set>
                                    <p:animEffect transition="in" filter="fade">
                                      <p:cBhvr>
                                        <p:cTn id="64" dur="550"/>
                                        <p:tgtEl>
                                          <p:spTgt spid="280"/>
                                        </p:tgtEl>
                                      </p:cBhvr>
                                    </p:animEffect>
                                  </p:childTnLst>
                                </p:cTn>
                              </p:par>
                              <p:par>
                                <p:cTn id="65" presetID="10" presetClass="entr" presetSubtype="0" fill="hold" nodeType="withEffect">
                                  <p:stCondLst>
                                    <p:cond delay="1140"/>
                                  </p:stCondLst>
                                  <p:childTnLst>
                                    <p:set>
                                      <p:cBhvr>
                                        <p:cTn id="66" dur="1" fill="hold">
                                          <p:stCondLst>
                                            <p:cond delay="0"/>
                                          </p:stCondLst>
                                        </p:cTn>
                                        <p:tgtEl>
                                          <p:spTgt spid="281"/>
                                        </p:tgtEl>
                                        <p:attrNameLst>
                                          <p:attrName>style.visibility</p:attrName>
                                        </p:attrNameLst>
                                      </p:cBhvr>
                                      <p:to>
                                        <p:strVal val="visible"/>
                                      </p:to>
                                    </p:set>
                                    <p:animEffect transition="in" filter="fade">
                                      <p:cBhvr>
                                        <p:cTn id="67" dur="550"/>
                                        <p:tgtEl>
                                          <p:spTgt spid="281"/>
                                        </p:tgtEl>
                                      </p:cBhvr>
                                    </p:animEffect>
                                  </p:childTnLst>
                                </p:cTn>
                              </p:par>
                              <p:par>
                                <p:cTn id="68" presetID="10" presetClass="entr" presetSubtype="0" fill="hold" nodeType="withEffect">
                                  <p:stCondLst>
                                    <p:cond delay="1140"/>
                                  </p:stCondLst>
                                  <p:childTnLst>
                                    <p:set>
                                      <p:cBhvr>
                                        <p:cTn id="69" dur="1" fill="hold">
                                          <p:stCondLst>
                                            <p:cond delay="0"/>
                                          </p:stCondLst>
                                        </p:cTn>
                                        <p:tgtEl>
                                          <p:spTgt spid="282"/>
                                        </p:tgtEl>
                                        <p:attrNameLst>
                                          <p:attrName>style.visibility</p:attrName>
                                        </p:attrNameLst>
                                      </p:cBhvr>
                                      <p:to>
                                        <p:strVal val="visible"/>
                                      </p:to>
                                    </p:set>
                                    <p:animEffect transition="in" filter="fade">
                                      <p:cBhvr>
                                        <p:cTn id="70" dur="550"/>
                                        <p:tgtEl>
                                          <p:spTgt spid="282"/>
                                        </p:tgtEl>
                                      </p:cBhvr>
                                    </p:animEffect>
                                  </p:childTnLst>
                                </p:cTn>
                              </p:par>
                              <p:par>
                                <p:cTn id="71" presetID="10" presetClass="entr" presetSubtype="0" fill="hold" nodeType="withEffect">
                                  <p:stCondLst>
                                    <p:cond delay="1140"/>
                                  </p:stCondLst>
                                  <p:childTnLst>
                                    <p:set>
                                      <p:cBhvr>
                                        <p:cTn id="72" dur="1" fill="hold">
                                          <p:stCondLst>
                                            <p:cond delay="0"/>
                                          </p:stCondLst>
                                        </p:cTn>
                                        <p:tgtEl>
                                          <p:spTgt spid="283"/>
                                        </p:tgtEl>
                                        <p:attrNameLst>
                                          <p:attrName>style.visibility</p:attrName>
                                        </p:attrNameLst>
                                      </p:cBhvr>
                                      <p:to>
                                        <p:strVal val="visible"/>
                                      </p:to>
                                    </p:set>
                                    <p:animEffect transition="in" filter="fade">
                                      <p:cBhvr>
                                        <p:cTn id="73" dur="550"/>
                                        <p:tgtEl>
                                          <p:spTgt spid="283"/>
                                        </p:tgtEl>
                                      </p:cBhvr>
                                    </p:animEffect>
                                  </p:childTnLst>
                                </p:cTn>
                              </p:par>
                              <p:par>
                                <p:cTn id="74" presetID="10" presetClass="entr" presetSubtype="0" fill="hold" nodeType="withEffect">
                                  <p:stCondLst>
                                    <p:cond delay="1140"/>
                                  </p:stCondLst>
                                  <p:childTnLst>
                                    <p:set>
                                      <p:cBhvr>
                                        <p:cTn id="75" dur="1" fill="hold">
                                          <p:stCondLst>
                                            <p:cond delay="0"/>
                                          </p:stCondLst>
                                        </p:cTn>
                                        <p:tgtEl>
                                          <p:spTgt spid="284"/>
                                        </p:tgtEl>
                                        <p:attrNameLst>
                                          <p:attrName>style.visibility</p:attrName>
                                        </p:attrNameLst>
                                      </p:cBhvr>
                                      <p:to>
                                        <p:strVal val="visible"/>
                                      </p:to>
                                    </p:set>
                                    <p:animEffect transition="in" filter="fade">
                                      <p:cBhvr>
                                        <p:cTn id="76" dur="550"/>
                                        <p:tgtEl>
                                          <p:spTgt spid="284"/>
                                        </p:tgtEl>
                                      </p:cBhvr>
                                    </p:animEffect>
                                  </p:childTnLst>
                                </p:cTn>
                              </p:par>
                              <p:par>
                                <p:cTn id="77" presetID="10" presetClass="entr" presetSubtype="0" fill="hold" nodeType="withEffect">
                                  <p:stCondLst>
                                    <p:cond delay="1520"/>
                                  </p:stCondLst>
                                  <p:childTnLst>
                                    <p:set>
                                      <p:cBhvr>
                                        <p:cTn id="78" dur="1" fill="hold">
                                          <p:stCondLst>
                                            <p:cond delay="0"/>
                                          </p:stCondLst>
                                        </p:cTn>
                                        <p:tgtEl>
                                          <p:spTgt spid="285"/>
                                        </p:tgtEl>
                                        <p:attrNameLst>
                                          <p:attrName>style.visibility</p:attrName>
                                        </p:attrNameLst>
                                      </p:cBhvr>
                                      <p:to>
                                        <p:strVal val="visible"/>
                                      </p:to>
                                    </p:set>
                                    <p:animEffect transition="in" filter="fade">
                                      <p:cBhvr>
                                        <p:cTn id="79" dur="550"/>
                                        <p:tgtEl>
                                          <p:spTgt spid="285"/>
                                        </p:tgtEl>
                                      </p:cBhvr>
                                    </p:animEffect>
                                  </p:childTnLst>
                                </p:cTn>
                              </p:par>
                              <p:par>
                                <p:cTn id="80" presetID="10" presetClass="entr" presetSubtype="0" fill="hold" nodeType="withEffect">
                                  <p:stCondLst>
                                    <p:cond delay="1520"/>
                                  </p:stCondLst>
                                  <p:childTnLst>
                                    <p:set>
                                      <p:cBhvr>
                                        <p:cTn id="81" dur="1" fill="hold">
                                          <p:stCondLst>
                                            <p:cond delay="0"/>
                                          </p:stCondLst>
                                        </p:cTn>
                                        <p:tgtEl>
                                          <p:spTgt spid="286"/>
                                        </p:tgtEl>
                                        <p:attrNameLst>
                                          <p:attrName>style.visibility</p:attrName>
                                        </p:attrNameLst>
                                      </p:cBhvr>
                                      <p:to>
                                        <p:strVal val="visible"/>
                                      </p:to>
                                    </p:set>
                                    <p:animEffect transition="in" filter="fade">
                                      <p:cBhvr>
                                        <p:cTn id="82" dur="550"/>
                                        <p:tgtEl>
                                          <p:spTgt spid="286"/>
                                        </p:tgtEl>
                                      </p:cBhvr>
                                    </p:animEffect>
                                  </p:childTnLst>
                                </p:cTn>
                              </p:par>
                              <p:par>
                                <p:cTn id="83" presetID="10" presetClass="entr" presetSubtype="0" fill="hold" nodeType="withEffect">
                                  <p:stCondLst>
                                    <p:cond delay="1520"/>
                                  </p:stCondLst>
                                  <p:childTnLst>
                                    <p:set>
                                      <p:cBhvr>
                                        <p:cTn id="84" dur="1" fill="hold">
                                          <p:stCondLst>
                                            <p:cond delay="0"/>
                                          </p:stCondLst>
                                        </p:cTn>
                                        <p:tgtEl>
                                          <p:spTgt spid="287"/>
                                        </p:tgtEl>
                                        <p:attrNameLst>
                                          <p:attrName>style.visibility</p:attrName>
                                        </p:attrNameLst>
                                      </p:cBhvr>
                                      <p:to>
                                        <p:strVal val="visible"/>
                                      </p:to>
                                    </p:set>
                                    <p:animEffect transition="in" filter="fade">
                                      <p:cBhvr>
                                        <p:cTn id="85" dur="550"/>
                                        <p:tgtEl>
                                          <p:spTgt spid="287"/>
                                        </p:tgtEl>
                                      </p:cBhvr>
                                    </p:animEffect>
                                  </p:childTnLst>
                                </p:cTn>
                              </p:par>
                              <p:par>
                                <p:cTn id="86" presetID="10" presetClass="entr" presetSubtype="0" fill="hold" nodeType="withEffect">
                                  <p:stCondLst>
                                    <p:cond delay="1520"/>
                                  </p:stCondLst>
                                  <p:childTnLst>
                                    <p:set>
                                      <p:cBhvr>
                                        <p:cTn id="87" dur="1" fill="hold">
                                          <p:stCondLst>
                                            <p:cond delay="0"/>
                                          </p:stCondLst>
                                        </p:cTn>
                                        <p:tgtEl>
                                          <p:spTgt spid="288"/>
                                        </p:tgtEl>
                                        <p:attrNameLst>
                                          <p:attrName>style.visibility</p:attrName>
                                        </p:attrNameLst>
                                      </p:cBhvr>
                                      <p:to>
                                        <p:strVal val="visible"/>
                                      </p:to>
                                    </p:set>
                                    <p:animEffect transition="in" filter="fade">
                                      <p:cBhvr>
                                        <p:cTn id="88" dur="550"/>
                                        <p:tgtEl>
                                          <p:spTgt spid="288"/>
                                        </p:tgtEl>
                                      </p:cBhvr>
                                    </p:animEffect>
                                  </p:childTnLst>
                                </p:cTn>
                              </p:par>
                              <p:par>
                                <p:cTn id="89" presetID="10" presetClass="entr" presetSubtype="0" fill="hold" nodeType="withEffect">
                                  <p:stCondLst>
                                    <p:cond delay="1520"/>
                                  </p:stCondLst>
                                  <p:childTnLst>
                                    <p:set>
                                      <p:cBhvr>
                                        <p:cTn id="90" dur="1" fill="hold">
                                          <p:stCondLst>
                                            <p:cond delay="0"/>
                                          </p:stCondLst>
                                        </p:cTn>
                                        <p:tgtEl>
                                          <p:spTgt spid="289"/>
                                        </p:tgtEl>
                                        <p:attrNameLst>
                                          <p:attrName>style.visibility</p:attrName>
                                        </p:attrNameLst>
                                      </p:cBhvr>
                                      <p:to>
                                        <p:strVal val="visible"/>
                                      </p:to>
                                    </p:set>
                                    <p:animEffect transition="in" filter="fade">
                                      <p:cBhvr>
                                        <p:cTn id="91" dur="550"/>
                                        <p:tgtEl>
                                          <p:spTgt spid="289"/>
                                        </p:tgtEl>
                                      </p:cBhvr>
                                    </p:animEffect>
                                  </p:childTnLst>
                                </p:cTn>
                              </p:par>
                              <p:par>
                                <p:cTn id="92" presetID="10" presetClass="entr" presetSubtype="0" fill="hold" nodeType="withEffect">
                                  <p:stCondLst>
                                    <p:cond delay="1520"/>
                                  </p:stCondLst>
                                  <p:childTnLst>
                                    <p:set>
                                      <p:cBhvr>
                                        <p:cTn id="93" dur="1" fill="hold">
                                          <p:stCondLst>
                                            <p:cond delay="0"/>
                                          </p:stCondLst>
                                        </p:cTn>
                                        <p:tgtEl>
                                          <p:spTgt spid="290"/>
                                        </p:tgtEl>
                                        <p:attrNameLst>
                                          <p:attrName>style.visibility</p:attrName>
                                        </p:attrNameLst>
                                      </p:cBhvr>
                                      <p:to>
                                        <p:strVal val="visible"/>
                                      </p:to>
                                    </p:set>
                                    <p:animEffect transition="in" filter="fade">
                                      <p:cBhvr>
                                        <p:cTn id="94" dur="550"/>
                                        <p:tgtEl>
                                          <p:spTgt spid="290"/>
                                        </p:tgtEl>
                                      </p:cBhvr>
                                    </p:animEffect>
                                  </p:childTnLst>
                                </p:cTn>
                              </p:par>
                              <p:par>
                                <p:cTn id="95" presetID="10" presetClass="entr" presetSubtype="0" fill="hold" nodeType="withEffect">
                                  <p:stCondLst>
                                    <p:cond delay="1900"/>
                                  </p:stCondLst>
                                  <p:childTnLst>
                                    <p:set>
                                      <p:cBhvr>
                                        <p:cTn id="96" dur="1" fill="hold">
                                          <p:stCondLst>
                                            <p:cond delay="0"/>
                                          </p:stCondLst>
                                        </p:cTn>
                                        <p:tgtEl>
                                          <p:spTgt spid="291"/>
                                        </p:tgtEl>
                                        <p:attrNameLst>
                                          <p:attrName>style.visibility</p:attrName>
                                        </p:attrNameLst>
                                      </p:cBhvr>
                                      <p:to>
                                        <p:strVal val="visible"/>
                                      </p:to>
                                    </p:set>
                                    <p:animEffect transition="in" filter="fade">
                                      <p:cBhvr>
                                        <p:cTn id="97" dur="550"/>
                                        <p:tgtEl>
                                          <p:spTgt spid="291"/>
                                        </p:tgtEl>
                                      </p:cBhvr>
                                    </p:animEffect>
                                  </p:childTnLst>
                                </p:cTn>
                              </p:par>
                              <p:par>
                                <p:cTn id="98" presetID="10" presetClass="entr" presetSubtype="0" fill="hold" nodeType="withEffect">
                                  <p:stCondLst>
                                    <p:cond delay="1900"/>
                                  </p:stCondLst>
                                  <p:childTnLst>
                                    <p:set>
                                      <p:cBhvr>
                                        <p:cTn id="99" dur="1" fill="hold">
                                          <p:stCondLst>
                                            <p:cond delay="0"/>
                                          </p:stCondLst>
                                        </p:cTn>
                                        <p:tgtEl>
                                          <p:spTgt spid="292"/>
                                        </p:tgtEl>
                                        <p:attrNameLst>
                                          <p:attrName>style.visibility</p:attrName>
                                        </p:attrNameLst>
                                      </p:cBhvr>
                                      <p:to>
                                        <p:strVal val="visible"/>
                                      </p:to>
                                    </p:set>
                                    <p:animEffect transition="in" filter="fade">
                                      <p:cBhvr>
                                        <p:cTn id="100" dur="550"/>
                                        <p:tgtEl>
                                          <p:spTgt spid="292"/>
                                        </p:tgtEl>
                                      </p:cBhvr>
                                    </p:animEffect>
                                  </p:childTnLst>
                                </p:cTn>
                              </p:par>
                              <p:par>
                                <p:cTn id="101" presetID="10" presetClass="entr" presetSubtype="0" fill="hold" nodeType="withEffect">
                                  <p:stCondLst>
                                    <p:cond delay="1900"/>
                                  </p:stCondLst>
                                  <p:childTnLst>
                                    <p:set>
                                      <p:cBhvr>
                                        <p:cTn id="102" dur="1" fill="hold">
                                          <p:stCondLst>
                                            <p:cond delay="0"/>
                                          </p:stCondLst>
                                        </p:cTn>
                                        <p:tgtEl>
                                          <p:spTgt spid="293"/>
                                        </p:tgtEl>
                                        <p:attrNameLst>
                                          <p:attrName>style.visibility</p:attrName>
                                        </p:attrNameLst>
                                      </p:cBhvr>
                                      <p:to>
                                        <p:strVal val="visible"/>
                                      </p:to>
                                    </p:set>
                                    <p:animEffect transition="in" filter="fade">
                                      <p:cBhvr>
                                        <p:cTn id="103" dur="550"/>
                                        <p:tgtEl>
                                          <p:spTgt spid="293"/>
                                        </p:tgtEl>
                                      </p:cBhvr>
                                    </p:animEffect>
                                  </p:childTnLst>
                                </p:cTn>
                              </p:par>
                              <p:par>
                                <p:cTn id="104" presetID="10" presetClass="entr" presetSubtype="0" fill="hold" nodeType="withEffect">
                                  <p:stCondLst>
                                    <p:cond delay="1900"/>
                                  </p:stCondLst>
                                  <p:childTnLst>
                                    <p:set>
                                      <p:cBhvr>
                                        <p:cTn id="105" dur="1" fill="hold">
                                          <p:stCondLst>
                                            <p:cond delay="0"/>
                                          </p:stCondLst>
                                        </p:cTn>
                                        <p:tgtEl>
                                          <p:spTgt spid="294"/>
                                        </p:tgtEl>
                                        <p:attrNameLst>
                                          <p:attrName>style.visibility</p:attrName>
                                        </p:attrNameLst>
                                      </p:cBhvr>
                                      <p:to>
                                        <p:strVal val="visible"/>
                                      </p:to>
                                    </p:set>
                                    <p:animEffect transition="in" filter="fade">
                                      <p:cBhvr>
                                        <p:cTn id="106" dur="550"/>
                                        <p:tgtEl>
                                          <p:spTgt spid="294"/>
                                        </p:tgtEl>
                                      </p:cBhvr>
                                    </p:animEffect>
                                  </p:childTnLst>
                                </p:cTn>
                              </p:par>
                              <p:par>
                                <p:cTn id="107" presetID="10" presetClass="entr" presetSubtype="0" fill="hold" nodeType="withEffect">
                                  <p:stCondLst>
                                    <p:cond delay="1900"/>
                                  </p:stCondLst>
                                  <p:childTnLst>
                                    <p:set>
                                      <p:cBhvr>
                                        <p:cTn id="108" dur="1" fill="hold">
                                          <p:stCondLst>
                                            <p:cond delay="0"/>
                                          </p:stCondLst>
                                        </p:cTn>
                                        <p:tgtEl>
                                          <p:spTgt spid="295"/>
                                        </p:tgtEl>
                                        <p:attrNameLst>
                                          <p:attrName>style.visibility</p:attrName>
                                        </p:attrNameLst>
                                      </p:cBhvr>
                                      <p:to>
                                        <p:strVal val="visible"/>
                                      </p:to>
                                    </p:set>
                                    <p:animEffect transition="in" filter="fade">
                                      <p:cBhvr>
                                        <p:cTn id="109" dur="550"/>
                                        <p:tgtEl>
                                          <p:spTgt spid="295"/>
                                        </p:tgtEl>
                                      </p:cBhvr>
                                    </p:animEffect>
                                  </p:childTnLst>
                                </p:cTn>
                              </p:par>
                              <p:par>
                                <p:cTn id="110" presetID="10" presetClass="entr" presetSubtype="0" fill="hold" nodeType="withEffect">
                                  <p:stCondLst>
                                    <p:cond delay="1900"/>
                                  </p:stCondLst>
                                  <p:childTnLst>
                                    <p:set>
                                      <p:cBhvr>
                                        <p:cTn id="111" dur="1" fill="hold">
                                          <p:stCondLst>
                                            <p:cond delay="0"/>
                                          </p:stCondLst>
                                        </p:cTn>
                                        <p:tgtEl>
                                          <p:spTgt spid="296"/>
                                        </p:tgtEl>
                                        <p:attrNameLst>
                                          <p:attrName>style.visibility</p:attrName>
                                        </p:attrNameLst>
                                      </p:cBhvr>
                                      <p:to>
                                        <p:strVal val="visible"/>
                                      </p:to>
                                    </p:set>
                                    <p:animEffect transition="in" filter="fade">
                                      <p:cBhvr>
                                        <p:cTn id="112" dur="550"/>
                                        <p:tgtEl>
                                          <p:spTgt spid="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4"/>
          <p:cNvSpPr txBox="1">
            <a:spLocks noGrp="1"/>
          </p:cNvSpPr>
          <p:nvPr>
            <p:ph type="title"/>
          </p:nvPr>
        </p:nvSpPr>
        <p:spPr>
          <a:xfrm>
            <a:off x="548640" y="365760"/>
            <a:ext cx="11064240" cy="82296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libri"/>
              <a:buNone/>
            </a:pPr>
            <a:r>
              <a:rPr lang="en-US" sz="3600" b="1">
                <a:solidFill>
                  <a:schemeClr val="dk1"/>
                </a:solidFill>
              </a:rPr>
              <a:t>Safe, private and honest by design</a:t>
            </a:r>
            <a:endParaRPr sz="3600"/>
          </a:p>
        </p:txBody>
      </p:sp>
      <p:sp>
        <p:nvSpPr>
          <p:cNvPr id="304" name="Google Shape;304;p14"/>
          <p:cNvSpPr/>
          <p:nvPr/>
        </p:nvSpPr>
        <p:spPr>
          <a:xfrm>
            <a:off x="548640" y="1554480"/>
            <a:ext cx="3429000" cy="2194560"/>
          </a:xfrm>
          <a:prstGeom prst="roundRect">
            <a:avLst>
              <a:gd name="adj" fmla="val 5833"/>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4"/>
          <p:cNvSpPr/>
          <p:nvPr/>
        </p:nvSpPr>
        <p:spPr>
          <a:xfrm>
            <a:off x="777240" y="1783080"/>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6" name="Google Shape;306;p14" descr="preencoded.png"/>
          <p:cNvPicPr preferRelativeResize="0"/>
          <p:nvPr/>
        </p:nvPicPr>
        <p:blipFill rotWithShape="1">
          <a:blip r:embed="rId3">
            <a:alphaModFix/>
          </a:blip>
          <a:srcRect/>
          <a:stretch/>
        </p:blipFill>
        <p:spPr>
          <a:xfrm>
            <a:off x="931774" y="1937614"/>
            <a:ext cx="285293" cy="285293"/>
          </a:xfrm>
          <a:prstGeom prst="rect">
            <a:avLst/>
          </a:prstGeom>
          <a:noFill/>
          <a:ln>
            <a:noFill/>
          </a:ln>
        </p:spPr>
      </p:pic>
      <p:sp>
        <p:nvSpPr>
          <p:cNvPr id="307" name="Google Shape;307;p14"/>
          <p:cNvSpPr txBox="1"/>
          <p:nvPr/>
        </p:nvSpPr>
        <p:spPr>
          <a:xfrm>
            <a:off x="777240" y="2468880"/>
            <a:ext cx="30175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Private by default</a:t>
            </a:r>
            <a:endParaRPr sz="1800" b="0" i="0" u="none" strike="noStrike" cap="none">
              <a:solidFill>
                <a:schemeClr val="dk1"/>
              </a:solidFill>
              <a:latin typeface="Calibri"/>
              <a:ea typeface="Calibri"/>
              <a:cs typeface="Calibri"/>
              <a:sym typeface="Calibri"/>
            </a:endParaRPr>
          </a:p>
        </p:txBody>
      </p:sp>
      <p:sp>
        <p:nvSpPr>
          <p:cNvPr id="308" name="Google Shape;308;p14"/>
          <p:cNvSpPr txBox="1"/>
          <p:nvPr/>
        </p:nvSpPr>
        <p:spPr>
          <a:xfrm>
            <a:off x="777240" y="2852928"/>
            <a:ext cx="301752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500"/>
              <a:buFont typeface="Calibri"/>
              <a:buNone/>
            </a:pPr>
            <a:r>
              <a:rPr lang="en-US" sz="1500" b="0" i="0" u="none" strike="noStrike" cap="none">
                <a:solidFill>
                  <a:srgbClr val="A5C2B2"/>
                </a:solidFill>
                <a:latin typeface="Calibri"/>
                <a:ea typeface="Calibri"/>
                <a:cs typeface="Calibri"/>
                <a:sym typeface="Calibri"/>
              </a:rPr>
              <a:t>Records sit in a private bucket and are shared only through time-limited signed links.</a:t>
            </a:r>
            <a:endParaRPr sz="1500" b="0" i="0" u="none" strike="noStrike" cap="none">
              <a:solidFill>
                <a:schemeClr val="dk1"/>
              </a:solidFill>
              <a:latin typeface="Calibri"/>
              <a:ea typeface="Calibri"/>
              <a:cs typeface="Calibri"/>
              <a:sym typeface="Calibri"/>
            </a:endParaRPr>
          </a:p>
        </p:txBody>
      </p:sp>
      <p:sp>
        <p:nvSpPr>
          <p:cNvPr id="309" name="Google Shape;309;p14"/>
          <p:cNvSpPr/>
          <p:nvPr/>
        </p:nvSpPr>
        <p:spPr>
          <a:xfrm>
            <a:off x="4251960" y="1554480"/>
            <a:ext cx="3429000" cy="2194560"/>
          </a:xfrm>
          <a:prstGeom prst="roundRect">
            <a:avLst>
              <a:gd name="adj" fmla="val 5833"/>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4"/>
          <p:cNvSpPr/>
          <p:nvPr/>
        </p:nvSpPr>
        <p:spPr>
          <a:xfrm>
            <a:off x="4480560" y="1783080"/>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1" name="Google Shape;311;p14" descr="preencoded.png"/>
          <p:cNvPicPr preferRelativeResize="0"/>
          <p:nvPr/>
        </p:nvPicPr>
        <p:blipFill rotWithShape="1">
          <a:blip r:embed="rId4">
            <a:alphaModFix/>
          </a:blip>
          <a:srcRect/>
          <a:stretch/>
        </p:blipFill>
        <p:spPr>
          <a:xfrm>
            <a:off x="4635094" y="1937614"/>
            <a:ext cx="285293" cy="285293"/>
          </a:xfrm>
          <a:prstGeom prst="rect">
            <a:avLst/>
          </a:prstGeom>
          <a:noFill/>
          <a:ln>
            <a:noFill/>
          </a:ln>
        </p:spPr>
      </p:pic>
      <p:sp>
        <p:nvSpPr>
          <p:cNvPr id="312" name="Google Shape;312;p14"/>
          <p:cNvSpPr txBox="1"/>
          <p:nvPr/>
        </p:nvSpPr>
        <p:spPr>
          <a:xfrm>
            <a:off x="4480560" y="2468880"/>
            <a:ext cx="30175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Secrets stay server-side</a:t>
            </a:r>
            <a:endParaRPr sz="1800" b="0" i="0" u="none" strike="noStrike" cap="none">
              <a:solidFill>
                <a:schemeClr val="dk1"/>
              </a:solidFill>
              <a:latin typeface="Calibri"/>
              <a:ea typeface="Calibri"/>
              <a:cs typeface="Calibri"/>
              <a:sym typeface="Calibri"/>
            </a:endParaRPr>
          </a:p>
        </p:txBody>
      </p:sp>
      <p:sp>
        <p:nvSpPr>
          <p:cNvPr id="313" name="Google Shape;313;p14"/>
          <p:cNvSpPr txBox="1"/>
          <p:nvPr/>
        </p:nvSpPr>
        <p:spPr>
          <a:xfrm>
            <a:off x="4480560" y="2852928"/>
            <a:ext cx="301752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500"/>
              <a:buFont typeface="Calibri"/>
              <a:buNone/>
            </a:pPr>
            <a:r>
              <a:rPr lang="en-US" sz="1500" b="0" i="0" u="none" strike="noStrike" cap="none">
                <a:solidFill>
                  <a:srgbClr val="A5C2B2"/>
                </a:solidFill>
                <a:latin typeface="Calibri"/>
                <a:ea typeface="Calibri"/>
                <a:cs typeface="Calibri"/>
                <a:sym typeface="Calibri"/>
              </a:rPr>
              <a:t>Gemini and Supabase service keys are never exposed with a public prefix.</a:t>
            </a:r>
            <a:endParaRPr sz="1500" b="0" i="0" u="none" strike="noStrike" cap="none">
              <a:solidFill>
                <a:schemeClr val="dk1"/>
              </a:solidFill>
              <a:latin typeface="Calibri"/>
              <a:ea typeface="Calibri"/>
              <a:cs typeface="Calibri"/>
              <a:sym typeface="Calibri"/>
            </a:endParaRPr>
          </a:p>
        </p:txBody>
      </p:sp>
      <p:sp>
        <p:nvSpPr>
          <p:cNvPr id="314" name="Google Shape;314;p14"/>
          <p:cNvSpPr/>
          <p:nvPr/>
        </p:nvSpPr>
        <p:spPr>
          <a:xfrm>
            <a:off x="548640" y="4023360"/>
            <a:ext cx="3429000" cy="2194560"/>
          </a:xfrm>
          <a:prstGeom prst="roundRect">
            <a:avLst>
              <a:gd name="adj" fmla="val 5833"/>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4"/>
          <p:cNvSpPr/>
          <p:nvPr/>
        </p:nvSpPr>
        <p:spPr>
          <a:xfrm>
            <a:off x="777240" y="4251960"/>
            <a:ext cx="594360" cy="59436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6" name="Google Shape;316;p14" descr="preencoded.png"/>
          <p:cNvPicPr preferRelativeResize="0"/>
          <p:nvPr/>
        </p:nvPicPr>
        <p:blipFill rotWithShape="1">
          <a:blip r:embed="rId5">
            <a:alphaModFix/>
          </a:blip>
          <a:srcRect/>
          <a:stretch/>
        </p:blipFill>
        <p:spPr>
          <a:xfrm>
            <a:off x="931774" y="4406494"/>
            <a:ext cx="285293" cy="285293"/>
          </a:xfrm>
          <a:prstGeom prst="rect">
            <a:avLst/>
          </a:prstGeom>
          <a:noFill/>
          <a:ln>
            <a:noFill/>
          </a:ln>
        </p:spPr>
      </p:pic>
      <p:sp>
        <p:nvSpPr>
          <p:cNvPr id="317" name="Google Shape;317;p14"/>
          <p:cNvSpPr txBox="1"/>
          <p:nvPr/>
        </p:nvSpPr>
        <p:spPr>
          <a:xfrm>
            <a:off x="777240" y="4937760"/>
            <a:ext cx="30175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Clinically safe</a:t>
            </a:r>
            <a:endParaRPr sz="1800" b="0" i="0" u="none" strike="noStrike" cap="none">
              <a:solidFill>
                <a:schemeClr val="dk1"/>
              </a:solidFill>
              <a:latin typeface="Calibri"/>
              <a:ea typeface="Calibri"/>
              <a:cs typeface="Calibri"/>
              <a:sym typeface="Calibri"/>
            </a:endParaRPr>
          </a:p>
        </p:txBody>
      </p:sp>
      <p:sp>
        <p:nvSpPr>
          <p:cNvPr id="318" name="Google Shape;318;p14"/>
          <p:cNvSpPr txBox="1"/>
          <p:nvPr/>
        </p:nvSpPr>
        <p:spPr>
          <a:xfrm>
            <a:off x="777240" y="5321808"/>
            <a:ext cx="301752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500"/>
              <a:buFont typeface="Calibri"/>
              <a:buNone/>
            </a:pPr>
            <a:r>
              <a:rPr lang="en-US" sz="1500" b="0" i="0" u="none" strike="noStrike" cap="none">
                <a:solidFill>
                  <a:srgbClr val="A5C2B2"/>
                </a:solidFill>
                <a:latin typeface="Calibri"/>
                <a:ea typeface="Calibri"/>
                <a:cs typeface="Calibri"/>
                <a:sym typeface="Calibri"/>
              </a:rPr>
              <a:t>No diagnoses or prescription changes. Emergencies point to 112 / 108.</a:t>
            </a:r>
            <a:endParaRPr sz="1500" b="0" i="0" u="none" strike="noStrike" cap="none">
              <a:solidFill>
                <a:schemeClr val="dk1"/>
              </a:solidFill>
              <a:latin typeface="Calibri"/>
              <a:ea typeface="Calibri"/>
              <a:cs typeface="Calibri"/>
              <a:sym typeface="Calibri"/>
            </a:endParaRPr>
          </a:p>
        </p:txBody>
      </p:sp>
      <p:sp>
        <p:nvSpPr>
          <p:cNvPr id="319" name="Google Shape;319;p14"/>
          <p:cNvSpPr/>
          <p:nvPr/>
        </p:nvSpPr>
        <p:spPr>
          <a:xfrm>
            <a:off x="4251960" y="4023360"/>
            <a:ext cx="3429000" cy="2194560"/>
          </a:xfrm>
          <a:prstGeom prst="roundRect">
            <a:avLst>
              <a:gd name="adj" fmla="val 5833"/>
            </a:avLst>
          </a:prstGeom>
          <a:solidFill>
            <a:schemeClr val="dk1">
              <a:alpha val="7843"/>
            </a:schemeClr>
          </a:solidFill>
          <a:ln w="9525" cap="flat" cmpd="sng">
            <a:solidFill>
              <a:schemeClr val="dk1">
                <a:alpha val="21961"/>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4"/>
          <p:cNvSpPr/>
          <p:nvPr/>
        </p:nvSpPr>
        <p:spPr>
          <a:xfrm>
            <a:off x="4480560" y="4251960"/>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1" name="Google Shape;321;p14" descr="preencoded.png"/>
          <p:cNvPicPr preferRelativeResize="0"/>
          <p:nvPr/>
        </p:nvPicPr>
        <p:blipFill rotWithShape="1">
          <a:blip r:embed="rId6">
            <a:alphaModFix/>
          </a:blip>
          <a:srcRect/>
          <a:stretch/>
        </p:blipFill>
        <p:spPr>
          <a:xfrm>
            <a:off x="4635094" y="4406494"/>
            <a:ext cx="285293" cy="285293"/>
          </a:xfrm>
          <a:prstGeom prst="rect">
            <a:avLst/>
          </a:prstGeom>
          <a:noFill/>
          <a:ln>
            <a:noFill/>
          </a:ln>
        </p:spPr>
      </p:pic>
      <p:sp>
        <p:nvSpPr>
          <p:cNvPr id="322" name="Google Shape;322;p14"/>
          <p:cNvSpPr txBox="1"/>
          <p:nvPr/>
        </p:nvSpPr>
        <p:spPr>
          <a:xfrm>
            <a:off x="4480560" y="4937760"/>
            <a:ext cx="30175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Truthful failures</a:t>
            </a:r>
            <a:endParaRPr sz="1800" b="0" i="0" u="none" strike="noStrike" cap="none">
              <a:solidFill>
                <a:schemeClr val="dk1"/>
              </a:solidFill>
              <a:latin typeface="Calibri"/>
              <a:ea typeface="Calibri"/>
              <a:cs typeface="Calibri"/>
              <a:sym typeface="Calibri"/>
            </a:endParaRPr>
          </a:p>
        </p:txBody>
      </p:sp>
      <p:sp>
        <p:nvSpPr>
          <p:cNvPr id="323" name="Google Shape;323;p14"/>
          <p:cNvSpPr txBox="1"/>
          <p:nvPr/>
        </p:nvSpPr>
        <p:spPr>
          <a:xfrm>
            <a:off x="4480560" y="5321808"/>
            <a:ext cx="301752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C2B2"/>
              </a:buClr>
              <a:buSzPts val="1500"/>
              <a:buFont typeface="Calibri"/>
              <a:buNone/>
            </a:pPr>
            <a:r>
              <a:rPr lang="en-US" sz="1500" b="0" i="0" u="none" strike="noStrike" cap="none">
                <a:solidFill>
                  <a:srgbClr val="A5C2B2"/>
                </a:solidFill>
                <a:latin typeface="Calibri"/>
                <a:ea typeface="Calibri"/>
                <a:cs typeface="Calibri"/>
                <a:sym typeface="Calibri"/>
              </a:rPr>
              <a:t>Missing AI or database credentials give honest fallbacks, never fake output.</a:t>
            </a:r>
            <a:endParaRPr sz="1500" b="0" i="0" u="none" strike="noStrike" cap="none">
              <a:solidFill>
                <a:schemeClr val="dk1"/>
              </a:solidFill>
              <a:latin typeface="Calibri"/>
              <a:ea typeface="Calibri"/>
              <a:cs typeface="Calibri"/>
              <a:sym typeface="Calibri"/>
            </a:endParaRPr>
          </a:p>
        </p:txBody>
      </p:sp>
      <p:sp>
        <p:nvSpPr>
          <p:cNvPr id="324" name="Google Shape;324;p14"/>
          <p:cNvSpPr/>
          <p:nvPr/>
        </p:nvSpPr>
        <p:spPr>
          <a:xfrm>
            <a:off x="7955280" y="1554480"/>
            <a:ext cx="3685032" cy="4663440"/>
          </a:xfrm>
          <a:prstGeom prst="roundRect">
            <a:avLst>
              <a:gd name="adj" fmla="val 3474"/>
            </a:avLst>
          </a:prstGeom>
          <a:solidFill>
            <a:schemeClr val="accent1">
              <a:alpha val="14118"/>
            </a:schemeClr>
          </a:solidFill>
          <a:ln w="12700" cap="flat" cmpd="sng">
            <a:solidFill>
              <a:schemeClr val="accent1">
                <a:alpha val="54902"/>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4"/>
          <p:cNvSpPr/>
          <p:nvPr/>
        </p:nvSpPr>
        <p:spPr>
          <a:xfrm>
            <a:off x="8183880" y="1783080"/>
            <a:ext cx="594360" cy="59436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6" name="Google Shape;326;p14" descr="preencoded.png"/>
          <p:cNvPicPr preferRelativeResize="0"/>
          <p:nvPr/>
        </p:nvPicPr>
        <p:blipFill rotWithShape="1">
          <a:blip r:embed="rId7">
            <a:alphaModFix/>
          </a:blip>
          <a:srcRect/>
          <a:stretch/>
        </p:blipFill>
        <p:spPr>
          <a:xfrm>
            <a:off x="8338414" y="1937614"/>
            <a:ext cx="285293" cy="285293"/>
          </a:xfrm>
          <a:prstGeom prst="rect">
            <a:avLst/>
          </a:prstGeom>
          <a:noFill/>
          <a:ln>
            <a:noFill/>
          </a:ln>
        </p:spPr>
      </p:pic>
      <p:sp>
        <p:nvSpPr>
          <p:cNvPr id="327" name="Google Shape;327;p14"/>
          <p:cNvSpPr txBox="1"/>
          <p:nvPr/>
        </p:nvSpPr>
        <p:spPr>
          <a:xfrm>
            <a:off x="8183880" y="2560320"/>
            <a:ext cx="32004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200"/>
              <a:buFont typeface="Calibri"/>
              <a:buNone/>
            </a:pPr>
            <a:r>
              <a:rPr lang="en-US" sz="2200" b="1" i="0" u="none" strike="noStrike" cap="none">
                <a:solidFill>
                  <a:schemeClr val="dk1"/>
                </a:solidFill>
                <a:latin typeface="Calibri"/>
                <a:ea typeface="Calibri"/>
                <a:cs typeface="Calibri"/>
                <a:sym typeface="Calibri"/>
              </a:rPr>
              <a:t>Prototype scope</a:t>
            </a:r>
            <a:endParaRPr sz="2200" b="0" i="0" u="none" strike="noStrike" cap="none">
              <a:solidFill>
                <a:schemeClr val="dk1"/>
              </a:solidFill>
              <a:latin typeface="Calibri"/>
              <a:ea typeface="Calibri"/>
              <a:cs typeface="Calibri"/>
              <a:sym typeface="Calibri"/>
            </a:endParaRPr>
          </a:p>
        </p:txBody>
      </p:sp>
      <p:sp>
        <p:nvSpPr>
          <p:cNvPr id="328" name="Google Shape;328;p14"/>
          <p:cNvSpPr txBox="1"/>
          <p:nvPr/>
        </p:nvSpPr>
        <p:spPr>
          <a:xfrm>
            <a:off x="8183880" y="3108960"/>
            <a:ext cx="3246120" cy="292608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rgbClr val="D3EBDD"/>
              </a:buClr>
              <a:buSzPts val="1600"/>
              <a:buFont typeface="Calibri"/>
              <a:buChar char="•"/>
            </a:pPr>
            <a:r>
              <a:rPr lang="en-US" sz="1600" b="0" i="0" u="none" strike="noStrike" cap="none">
                <a:solidFill>
                  <a:srgbClr val="D3EBDD"/>
                </a:solidFill>
                <a:latin typeface="Calibri"/>
                <a:ea typeface="Calibri"/>
                <a:cs typeface="Calibri"/>
                <a:sym typeface="Calibri"/>
              </a:rPr>
              <a:t>Wearable and scale readings are simulated</a:t>
            </a:r>
            <a:endParaRPr sz="1600" b="0" i="0" u="none" strike="noStrike" cap="none">
              <a:solidFill>
                <a:schemeClr val="dk1"/>
              </a:solidFill>
              <a:latin typeface="Calibri"/>
              <a:ea typeface="Calibri"/>
              <a:cs typeface="Calibri"/>
              <a:sym typeface="Calibri"/>
            </a:endParaRPr>
          </a:p>
          <a:p>
            <a:pPr marL="342900" marR="0" lvl="0" indent="-342900" algn="l" rtl="0">
              <a:spcBef>
                <a:spcPts val="1000"/>
              </a:spcBef>
              <a:spcAft>
                <a:spcPts val="0"/>
              </a:spcAft>
              <a:buClr>
                <a:srgbClr val="D3EBDD"/>
              </a:buClr>
              <a:buSzPts val="1600"/>
              <a:buFont typeface="Calibri"/>
              <a:buChar char="•"/>
            </a:pPr>
            <a:r>
              <a:rPr lang="en-US" sz="1600" b="0" i="0" u="none" strike="noStrike" cap="none">
                <a:solidFill>
                  <a:srgbClr val="D3EBDD"/>
                </a:solidFill>
                <a:latin typeface="Calibri"/>
                <a:ea typeface="Calibri"/>
                <a:cs typeface="Calibri"/>
                <a:sym typeface="Calibri"/>
              </a:rPr>
              <a:t>ABHA ID is a mock identifier</a:t>
            </a:r>
            <a:endParaRPr sz="1600" b="0" i="0" u="none" strike="noStrike" cap="none">
              <a:solidFill>
                <a:schemeClr val="dk1"/>
              </a:solidFill>
              <a:latin typeface="Calibri"/>
              <a:ea typeface="Calibri"/>
              <a:cs typeface="Calibri"/>
              <a:sym typeface="Calibri"/>
            </a:endParaRPr>
          </a:p>
          <a:p>
            <a:pPr marL="342900" marR="0" lvl="0" indent="-342900" algn="l" rtl="0">
              <a:spcBef>
                <a:spcPts val="1000"/>
              </a:spcBef>
              <a:spcAft>
                <a:spcPts val="0"/>
              </a:spcAft>
              <a:buClr>
                <a:srgbClr val="D3EBDD"/>
              </a:buClr>
              <a:buSzPts val="1600"/>
              <a:buFont typeface="Calibri"/>
              <a:buChar char="•"/>
            </a:pPr>
            <a:r>
              <a:rPr lang="en-US" sz="1600" b="0" i="0" u="none" strike="noStrike" cap="none">
                <a:solidFill>
                  <a:srgbClr val="D3EBDD"/>
                </a:solidFill>
                <a:latin typeface="Calibri"/>
                <a:ea typeface="Calibri"/>
                <a:cs typeface="Calibri"/>
                <a:sym typeface="Calibri"/>
              </a:rPr>
              <a:t>Not connected to a live ABDM gateway or clinical system</a:t>
            </a:r>
            <a:endParaRPr sz="1600" b="0" i="0" u="none" strike="noStrike" cap="none">
              <a:solidFill>
                <a:schemeClr val="dk1"/>
              </a:solidFill>
              <a:latin typeface="Calibri"/>
              <a:ea typeface="Calibri"/>
              <a:cs typeface="Calibri"/>
              <a:sym typeface="Calibri"/>
            </a:endParaRPr>
          </a:p>
          <a:p>
            <a:pPr marL="342900" marR="0" lvl="0" indent="-342900" algn="l" rtl="0">
              <a:spcBef>
                <a:spcPts val="1000"/>
              </a:spcBef>
              <a:spcAft>
                <a:spcPts val="0"/>
              </a:spcAft>
              <a:buClr>
                <a:srgbClr val="D3EBDD"/>
              </a:buClr>
              <a:buSzPts val="1600"/>
              <a:buFont typeface="Calibri"/>
              <a:buChar char="•"/>
            </a:pPr>
            <a:r>
              <a:rPr lang="en-US" sz="1600" b="0" i="0" u="none" strike="noStrike" cap="none">
                <a:solidFill>
                  <a:srgbClr val="D3EBDD"/>
                </a:solidFill>
                <a:latin typeface="Calibri"/>
                <a:ea typeface="Calibri"/>
                <a:cs typeface="Calibri"/>
                <a:sym typeface="Calibri"/>
              </a:rPr>
              <a:t>Uploads capped at 4 MB (records) and 3 MB (chat)</a:t>
            </a:r>
            <a:endParaRPr sz="1600" b="0" i="0" u="none" strike="noStrike" cap="none">
              <a:solidFill>
                <a:schemeClr val="dk1"/>
              </a:solidFill>
              <a:latin typeface="Calibri"/>
              <a:ea typeface="Calibri"/>
              <a:cs typeface="Calibri"/>
              <a:sym typeface="Calibri"/>
            </a:endParaRPr>
          </a:p>
        </p:txBody>
      </p:sp>
      <p:sp>
        <p:nvSpPr>
          <p:cNvPr id="329" name="Google Shape;329;p14"/>
          <p:cNvSpPr txBox="1">
            <a:spLocks noGrp="1"/>
          </p:cNvSpPr>
          <p:nvPr>
            <p:ph type="sldNum" idx="4294967295"/>
          </p:nvPr>
        </p:nvSpPr>
        <p:spPr>
          <a:xfrm>
            <a:off x="11064240" y="6400800"/>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100" b="0" i="0" u="none" strike="noStrike" cap="none">
                <a:solidFill>
                  <a:srgbClr val="6F8F7F"/>
                </a:solidFill>
                <a:latin typeface="Calibri"/>
                <a:ea typeface="Calibri"/>
                <a:cs typeface="Calibri"/>
                <a:sym typeface="Calibri"/>
              </a:rPr>
              <a:t>8</a:t>
            </a:fld>
            <a:endParaRPr sz="1100" b="0" i="0" u="none" strike="noStrike" cap="none">
              <a:solidFill>
                <a:srgbClr val="6F8F7F"/>
              </a:solidFill>
              <a:latin typeface="Calibri"/>
              <a:ea typeface="Calibri"/>
              <a:cs typeface="Calibri"/>
              <a:sym typeface="Calibri"/>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4"/>
                                        </p:tgtEl>
                                        <p:attrNameLst>
                                          <p:attrName>style.visibility</p:attrName>
                                        </p:attrNameLst>
                                      </p:cBhvr>
                                      <p:to>
                                        <p:strVal val="visible"/>
                                      </p:to>
                                    </p:set>
                                    <p:animEffect transition="in" filter="fade">
                                      <p:cBhvr>
                                        <p:cTn id="7" dur="550"/>
                                        <p:tgtEl>
                                          <p:spTgt spid="304"/>
                                        </p:tgtEl>
                                      </p:cBhvr>
                                    </p:animEffect>
                                  </p:childTnLst>
                                </p:cTn>
                              </p:par>
                              <p:par>
                                <p:cTn id="8" presetID="10" presetClass="entr" presetSubtype="0" fill="hold" nodeType="withEffect">
                                  <p:stCondLst>
                                    <p:cond delay="0"/>
                                  </p:stCondLst>
                                  <p:childTnLst>
                                    <p:set>
                                      <p:cBhvr>
                                        <p:cTn id="9" dur="1" fill="hold">
                                          <p:stCondLst>
                                            <p:cond delay="0"/>
                                          </p:stCondLst>
                                        </p:cTn>
                                        <p:tgtEl>
                                          <p:spTgt spid="305"/>
                                        </p:tgtEl>
                                        <p:attrNameLst>
                                          <p:attrName>style.visibility</p:attrName>
                                        </p:attrNameLst>
                                      </p:cBhvr>
                                      <p:to>
                                        <p:strVal val="visible"/>
                                      </p:to>
                                    </p:set>
                                    <p:animEffect transition="in" filter="fade">
                                      <p:cBhvr>
                                        <p:cTn id="10" dur="550"/>
                                        <p:tgtEl>
                                          <p:spTgt spid="305"/>
                                        </p:tgtEl>
                                      </p:cBhvr>
                                    </p:animEffect>
                                  </p:childTnLst>
                                </p:cTn>
                              </p:par>
                              <p:par>
                                <p:cTn id="11" presetID="10" presetClass="entr" presetSubtype="0" fill="hold" nodeType="withEffect">
                                  <p:stCondLst>
                                    <p:cond delay="0"/>
                                  </p:stCondLst>
                                  <p:childTnLst>
                                    <p:set>
                                      <p:cBhvr>
                                        <p:cTn id="12" dur="1" fill="hold">
                                          <p:stCondLst>
                                            <p:cond delay="0"/>
                                          </p:stCondLst>
                                        </p:cTn>
                                        <p:tgtEl>
                                          <p:spTgt spid="306"/>
                                        </p:tgtEl>
                                        <p:attrNameLst>
                                          <p:attrName>style.visibility</p:attrName>
                                        </p:attrNameLst>
                                      </p:cBhvr>
                                      <p:to>
                                        <p:strVal val="visible"/>
                                      </p:to>
                                    </p:set>
                                    <p:animEffect transition="in" filter="fade">
                                      <p:cBhvr>
                                        <p:cTn id="13" dur="550"/>
                                        <p:tgtEl>
                                          <p:spTgt spid="306"/>
                                        </p:tgtEl>
                                      </p:cBhvr>
                                    </p:animEffect>
                                  </p:childTnLst>
                                </p:cTn>
                              </p:par>
                              <p:par>
                                <p:cTn id="14" presetID="10" presetClass="entr" presetSubtype="0" fill="hold" nodeType="withEffect">
                                  <p:stCondLst>
                                    <p:cond delay="0"/>
                                  </p:stCondLst>
                                  <p:childTnLst>
                                    <p:set>
                                      <p:cBhvr>
                                        <p:cTn id="15" dur="1" fill="hold">
                                          <p:stCondLst>
                                            <p:cond delay="0"/>
                                          </p:stCondLst>
                                        </p:cTn>
                                        <p:tgtEl>
                                          <p:spTgt spid="307"/>
                                        </p:tgtEl>
                                        <p:attrNameLst>
                                          <p:attrName>style.visibility</p:attrName>
                                        </p:attrNameLst>
                                      </p:cBhvr>
                                      <p:to>
                                        <p:strVal val="visible"/>
                                      </p:to>
                                    </p:set>
                                    <p:animEffect transition="in" filter="fade">
                                      <p:cBhvr>
                                        <p:cTn id="16" dur="550"/>
                                        <p:tgtEl>
                                          <p:spTgt spid="307"/>
                                        </p:tgtEl>
                                      </p:cBhvr>
                                    </p:animEffect>
                                  </p:childTnLst>
                                </p:cTn>
                              </p:par>
                              <p:par>
                                <p:cTn id="17" presetID="10" presetClass="entr" presetSubtype="0" fill="hold" nodeType="withEffect">
                                  <p:stCondLst>
                                    <p:cond delay="0"/>
                                  </p:stCondLst>
                                  <p:childTnLst>
                                    <p:set>
                                      <p:cBhvr>
                                        <p:cTn id="18" dur="1" fill="hold">
                                          <p:stCondLst>
                                            <p:cond delay="0"/>
                                          </p:stCondLst>
                                        </p:cTn>
                                        <p:tgtEl>
                                          <p:spTgt spid="308"/>
                                        </p:tgtEl>
                                        <p:attrNameLst>
                                          <p:attrName>style.visibility</p:attrName>
                                        </p:attrNameLst>
                                      </p:cBhvr>
                                      <p:to>
                                        <p:strVal val="visible"/>
                                      </p:to>
                                    </p:set>
                                    <p:animEffect transition="in" filter="fade">
                                      <p:cBhvr>
                                        <p:cTn id="19" dur="550"/>
                                        <p:tgtEl>
                                          <p:spTgt spid="308"/>
                                        </p:tgtEl>
                                      </p:cBhvr>
                                    </p:animEffect>
                                  </p:childTnLst>
                                </p:cTn>
                              </p:par>
                              <p:par>
                                <p:cTn id="20" presetID="10" presetClass="entr" presetSubtype="0" fill="hold" nodeType="withEffect">
                                  <p:stCondLst>
                                    <p:cond delay="380"/>
                                  </p:stCondLst>
                                  <p:childTnLst>
                                    <p:set>
                                      <p:cBhvr>
                                        <p:cTn id="21" dur="1" fill="hold">
                                          <p:stCondLst>
                                            <p:cond delay="0"/>
                                          </p:stCondLst>
                                        </p:cTn>
                                        <p:tgtEl>
                                          <p:spTgt spid="309"/>
                                        </p:tgtEl>
                                        <p:attrNameLst>
                                          <p:attrName>style.visibility</p:attrName>
                                        </p:attrNameLst>
                                      </p:cBhvr>
                                      <p:to>
                                        <p:strVal val="visible"/>
                                      </p:to>
                                    </p:set>
                                    <p:animEffect transition="in" filter="fade">
                                      <p:cBhvr>
                                        <p:cTn id="22" dur="550"/>
                                        <p:tgtEl>
                                          <p:spTgt spid="309"/>
                                        </p:tgtEl>
                                      </p:cBhvr>
                                    </p:animEffect>
                                  </p:childTnLst>
                                </p:cTn>
                              </p:par>
                              <p:par>
                                <p:cTn id="23" presetID="10" presetClass="entr" presetSubtype="0" fill="hold" nodeType="withEffect">
                                  <p:stCondLst>
                                    <p:cond delay="380"/>
                                  </p:stCondLst>
                                  <p:childTnLst>
                                    <p:set>
                                      <p:cBhvr>
                                        <p:cTn id="24" dur="1" fill="hold">
                                          <p:stCondLst>
                                            <p:cond delay="0"/>
                                          </p:stCondLst>
                                        </p:cTn>
                                        <p:tgtEl>
                                          <p:spTgt spid="310"/>
                                        </p:tgtEl>
                                        <p:attrNameLst>
                                          <p:attrName>style.visibility</p:attrName>
                                        </p:attrNameLst>
                                      </p:cBhvr>
                                      <p:to>
                                        <p:strVal val="visible"/>
                                      </p:to>
                                    </p:set>
                                    <p:animEffect transition="in" filter="fade">
                                      <p:cBhvr>
                                        <p:cTn id="25" dur="550"/>
                                        <p:tgtEl>
                                          <p:spTgt spid="310"/>
                                        </p:tgtEl>
                                      </p:cBhvr>
                                    </p:animEffect>
                                  </p:childTnLst>
                                </p:cTn>
                              </p:par>
                              <p:par>
                                <p:cTn id="26" presetID="10" presetClass="entr" presetSubtype="0" fill="hold" nodeType="withEffect">
                                  <p:stCondLst>
                                    <p:cond delay="380"/>
                                  </p:stCondLst>
                                  <p:childTnLst>
                                    <p:set>
                                      <p:cBhvr>
                                        <p:cTn id="27" dur="1" fill="hold">
                                          <p:stCondLst>
                                            <p:cond delay="0"/>
                                          </p:stCondLst>
                                        </p:cTn>
                                        <p:tgtEl>
                                          <p:spTgt spid="311"/>
                                        </p:tgtEl>
                                        <p:attrNameLst>
                                          <p:attrName>style.visibility</p:attrName>
                                        </p:attrNameLst>
                                      </p:cBhvr>
                                      <p:to>
                                        <p:strVal val="visible"/>
                                      </p:to>
                                    </p:set>
                                    <p:animEffect transition="in" filter="fade">
                                      <p:cBhvr>
                                        <p:cTn id="28" dur="550"/>
                                        <p:tgtEl>
                                          <p:spTgt spid="311"/>
                                        </p:tgtEl>
                                      </p:cBhvr>
                                    </p:animEffect>
                                  </p:childTnLst>
                                </p:cTn>
                              </p:par>
                              <p:par>
                                <p:cTn id="29" presetID="10" presetClass="entr" presetSubtype="0" fill="hold" nodeType="withEffect">
                                  <p:stCondLst>
                                    <p:cond delay="380"/>
                                  </p:stCondLst>
                                  <p:childTnLst>
                                    <p:set>
                                      <p:cBhvr>
                                        <p:cTn id="30" dur="1" fill="hold">
                                          <p:stCondLst>
                                            <p:cond delay="0"/>
                                          </p:stCondLst>
                                        </p:cTn>
                                        <p:tgtEl>
                                          <p:spTgt spid="312"/>
                                        </p:tgtEl>
                                        <p:attrNameLst>
                                          <p:attrName>style.visibility</p:attrName>
                                        </p:attrNameLst>
                                      </p:cBhvr>
                                      <p:to>
                                        <p:strVal val="visible"/>
                                      </p:to>
                                    </p:set>
                                    <p:animEffect transition="in" filter="fade">
                                      <p:cBhvr>
                                        <p:cTn id="31" dur="550"/>
                                        <p:tgtEl>
                                          <p:spTgt spid="312"/>
                                        </p:tgtEl>
                                      </p:cBhvr>
                                    </p:animEffect>
                                  </p:childTnLst>
                                </p:cTn>
                              </p:par>
                              <p:par>
                                <p:cTn id="32" presetID="10" presetClass="entr" presetSubtype="0" fill="hold" nodeType="withEffect">
                                  <p:stCondLst>
                                    <p:cond delay="380"/>
                                  </p:stCondLst>
                                  <p:childTnLst>
                                    <p:set>
                                      <p:cBhvr>
                                        <p:cTn id="33" dur="1" fill="hold">
                                          <p:stCondLst>
                                            <p:cond delay="0"/>
                                          </p:stCondLst>
                                        </p:cTn>
                                        <p:tgtEl>
                                          <p:spTgt spid="313"/>
                                        </p:tgtEl>
                                        <p:attrNameLst>
                                          <p:attrName>style.visibility</p:attrName>
                                        </p:attrNameLst>
                                      </p:cBhvr>
                                      <p:to>
                                        <p:strVal val="visible"/>
                                      </p:to>
                                    </p:set>
                                    <p:animEffect transition="in" filter="fade">
                                      <p:cBhvr>
                                        <p:cTn id="34" dur="550"/>
                                        <p:tgtEl>
                                          <p:spTgt spid="313"/>
                                        </p:tgtEl>
                                      </p:cBhvr>
                                    </p:animEffect>
                                  </p:childTnLst>
                                </p:cTn>
                              </p:par>
                              <p:par>
                                <p:cTn id="35" presetID="10" presetClass="entr" presetSubtype="0" fill="hold" nodeType="withEffect">
                                  <p:stCondLst>
                                    <p:cond delay="760"/>
                                  </p:stCondLst>
                                  <p:childTnLst>
                                    <p:set>
                                      <p:cBhvr>
                                        <p:cTn id="36" dur="1" fill="hold">
                                          <p:stCondLst>
                                            <p:cond delay="0"/>
                                          </p:stCondLst>
                                        </p:cTn>
                                        <p:tgtEl>
                                          <p:spTgt spid="314"/>
                                        </p:tgtEl>
                                        <p:attrNameLst>
                                          <p:attrName>style.visibility</p:attrName>
                                        </p:attrNameLst>
                                      </p:cBhvr>
                                      <p:to>
                                        <p:strVal val="visible"/>
                                      </p:to>
                                    </p:set>
                                    <p:animEffect transition="in" filter="fade">
                                      <p:cBhvr>
                                        <p:cTn id="37" dur="550"/>
                                        <p:tgtEl>
                                          <p:spTgt spid="314"/>
                                        </p:tgtEl>
                                      </p:cBhvr>
                                    </p:animEffect>
                                  </p:childTnLst>
                                </p:cTn>
                              </p:par>
                              <p:par>
                                <p:cTn id="38" presetID="10" presetClass="entr" presetSubtype="0" fill="hold" nodeType="withEffect">
                                  <p:stCondLst>
                                    <p:cond delay="760"/>
                                  </p:stCondLst>
                                  <p:childTnLst>
                                    <p:set>
                                      <p:cBhvr>
                                        <p:cTn id="39" dur="1" fill="hold">
                                          <p:stCondLst>
                                            <p:cond delay="0"/>
                                          </p:stCondLst>
                                        </p:cTn>
                                        <p:tgtEl>
                                          <p:spTgt spid="315"/>
                                        </p:tgtEl>
                                        <p:attrNameLst>
                                          <p:attrName>style.visibility</p:attrName>
                                        </p:attrNameLst>
                                      </p:cBhvr>
                                      <p:to>
                                        <p:strVal val="visible"/>
                                      </p:to>
                                    </p:set>
                                    <p:animEffect transition="in" filter="fade">
                                      <p:cBhvr>
                                        <p:cTn id="40" dur="550"/>
                                        <p:tgtEl>
                                          <p:spTgt spid="315"/>
                                        </p:tgtEl>
                                      </p:cBhvr>
                                    </p:animEffect>
                                  </p:childTnLst>
                                </p:cTn>
                              </p:par>
                              <p:par>
                                <p:cTn id="41" presetID="10" presetClass="entr" presetSubtype="0" fill="hold" nodeType="withEffect">
                                  <p:stCondLst>
                                    <p:cond delay="760"/>
                                  </p:stCondLst>
                                  <p:childTnLst>
                                    <p:set>
                                      <p:cBhvr>
                                        <p:cTn id="42" dur="1" fill="hold">
                                          <p:stCondLst>
                                            <p:cond delay="0"/>
                                          </p:stCondLst>
                                        </p:cTn>
                                        <p:tgtEl>
                                          <p:spTgt spid="316"/>
                                        </p:tgtEl>
                                        <p:attrNameLst>
                                          <p:attrName>style.visibility</p:attrName>
                                        </p:attrNameLst>
                                      </p:cBhvr>
                                      <p:to>
                                        <p:strVal val="visible"/>
                                      </p:to>
                                    </p:set>
                                    <p:animEffect transition="in" filter="fade">
                                      <p:cBhvr>
                                        <p:cTn id="43" dur="550"/>
                                        <p:tgtEl>
                                          <p:spTgt spid="316"/>
                                        </p:tgtEl>
                                      </p:cBhvr>
                                    </p:animEffect>
                                  </p:childTnLst>
                                </p:cTn>
                              </p:par>
                              <p:par>
                                <p:cTn id="44" presetID="10" presetClass="entr" presetSubtype="0" fill="hold" nodeType="withEffect">
                                  <p:stCondLst>
                                    <p:cond delay="760"/>
                                  </p:stCondLst>
                                  <p:childTnLst>
                                    <p:set>
                                      <p:cBhvr>
                                        <p:cTn id="45" dur="1" fill="hold">
                                          <p:stCondLst>
                                            <p:cond delay="0"/>
                                          </p:stCondLst>
                                        </p:cTn>
                                        <p:tgtEl>
                                          <p:spTgt spid="317"/>
                                        </p:tgtEl>
                                        <p:attrNameLst>
                                          <p:attrName>style.visibility</p:attrName>
                                        </p:attrNameLst>
                                      </p:cBhvr>
                                      <p:to>
                                        <p:strVal val="visible"/>
                                      </p:to>
                                    </p:set>
                                    <p:animEffect transition="in" filter="fade">
                                      <p:cBhvr>
                                        <p:cTn id="46" dur="550"/>
                                        <p:tgtEl>
                                          <p:spTgt spid="317"/>
                                        </p:tgtEl>
                                      </p:cBhvr>
                                    </p:animEffect>
                                  </p:childTnLst>
                                </p:cTn>
                              </p:par>
                              <p:par>
                                <p:cTn id="47" presetID="10" presetClass="entr" presetSubtype="0" fill="hold" nodeType="withEffect">
                                  <p:stCondLst>
                                    <p:cond delay="760"/>
                                  </p:stCondLst>
                                  <p:childTnLst>
                                    <p:set>
                                      <p:cBhvr>
                                        <p:cTn id="48" dur="1" fill="hold">
                                          <p:stCondLst>
                                            <p:cond delay="0"/>
                                          </p:stCondLst>
                                        </p:cTn>
                                        <p:tgtEl>
                                          <p:spTgt spid="318"/>
                                        </p:tgtEl>
                                        <p:attrNameLst>
                                          <p:attrName>style.visibility</p:attrName>
                                        </p:attrNameLst>
                                      </p:cBhvr>
                                      <p:to>
                                        <p:strVal val="visible"/>
                                      </p:to>
                                    </p:set>
                                    <p:animEffect transition="in" filter="fade">
                                      <p:cBhvr>
                                        <p:cTn id="49" dur="550"/>
                                        <p:tgtEl>
                                          <p:spTgt spid="318"/>
                                        </p:tgtEl>
                                      </p:cBhvr>
                                    </p:animEffect>
                                  </p:childTnLst>
                                </p:cTn>
                              </p:par>
                              <p:par>
                                <p:cTn id="50" presetID="10" presetClass="entr" presetSubtype="0" fill="hold" nodeType="withEffect">
                                  <p:stCondLst>
                                    <p:cond delay="1140"/>
                                  </p:stCondLst>
                                  <p:childTnLst>
                                    <p:set>
                                      <p:cBhvr>
                                        <p:cTn id="51" dur="1" fill="hold">
                                          <p:stCondLst>
                                            <p:cond delay="0"/>
                                          </p:stCondLst>
                                        </p:cTn>
                                        <p:tgtEl>
                                          <p:spTgt spid="319"/>
                                        </p:tgtEl>
                                        <p:attrNameLst>
                                          <p:attrName>style.visibility</p:attrName>
                                        </p:attrNameLst>
                                      </p:cBhvr>
                                      <p:to>
                                        <p:strVal val="visible"/>
                                      </p:to>
                                    </p:set>
                                    <p:animEffect transition="in" filter="fade">
                                      <p:cBhvr>
                                        <p:cTn id="52" dur="550"/>
                                        <p:tgtEl>
                                          <p:spTgt spid="319"/>
                                        </p:tgtEl>
                                      </p:cBhvr>
                                    </p:animEffect>
                                  </p:childTnLst>
                                </p:cTn>
                              </p:par>
                              <p:par>
                                <p:cTn id="53" presetID="10" presetClass="entr" presetSubtype="0" fill="hold" nodeType="withEffect">
                                  <p:stCondLst>
                                    <p:cond delay="1140"/>
                                  </p:stCondLst>
                                  <p:childTnLst>
                                    <p:set>
                                      <p:cBhvr>
                                        <p:cTn id="54" dur="1" fill="hold">
                                          <p:stCondLst>
                                            <p:cond delay="0"/>
                                          </p:stCondLst>
                                        </p:cTn>
                                        <p:tgtEl>
                                          <p:spTgt spid="320"/>
                                        </p:tgtEl>
                                        <p:attrNameLst>
                                          <p:attrName>style.visibility</p:attrName>
                                        </p:attrNameLst>
                                      </p:cBhvr>
                                      <p:to>
                                        <p:strVal val="visible"/>
                                      </p:to>
                                    </p:set>
                                    <p:animEffect transition="in" filter="fade">
                                      <p:cBhvr>
                                        <p:cTn id="55" dur="550"/>
                                        <p:tgtEl>
                                          <p:spTgt spid="320"/>
                                        </p:tgtEl>
                                      </p:cBhvr>
                                    </p:animEffect>
                                  </p:childTnLst>
                                </p:cTn>
                              </p:par>
                              <p:par>
                                <p:cTn id="56" presetID="10" presetClass="entr" presetSubtype="0" fill="hold" nodeType="withEffect">
                                  <p:stCondLst>
                                    <p:cond delay="1140"/>
                                  </p:stCondLst>
                                  <p:childTnLst>
                                    <p:set>
                                      <p:cBhvr>
                                        <p:cTn id="57" dur="1" fill="hold">
                                          <p:stCondLst>
                                            <p:cond delay="0"/>
                                          </p:stCondLst>
                                        </p:cTn>
                                        <p:tgtEl>
                                          <p:spTgt spid="321"/>
                                        </p:tgtEl>
                                        <p:attrNameLst>
                                          <p:attrName>style.visibility</p:attrName>
                                        </p:attrNameLst>
                                      </p:cBhvr>
                                      <p:to>
                                        <p:strVal val="visible"/>
                                      </p:to>
                                    </p:set>
                                    <p:animEffect transition="in" filter="fade">
                                      <p:cBhvr>
                                        <p:cTn id="58" dur="550"/>
                                        <p:tgtEl>
                                          <p:spTgt spid="321"/>
                                        </p:tgtEl>
                                      </p:cBhvr>
                                    </p:animEffect>
                                  </p:childTnLst>
                                </p:cTn>
                              </p:par>
                              <p:par>
                                <p:cTn id="59" presetID="10" presetClass="entr" presetSubtype="0" fill="hold" nodeType="withEffect">
                                  <p:stCondLst>
                                    <p:cond delay="1140"/>
                                  </p:stCondLst>
                                  <p:childTnLst>
                                    <p:set>
                                      <p:cBhvr>
                                        <p:cTn id="60" dur="1" fill="hold">
                                          <p:stCondLst>
                                            <p:cond delay="0"/>
                                          </p:stCondLst>
                                        </p:cTn>
                                        <p:tgtEl>
                                          <p:spTgt spid="322"/>
                                        </p:tgtEl>
                                        <p:attrNameLst>
                                          <p:attrName>style.visibility</p:attrName>
                                        </p:attrNameLst>
                                      </p:cBhvr>
                                      <p:to>
                                        <p:strVal val="visible"/>
                                      </p:to>
                                    </p:set>
                                    <p:animEffect transition="in" filter="fade">
                                      <p:cBhvr>
                                        <p:cTn id="61" dur="550"/>
                                        <p:tgtEl>
                                          <p:spTgt spid="322"/>
                                        </p:tgtEl>
                                      </p:cBhvr>
                                    </p:animEffect>
                                  </p:childTnLst>
                                </p:cTn>
                              </p:par>
                              <p:par>
                                <p:cTn id="62" presetID="10" presetClass="entr" presetSubtype="0" fill="hold" nodeType="withEffect">
                                  <p:stCondLst>
                                    <p:cond delay="1140"/>
                                  </p:stCondLst>
                                  <p:childTnLst>
                                    <p:set>
                                      <p:cBhvr>
                                        <p:cTn id="63" dur="1" fill="hold">
                                          <p:stCondLst>
                                            <p:cond delay="0"/>
                                          </p:stCondLst>
                                        </p:cTn>
                                        <p:tgtEl>
                                          <p:spTgt spid="323"/>
                                        </p:tgtEl>
                                        <p:attrNameLst>
                                          <p:attrName>style.visibility</p:attrName>
                                        </p:attrNameLst>
                                      </p:cBhvr>
                                      <p:to>
                                        <p:strVal val="visible"/>
                                      </p:to>
                                    </p:set>
                                    <p:animEffect transition="in" filter="fade">
                                      <p:cBhvr>
                                        <p:cTn id="64" dur="550"/>
                                        <p:tgtEl>
                                          <p:spTgt spid="323"/>
                                        </p:tgtEl>
                                      </p:cBhvr>
                                    </p:animEffect>
                                  </p:childTnLst>
                                </p:cTn>
                              </p:par>
                              <p:par>
                                <p:cTn id="65" presetID="10" presetClass="entr" presetSubtype="0" fill="hold" nodeType="withEffect">
                                  <p:stCondLst>
                                    <p:cond delay="1520"/>
                                  </p:stCondLst>
                                  <p:childTnLst>
                                    <p:set>
                                      <p:cBhvr>
                                        <p:cTn id="66" dur="1" fill="hold">
                                          <p:stCondLst>
                                            <p:cond delay="0"/>
                                          </p:stCondLst>
                                        </p:cTn>
                                        <p:tgtEl>
                                          <p:spTgt spid="324"/>
                                        </p:tgtEl>
                                        <p:attrNameLst>
                                          <p:attrName>style.visibility</p:attrName>
                                        </p:attrNameLst>
                                      </p:cBhvr>
                                      <p:to>
                                        <p:strVal val="visible"/>
                                      </p:to>
                                    </p:set>
                                    <p:animEffect transition="in" filter="fade">
                                      <p:cBhvr>
                                        <p:cTn id="67" dur="550"/>
                                        <p:tgtEl>
                                          <p:spTgt spid="324"/>
                                        </p:tgtEl>
                                      </p:cBhvr>
                                    </p:animEffect>
                                  </p:childTnLst>
                                </p:cTn>
                              </p:par>
                              <p:par>
                                <p:cTn id="68" presetID="10" presetClass="entr" presetSubtype="0" fill="hold" nodeType="withEffect">
                                  <p:stCondLst>
                                    <p:cond delay="1520"/>
                                  </p:stCondLst>
                                  <p:childTnLst>
                                    <p:set>
                                      <p:cBhvr>
                                        <p:cTn id="69" dur="1" fill="hold">
                                          <p:stCondLst>
                                            <p:cond delay="0"/>
                                          </p:stCondLst>
                                        </p:cTn>
                                        <p:tgtEl>
                                          <p:spTgt spid="325"/>
                                        </p:tgtEl>
                                        <p:attrNameLst>
                                          <p:attrName>style.visibility</p:attrName>
                                        </p:attrNameLst>
                                      </p:cBhvr>
                                      <p:to>
                                        <p:strVal val="visible"/>
                                      </p:to>
                                    </p:set>
                                    <p:animEffect transition="in" filter="fade">
                                      <p:cBhvr>
                                        <p:cTn id="70" dur="550"/>
                                        <p:tgtEl>
                                          <p:spTgt spid="325"/>
                                        </p:tgtEl>
                                      </p:cBhvr>
                                    </p:animEffect>
                                  </p:childTnLst>
                                </p:cTn>
                              </p:par>
                              <p:par>
                                <p:cTn id="71" presetID="10" presetClass="entr" presetSubtype="0" fill="hold" nodeType="withEffect">
                                  <p:stCondLst>
                                    <p:cond delay="1520"/>
                                  </p:stCondLst>
                                  <p:childTnLst>
                                    <p:set>
                                      <p:cBhvr>
                                        <p:cTn id="72" dur="1" fill="hold">
                                          <p:stCondLst>
                                            <p:cond delay="0"/>
                                          </p:stCondLst>
                                        </p:cTn>
                                        <p:tgtEl>
                                          <p:spTgt spid="326"/>
                                        </p:tgtEl>
                                        <p:attrNameLst>
                                          <p:attrName>style.visibility</p:attrName>
                                        </p:attrNameLst>
                                      </p:cBhvr>
                                      <p:to>
                                        <p:strVal val="visible"/>
                                      </p:to>
                                    </p:set>
                                    <p:animEffect transition="in" filter="fade">
                                      <p:cBhvr>
                                        <p:cTn id="73" dur="550"/>
                                        <p:tgtEl>
                                          <p:spTgt spid="326"/>
                                        </p:tgtEl>
                                      </p:cBhvr>
                                    </p:animEffect>
                                  </p:childTnLst>
                                </p:cTn>
                              </p:par>
                              <p:par>
                                <p:cTn id="74" presetID="10" presetClass="entr" presetSubtype="0" fill="hold" nodeType="withEffect">
                                  <p:stCondLst>
                                    <p:cond delay="1520"/>
                                  </p:stCondLst>
                                  <p:childTnLst>
                                    <p:set>
                                      <p:cBhvr>
                                        <p:cTn id="75" dur="1" fill="hold">
                                          <p:stCondLst>
                                            <p:cond delay="0"/>
                                          </p:stCondLst>
                                        </p:cTn>
                                        <p:tgtEl>
                                          <p:spTgt spid="327"/>
                                        </p:tgtEl>
                                        <p:attrNameLst>
                                          <p:attrName>style.visibility</p:attrName>
                                        </p:attrNameLst>
                                      </p:cBhvr>
                                      <p:to>
                                        <p:strVal val="visible"/>
                                      </p:to>
                                    </p:set>
                                    <p:animEffect transition="in" filter="fade">
                                      <p:cBhvr>
                                        <p:cTn id="76" dur="550"/>
                                        <p:tgtEl>
                                          <p:spTgt spid="327"/>
                                        </p:tgtEl>
                                      </p:cBhvr>
                                    </p:animEffect>
                                  </p:childTnLst>
                                </p:cTn>
                              </p:par>
                              <p:par>
                                <p:cTn id="77" presetID="10" presetClass="entr" presetSubtype="0" fill="hold" nodeType="withEffect">
                                  <p:stCondLst>
                                    <p:cond delay="1520"/>
                                  </p:stCondLst>
                                  <p:childTnLst>
                                    <p:set>
                                      <p:cBhvr>
                                        <p:cTn id="78" dur="1" fill="hold">
                                          <p:stCondLst>
                                            <p:cond delay="0"/>
                                          </p:stCondLst>
                                        </p:cTn>
                                        <p:tgtEl>
                                          <p:spTgt spid="328"/>
                                        </p:tgtEl>
                                        <p:attrNameLst>
                                          <p:attrName>style.visibility</p:attrName>
                                        </p:attrNameLst>
                                      </p:cBhvr>
                                      <p:to>
                                        <p:strVal val="visible"/>
                                      </p:to>
                                    </p:set>
                                    <p:animEffect transition="in" filter="fade">
                                      <p:cBhvr>
                                        <p:cTn id="79" dur="550"/>
                                        <p:tgtEl>
                                          <p:spTgt spid="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15"/>
          <p:cNvSpPr txBox="1">
            <a:spLocks noGrp="1"/>
          </p:cNvSpPr>
          <p:nvPr>
            <p:ph type="title"/>
          </p:nvPr>
        </p:nvSpPr>
        <p:spPr>
          <a:xfrm>
            <a:off x="731520" y="457200"/>
            <a:ext cx="10698480" cy="100584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4800"/>
              <a:buFont typeface="Calibri"/>
              <a:buNone/>
            </a:pPr>
            <a:r>
              <a:rPr lang="en-US" sz="4800" b="1">
                <a:solidFill>
                  <a:schemeClr val="dk1"/>
                </a:solidFill>
              </a:rPr>
              <a:t>Thank you. Questions?</a:t>
            </a:r>
            <a:endParaRPr sz="4800"/>
          </a:p>
        </p:txBody>
      </p:sp>
      <p:sp>
        <p:nvSpPr>
          <p:cNvPr id="336" name="Google Shape;336;p15"/>
          <p:cNvSpPr txBox="1"/>
          <p:nvPr/>
        </p:nvSpPr>
        <p:spPr>
          <a:xfrm>
            <a:off x="731520" y="1691640"/>
            <a:ext cx="3657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spc="300">
                <a:solidFill>
                  <a:schemeClr val="accent2"/>
                </a:solidFill>
                <a:latin typeface="Calibri"/>
                <a:ea typeface="Calibri"/>
                <a:cs typeface="Calibri"/>
                <a:sym typeface="Calibri"/>
              </a:rPr>
              <a:t>WHAT'S NEXT</a:t>
            </a:r>
            <a:endParaRPr sz="1200" b="0" i="0" u="none" strike="noStrike" cap="none">
              <a:solidFill>
                <a:schemeClr val="dk1"/>
              </a:solidFill>
              <a:latin typeface="Calibri"/>
              <a:ea typeface="Calibri"/>
              <a:cs typeface="Calibri"/>
              <a:sym typeface="Calibri"/>
            </a:endParaRPr>
          </a:p>
        </p:txBody>
      </p:sp>
      <p:sp>
        <p:nvSpPr>
          <p:cNvPr id="337" name="Google Shape;337;p15"/>
          <p:cNvSpPr/>
          <p:nvPr/>
        </p:nvSpPr>
        <p:spPr>
          <a:xfrm>
            <a:off x="731520" y="2148840"/>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8" name="Google Shape;338;p15" descr="preencoded.png"/>
          <p:cNvPicPr preferRelativeResize="0"/>
          <p:nvPr/>
        </p:nvPicPr>
        <p:blipFill rotWithShape="1">
          <a:blip r:embed="rId3">
            <a:alphaModFix/>
          </a:blip>
          <a:srcRect/>
          <a:stretch/>
        </p:blipFill>
        <p:spPr>
          <a:xfrm>
            <a:off x="886054" y="2303374"/>
            <a:ext cx="285293" cy="285293"/>
          </a:xfrm>
          <a:prstGeom prst="rect">
            <a:avLst/>
          </a:prstGeom>
          <a:noFill/>
          <a:ln>
            <a:noFill/>
          </a:ln>
        </p:spPr>
      </p:pic>
      <p:sp>
        <p:nvSpPr>
          <p:cNvPr id="339" name="Google Shape;339;p15"/>
          <p:cNvSpPr txBox="1"/>
          <p:nvPr/>
        </p:nvSpPr>
        <p:spPr>
          <a:xfrm>
            <a:off x="1554480" y="2103120"/>
            <a:ext cx="48463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Live ABDM integration</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D3EBDD"/>
              </a:buClr>
              <a:buSzPts val="1400"/>
              <a:buFont typeface="Calibri"/>
              <a:buNone/>
            </a:pPr>
            <a:r>
              <a:rPr lang="en-US" sz="1400" b="0" i="0" u="none" strike="noStrike" cap="none">
                <a:solidFill>
                  <a:srgbClr val="D3EBDD"/>
                </a:solidFill>
                <a:latin typeface="Calibri"/>
                <a:ea typeface="Calibri"/>
                <a:cs typeface="Calibri"/>
                <a:sym typeface="Calibri"/>
              </a:rPr>
              <a:t>Replace the mock ABHA ID with a real gateway connection.</a:t>
            </a:r>
            <a:endParaRPr sz="1800" b="0" i="0" u="none" strike="noStrike" cap="none">
              <a:solidFill>
                <a:schemeClr val="dk1"/>
              </a:solidFill>
              <a:latin typeface="Calibri"/>
              <a:ea typeface="Calibri"/>
              <a:cs typeface="Calibri"/>
              <a:sym typeface="Calibri"/>
            </a:endParaRPr>
          </a:p>
        </p:txBody>
      </p:sp>
      <p:sp>
        <p:nvSpPr>
          <p:cNvPr id="340" name="Google Shape;340;p15"/>
          <p:cNvSpPr/>
          <p:nvPr/>
        </p:nvSpPr>
        <p:spPr>
          <a:xfrm>
            <a:off x="731520" y="3017520"/>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1" name="Google Shape;341;p15" descr="preencoded.png"/>
          <p:cNvPicPr preferRelativeResize="0"/>
          <p:nvPr/>
        </p:nvPicPr>
        <p:blipFill rotWithShape="1">
          <a:blip r:embed="rId4">
            <a:alphaModFix/>
          </a:blip>
          <a:srcRect/>
          <a:stretch/>
        </p:blipFill>
        <p:spPr>
          <a:xfrm>
            <a:off x="886054" y="3172054"/>
            <a:ext cx="285293" cy="285293"/>
          </a:xfrm>
          <a:prstGeom prst="rect">
            <a:avLst/>
          </a:prstGeom>
          <a:noFill/>
          <a:ln>
            <a:noFill/>
          </a:ln>
        </p:spPr>
      </p:pic>
      <p:sp>
        <p:nvSpPr>
          <p:cNvPr id="342" name="Google Shape;342;p15"/>
          <p:cNvSpPr txBox="1"/>
          <p:nvPr/>
        </p:nvSpPr>
        <p:spPr>
          <a:xfrm>
            <a:off x="1554480" y="2971800"/>
            <a:ext cx="48463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Real device sync</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D3EBDD"/>
              </a:buClr>
              <a:buSzPts val="1400"/>
              <a:buFont typeface="Calibri"/>
              <a:buNone/>
            </a:pPr>
            <a:r>
              <a:rPr lang="en-US" sz="1400" b="0" i="0" u="none" strike="noStrike" cap="none">
                <a:solidFill>
                  <a:srgbClr val="D3EBDD"/>
                </a:solidFill>
                <a:latin typeface="Calibri"/>
                <a:ea typeface="Calibri"/>
                <a:cs typeface="Calibri"/>
                <a:sym typeface="Calibri"/>
              </a:rPr>
              <a:t>Swap simulated wearable readings for live data.</a:t>
            </a:r>
            <a:endParaRPr sz="1800" b="0" i="0" u="none" strike="noStrike" cap="none">
              <a:solidFill>
                <a:schemeClr val="dk1"/>
              </a:solidFill>
              <a:latin typeface="Calibri"/>
              <a:ea typeface="Calibri"/>
              <a:cs typeface="Calibri"/>
              <a:sym typeface="Calibri"/>
            </a:endParaRPr>
          </a:p>
        </p:txBody>
      </p:sp>
      <p:sp>
        <p:nvSpPr>
          <p:cNvPr id="343" name="Google Shape;343;p15"/>
          <p:cNvSpPr/>
          <p:nvPr/>
        </p:nvSpPr>
        <p:spPr>
          <a:xfrm>
            <a:off x="731520" y="3886200"/>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4" name="Google Shape;344;p15" descr="preencoded.png"/>
          <p:cNvPicPr preferRelativeResize="0"/>
          <p:nvPr/>
        </p:nvPicPr>
        <p:blipFill rotWithShape="1">
          <a:blip r:embed="rId5">
            <a:alphaModFix/>
          </a:blip>
          <a:srcRect/>
          <a:stretch/>
        </p:blipFill>
        <p:spPr>
          <a:xfrm>
            <a:off x="886054" y="4040734"/>
            <a:ext cx="285293" cy="285293"/>
          </a:xfrm>
          <a:prstGeom prst="rect">
            <a:avLst/>
          </a:prstGeom>
          <a:noFill/>
          <a:ln>
            <a:noFill/>
          </a:ln>
        </p:spPr>
      </p:pic>
      <p:sp>
        <p:nvSpPr>
          <p:cNvPr id="345" name="Google Shape;345;p15"/>
          <p:cNvSpPr txBox="1"/>
          <p:nvPr/>
        </p:nvSpPr>
        <p:spPr>
          <a:xfrm>
            <a:off x="1554480" y="3840480"/>
            <a:ext cx="48463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Large-file uploads</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D3EBDD"/>
              </a:buClr>
              <a:buSzPts val="1400"/>
              <a:buFont typeface="Calibri"/>
              <a:buNone/>
            </a:pPr>
            <a:r>
              <a:rPr lang="en-US" sz="1400" b="0" i="0" u="none" strike="noStrike" cap="none">
                <a:solidFill>
                  <a:srgbClr val="D3EBDD"/>
                </a:solidFill>
                <a:latin typeface="Calibri"/>
                <a:ea typeface="Calibri"/>
                <a:cs typeface="Calibri"/>
                <a:sym typeface="Calibri"/>
              </a:rPr>
              <a:t>Direct-to-storage flow beyond the 4 MB limit.</a:t>
            </a:r>
            <a:endParaRPr sz="1800" b="0" i="0" u="none" strike="noStrike" cap="none">
              <a:solidFill>
                <a:schemeClr val="dk1"/>
              </a:solidFill>
              <a:latin typeface="Calibri"/>
              <a:ea typeface="Calibri"/>
              <a:cs typeface="Calibri"/>
              <a:sym typeface="Calibri"/>
            </a:endParaRPr>
          </a:p>
        </p:txBody>
      </p:sp>
      <p:sp>
        <p:nvSpPr>
          <p:cNvPr id="346" name="Google Shape;346;p15"/>
          <p:cNvSpPr/>
          <p:nvPr/>
        </p:nvSpPr>
        <p:spPr>
          <a:xfrm>
            <a:off x="6766560" y="1691640"/>
            <a:ext cx="4690872" cy="2514600"/>
          </a:xfrm>
          <a:prstGeom prst="roundRect">
            <a:avLst>
              <a:gd name="adj" fmla="val 5091"/>
            </a:avLst>
          </a:prstGeom>
          <a:solidFill>
            <a:schemeClr val="accent1">
              <a:alpha val="14118"/>
            </a:schemeClr>
          </a:solidFill>
          <a:ln w="12700" cap="flat" cmpd="sng">
            <a:solidFill>
              <a:schemeClr val="accent1">
                <a:alpha val="54902"/>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5"/>
          <p:cNvSpPr txBox="1"/>
          <p:nvPr/>
        </p:nvSpPr>
        <p:spPr>
          <a:xfrm>
            <a:off x="7040880" y="1874520"/>
            <a:ext cx="3657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200"/>
              <a:buFont typeface="Calibri"/>
              <a:buNone/>
            </a:pPr>
            <a:r>
              <a:rPr lang="en-US" sz="1200" b="1" i="0" u="none" strike="noStrike" cap="none" spc="200">
                <a:solidFill>
                  <a:schemeClr val="accent3"/>
                </a:solidFill>
                <a:latin typeface="Calibri"/>
                <a:ea typeface="Calibri"/>
                <a:cs typeface="Calibri"/>
                <a:sym typeface="Calibri"/>
              </a:rPr>
              <a:t>TRY IT LIVE</a:t>
            </a:r>
            <a:endParaRPr sz="1200" b="0" i="0" u="none" strike="noStrike" cap="none">
              <a:solidFill>
                <a:schemeClr val="dk1"/>
              </a:solidFill>
              <a:latin typeface="Calibri"/>
              <a:ea typeface="Calibri"/>
              <a:cs typeface="Calibri"/>
              <a:sym typeface="Calibri"/>
            </a:endParaRPr>
          </a:p>
        </p:txBody>
      </p:sp>
      <p:sp>
        <p:nvSpPr>
          <p:cNvPr id="348" name="Google Shape;348;p15"/>
          <p:cNvSpPr txBox="1"/>
          <p:nvPr/>
        </p:nvSpPr>
        <p:spPr>
          <a:xfrm>
            <a:off x="7040880" y="2194560"/>
            <a:ext cx="429768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200" b="1" i="0" u="sng" strike="noStrike" cap="none">
                <a:solidFill>
                  <a:schemeClr val="hlink"/>
                </a:solidFill>
                <a:latin typeface="Calibri"/>
                <a:ea typeface="Calibri"/>
                <a:cs typeface="Calibri"/>
                <a:sym typeface="Calibri"/>
                <a:hlinkClick r:id="rId6"/>
              </a:rPr>
              <a:t>ai-powered-personal-health-copilot-sigma.vercel.app</a:t>
            </a:r>
            <a:endParaRPr sz="1200" b="0" i="0" u="none" strike="noStrike" cap="none">
              <a:solidFill>
                <a:schemeClr val="dk1"/>
              </a:solidFill>
              <a:latin typeface="Calibri"/>
              <a:ea typeface="Calibri"/>
              <a:cs typeface="Calibri"/>
              <a:sym typeface="Calibri"/>
            </a:endParaRPr>
          </a:p>
        </p:txBody>
      </p:sp>
      <p:sp>
        <p:nvSpPr>
          <p:cNvPr id="349" name="Google Shape;349;p15"/>
          <p:cNvSpPr txBox="1"/>
          <p:nvPr/>
        </p:nvSpPr>
        <p:spPr>
          <a:xfrm>
            <a:off x="7040880" y="3017520"/>
            <a:ext cx="3657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200"/>
              <a:buFont typeface="Calibri"/>
              <a:buNone/>
            </a:pPr>
            <a:r>
              <a:rPr lang="en-US" sz="1200" b="1" i="0" u="none" strike="noStrike" cap="none" spc="200">
                <a:solidFill>
                  <a:schemeClr val="accent3"/>
                </a:solidFill>
                <a:latin typeface="Calibri"/>
                <a:ea typeface="Calibri"/>
                <a:cs typeface="Calibri"/>
                <a:sym typeface="Calibri"/>
              </a:rPr>
              <a:t>SOURCE CODE</a:t>
            </a:r>
            <a:endParaRPr sz="1200" b="0" i="0" u="none" strike="noStrike" cap="none">
              <a:solidFill>
                <a:schemeClr val="dk1"/>
              </a:solidFill>
              <a:latin typeface="Calibri"/>
              <a:ea typeface="Calibri"/>
              <a:cs typeface="Calibri"/>
              <a:sym typeface="Calibri"/>
            </a:endParaRPr>
          </a:p>
        </p:txBody>
      </p:sp>
      <p:sp>
        <p:nvSpPr>
          <p:cNvPr id="350" name="Google Shape;350;p15"/>
          <p:cNvSpPr txBox="1"/>
          <p:nvPr/>
        </p:nvSpPr>
        <p:spPr>
          <a:xfrm>
            <a:off x="7040880" y="3337560"/>
            <a:ext cx="429768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200" b="1" i="0" u="sng" strike="noStrike" cap="none">
                <a:solidFill>
                  <a:schemeClr val="hlink"/>
                </a:solidFill>
                <a:latin typeface="Calibri"/>
                <a:ea typeface="Calibri"/>
                <a:cs typeface="Calibri"/>
                <a:sym typeface="Calibri"/>
                <a:hlinkClick r:id="rId7"/>
              </a:rPr>
              <a:t>github.com/Toufeeqshaik/AI-Powered-Personal-Health-Copilot</a:t>
            </a:r>
            <a:endParaRPr sz="1200" b="0" i="0" u="none" strike="noStrike" cap="none">
              <a:solidFill>
                <a:schemeClr val="dk1"/>
              </a:solidFill>
              <a:latin typeface="Calibri"/>
              <a:ea typeface="Calibri"/>
              <a:cs typeface="Calibri"/>
              <a:sym typeface="Calibri"/>
            </a:endParaRPr>
          </a:p>
        </p:txBody>
      </p:sp>
      <p:sp>
        <p:nvSpPr>
          <p:cNvPr id="351" name="Google Shape;351;p15"/>
          <p:cNvSpPr txBox="1"/>
          <p:nvPr/>
        </p:nvSpPr>
        <p:spPr>
          <a:xfrm>
            <a:off x="731520" y="4572000"/>
            <a:ext cx="5486400" cy="54864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chemeClr val="accent3"/>
              </a:buClr>
              <a:buSzPts val="1400"/>
              <a:buFont typeface="Calibri"/>
              <a:buNone/>
            </a:pPr>
            <a:r>
              <a:rPr lang="en-US" sz="1400" b="1" i="0" u="none" strike="noStrike" cap="none" spc="200">
                <a:solidFill>
                  <a:schemeClr val="accent3"/>
                </a:solidFill>
                <a:latin typeface="Calibri"/>
                <a:ea typeface="Calibri"/>
                <a:cs typeface="Calibri"/>
                <a:sym typeface="Calibri"/>
              </a:rPr>
              <a:t>TEAM  |  </a:t>
            </a:r>
            <a:r>
              <a:rPr lang="en-US" sz="3200" b="1" i="0" u="none" strike="noStrike" cap="none" spc="400">
                <a:solidFill>
                  <a:schemeClr val="accent2"/>
                </a:solidFill>
                <a:latin typeface="Calibri"/>
                <a:ea typeface="Calibri"/>
                <a:cs typeface="Calibri"/>
                <a:sym typeface="Calibri"/>
              </a:rPr>
              <a:t>CODE REDS</a:t>
            </a:r>
            <a:endParaRPr sz="1400" b="0" i="0" u="none" strike="noStrike" cap="none">
              <a:solidFill>
                <a:schemeClr val="dk1"/>
              </a:solidFill>
              <a:latin typeface="Calibri"/>
              <a:ea typeface="Calibri"/>
              <a:cs typeface="Calibri"/>
              <a:sym typeface="Calibri"/>
            </a:endParaRPr>
          </a:p>
        </p:txBody>
      </p:sp>
      <p:sp>
        <p:nvSpPr>
          <p:cNvPr id="352" name="Google Shape;352;p15"/>
          <p:cNvSpPr/>
          <p:nvPr/>
        </p:nvSpPr>
        <p:spPr>
          <a:xfrm>
            <a:off x="731520" y="5212080"/>
            <a:ext cx="3566160" cy="640080"/>
          </a:xfrm>
          <a:prstGeom prst="roundRect">
            <a:avLst>
              <a:gd name="adj" fmla="val 50000"/>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p:cNvSpPr txBox="1"/>
          <p:nvPr/>
        </p:nvSpPr>
        <p:spPr>
          <a:xfrm>
            <a:off x="731520" y="5212080"/>
            <a:ext cx="356616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000"/>
              <a:buFont typeface="Calibri"/>
              <a:buNone/>
            </a:pPr>
            <a:r>
              <a:rPr lang="en-US" sz="1000" b="1" i="0" u="none" strike="noStrike" cap="none" spc="300">
                <a:solidFill>
                  <a:schemeClr val="lt1"/>
                </a:solidFill>
                <a:latin typeface="Calibri"/>
                <a:ea typeface="Calibri"/>
                <a:cs typeface="Calibri"/>
                <a:sym typeface="Calibri"/>
              </a:rPr>
              <a:t>TEAM LEAD</a:t>
            </a:r>
            <a:endParaRPr/>
          </a:p>
          <a:p>
            <a:pPr marL="0" marR="0" lvl="0" indent="0" algn="ctr" rtl="0">
              <a:spcBef>
                <a:spcPts val="0"/>
              </a:spcBef>
              <a:spcAft>
                <a:spcPts val="0"/>
              </a:spcAft>
              <a:buClr>
                <a:schemeClr val="lt1"/>
              </a:buClr>
              <a:buSzPts val="2000"/>
              <a:buFont typeface="Calibri"/>
              <a:buNone/>
            </a:pPr>
            <a:r>
              <a:rPr lang="en-US" sz="2000" b="1" i="0" u="none" strike="noStrike" cap="none">
                <a:solidFill>
                  <a:schemeClr val="lt1"/>
                </a:solidFill>
                <a:latin typeface="Calibri"/>
                <a:ea typeface="Calibri"/>
                <a:cs typeface="Calibri"/>
                <a:sym typeface="Calibri"/>
              </a:rPr>
              <a:t>Mohammad Toufeeq Shaik</a:t>
            </a:r>
            <a:endParaRPr/>
          </a:p>
        </p:txBody>
      </p:sp>
      <p:sp>
        <p:nvSpPr>
          <p:cNvPr id="354" name="Google Shape;354;p15"/>
          <p:cNvSpPr/>
          <p:nvPr/>
        </p:nvSpPr>
        <p:spPr>
          <a:xfrm>
            <a:off x="4434840" y="5303520"/>
            <a:ext cx="1645920" cy="457200"/>
          </a:xfrm>
          <a:prstGeom prst="roundRect">
            <a:avLst>
              <a:gd name="adj" fmla="val 50000"/>
            </a:avLst>
          </a:prstGeom>
          <a:solidFill>
            <a:schemeClr val="dk1">
              <a:alpha val="10196"/>
            </a:schemeClr>
          </a:solidFill>
          <a:ln w="12700" cap="flat" cmpd="sng">
            <a:solidFill>
              <a:schemeClr val="accent1">
                <a:alpha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5"/>
          <p:cNvSpPr txBox="1"/>
          <p:nvPr/>
        </p:nvSpPr>
        <p:spPr>
          <a:xfrm>
            <a:off x="4434840" y="5303520"/>
            <a:ext cx="1645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Satya Karthik</a:t>
            </a:r>
            <a:endParaRPr sz="1400" b="0" i="0" u="none" strike="noStrike" cap="none" dirty="0">
              <a:solidFill>
                <a:schemeClr val="dk1"/>
              </a:solidFill>
              <a:latin typeface="Calibri"/>
              <a:ea typeface="Calibri"/>
              <a:cs typeface="Calibri"/>
              <a:sym typeface="Calibri"/>
            </a:endParaRPr>
          </a:p>
        </p:txBody>
      </p:sp>
      <p:sp>
        <p:nvSpPr>
          <p:cNvPr id="356" name="Google Shape;356;p15"/>
          <p:cNvSpPr/>
          <p:nvPr/>
        </p:nvSpPr>
        <p:spPr>
          <a:xfrm>
            <a:off x="6217920" y="5303520"/>
            <a:ext cx="1645920" cy="457200"/>
          </a:xfrm>
          <a:prstGeom prst="roundRect">
            <a:avLst>
              <a:gd name="adj" fmla="val 50000"/>
            </a:avLst>
          </a:prstGeom>
          <a:solidFill>
            <a:schemeClr val="dk1">
              <a:alpha val="10196"/>
            </a:schemeClr>
          </a:solidFill>
          <a:ln w="12700" cap="flat" cmpd="sng">
            <a:solidFill>
              <a:schemeClr val="accent1">
                <a:alpha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5"/>
          <p:cNvSpPr txBox="1"/>
          <p:nvPr/>
        </p:nvSpPr>
        <p:spPr>
          <a:xfrm>
            <a:off x="6217920" y="5303520"/>
            <a:ext cx="1645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Namratha</a:t>
            </a:r>
            <a:endParaRPr sz="1400" b="0" i="0" u="none" strike="noStrike" cap="none" dirty="0">
              <a:solidFill>
                <a:schemeClr val="dk1"/>
              </a:solidFill>
              <a:latin typeface="Calibri"/>
              <a:ea typeface="Calibri"/>
              <a:cs typeface="Calibri"/>
              <a:sym typeface="Calibri"/>
            </a:endParaRPr>
          </a:p>
        </p:txBody>
      </p:sp>
      <p:sp>
        <p:nvSpPr>
          <p:cNvPr id="358" name="Google Shape;358;p15"/>
          <p:cNvSpPr/>
          <p:nvPr/>
        </p:nvSpPr>
        <p:spPr>
          <a:xfrm>
            <a:off x="8001000" y="5303520"/>
            <a:ext cx="1645920" cy="457200"/>
          </a:xfrm>
          <a:prstGeom prst="roundRect">
            <a:avLst>
              <a:gd name="adj" fmla="val 50000"/>
            </a:avLst>
          </a:prstGeom>
          <a:solidFill>
            <a:schemeClr val="dk1">
              <a:alpha val="10196"/>
            </a:schemeClr>
          </a:solidFill>
          <a:ln w="12700" cap="flat" cmpd="sng">
            <a:solidFill>
              <a:schemeClr val="accent1">
                <a:alpha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5"/>
          <p:cNvSpPr txBox="1"/>
          <p:nvPr/>
        </p:nvSpPr>
        <p:spPr>
          <a:xfrm>
            <a:off x="8001000" y="5303520"/>
            <a:ext cx="1645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Prathyusha</a:t>
            </a:r>
            <a:endParaRPr sz="1400" b="0" i="0" u="none" strike="noStrike" cap="none">
              <a:solidFill>
                <a:schemeClr val="dk1"/>
              </a:solidFill>
              <a:latin typeface="Calibri"/>
              <a:ea typeface="Calibri"/>
              <a:cs typeface="Calibri"/>
              <a:sym typeface="Calibri"/>
            </a:endParaRPr>
          </a:p>
        </p:txBody>
      </p:sp>
      <p:sp>
        <p:nvSpPr>
          <p:cNvPr id="360" name="Google Shape;360;p15"/>
          <p:cNvSpPr/>
          <p:nvPr/>
        </p:nvSpPr>
        <p:spPr>
          <a:xfrm>
            <a:off x="9784080" y="5303520"/>
            <a:ext cx="1645920" cy="457200"/>
          </a:xfrm>
          <a:prstGeom prst="roundRect">
            <a:avLst>
              <a:gd name="adj" fmla="val 50000"/>
            </a:avLst>
          </a:prstGeom>
          <a:solidFill>
            <a:schemeClr val="dk1">
              <a:alpha val="10196"/>
            </a:schemeClr>
          </a:solidFill>
          <a:ln w="12700" cap="flat" cmpd="sng">
            <a:solidFill>
              <a:schemeClr val="accent1">
                <a:alpha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5"/>
          <p:cNvSpPr txBox="1"/>
          <p:nvPr/>
        </p:nvSpPr>
        <p:spPr>
          <a:xfrm>
            <a:off x="9784080" y="5303520"/>
            <a:ext cx="1645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Shanmukha</a:t>
            </a:r>
            <a:endParaRPr sz="1400" b="0" i="0" u="none" strike="noStrike" cap="none">
              <a:solidFill>
                <a:schemeClr val="dk1"/>
              </a:solidFill>
              <a:latin typeface="Calibri"/>
              <a:ea typeface="Calibri"/>
              <a:cs typeface="Calibri"/>
              <a:sym typeface="Calibri"/>
            </a:endParaRPr>
          </a:p>
        </p:txBody>
      </p:sp>
      <p:sp>
        <p:nvSpPr>
          <p:cNvPr id="362" name="Google Shape;362;p15"/>
          <p:cNvSpPr/>
          <p:nvPr/>
        </p:nvSpPr>
        <p:spPr>
          <a:xfrm>
            <a:off x="731520" y="5989320"/>
            <a:ext cx="10698480" cy="548640"/>
          </a:xfrm>
          <a:custGeom>
            <a:avLst/>
            <a:gdLst/>
            <a:ahLst/>
            <a:cxnLst/>
            <a:rect l="l" t="t" r="r" b="b"/>
            <a:pathLst>
              <a:path w="10698480" h="548640" extrusionOk="0">
                <a:moveTo>
                  <a:pt x="0" y="274320"/>
                </a:moveTo>
                <a:lnTo>
                  <a:pt x="3840480" y="274320"/>
                </a:lnTo>
                <a:lnTo>
                  <a:pt x="4023360" y="182880"/>
                </a:lnTo>
                <a:lnTo>
                  <a:pt x="4206240" y="274320"/>
                </a:lnTo>
                <a:lnTo>
                  <a:pt x="4754880" y="274320"/>
                </a:lnTo>
                <a:lnTo>
                  <a:pt x="4892040" y="347472"/>
                </a:lnTo>
                <a:lnTo>
                  <a:pt x="5074920" y="0"/>
                </a:lnTo>
                <a:lnTo>
                  <a:pt x="5257800" y="548640"/>
                </a:lnTo>
                <a:lnTo>
                  <a:pt x="5394960" y="274320"/>
                </a:lnTo>
                <a:lnTo>
                  <a:pt x="5852160" y="274320"/>
                </a:lnTo>
                <a:lnTo>
                  <a:pt x="6080760" y="146304"/>
                </a:lnTo>
                <a:lnTo>
                  <a:pt x="6309360" y="274320"/>
                </a:lnTo>
                <a:lnTo>
                  <a:pt x="10698480" y="274320"/>
                </a:lnTo>
              </a:path>
            </a:pathLst>
          </a:custGeom>
          <a:noFill/>
          <a:ln w="31750" cap="flat" cmpd="sng">
            <a:solidFill>
              <a:schemeClr val="accent2"/>
            </a:solidFill>
            <a:prstDash val="solid"/>
            <a:round/>
            <a:headEnd type="none" w="sm" len="sm"/>
            <a:tailEnd type="none" w="sm" len="sm"/>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6"/>
                                        </p:tgtEl>
                                        <p:attrNameLst>
                                          <p:attrName>style.visibility</p:attrName>
                                        </p:attrNameLst>
                                      </p:cBhvr>
                                      <p:to>
                                        <p:strVal val="visible"/>
                                      </p:to>
                                    </p:set>
                                    <p:animEffect transition="in" filter="fade">
                                      <p:cBhvr>
                                        <p:cTn id="7" dur="550"/>
                                        <p:tgtEl>
                                          <p:spTgt spid="336"/>
                                        </p:tgtEl>
                                      </p:cBhvr>
                                    </p:animEffect>
                                  </p:childTnLst>
                                </p:cTn>
                              </p:par>
                              <p:par>
                                <p:cTn id="8" presetID="10" presetClass="entr" presetSubtype="0" fill="hold" nodeType="withEffect">
                                  <p:stCondLst>
                                    <p:cond delay="0"/>
                                  </p:stCondLst>
                                  <p:childTnLst>
                                    <p:set>
                                      <p:cBhvr>
                                        <p:cTn id="9" dur="1" fill="hold">
                                          <p:stCondLst>
                                            <p:cond delay="0"/>
                                          </p:stCondLst>
                                        </p:cTn>
                                        <p:tgtEl>
                                          <p:spTgt spid="337"/>
                                        </p:tgtEl>
                                        <p:attrNameLst>
                                          <p:attrName>style.visibility</p:attrName>
                                        </p:attrNameLst>
                                      </p:cBhvr>
                                      <p:to>
                                        <p:strVal val="visible"/>
                                      </p:to>
                                    </p:set>
                                    <p:animEffect transition="in" filter="fade">
                                      <p:cBhvr>
                                        <p:cTn id="10" dur="550"/>
                                        <p:tgtEl>
                                          <p:spTgt spid="337"/>
                                        </p:tgtEl>
                                      </p:cBhvr>
                                    </p:animEffect>
                                  </p:childTnLst>
                                </p:cTn>
                              </p:par>
                              <p:par>
                                <p:cTn id="11" presetID="10" presetClass="entr" presetSubtype="0" fill="hold" nodeType="withEffect">
                                  <p:stCondLst>
                                    <p:cond delay="0"/>
                                  </p:stCondLst>
                                  <p:childTnLst>
                                    <p:set>
                                      <p:cBhvr>
                                        <p:cTn id="12" dur="1" fill="hold">
                                          <p:stCondLst>
                                            <p:cond delay="0"/>
                                          </p:stCondLst>
                                        </p:cTn>
                                        <p:tgtEl>
                                          <p:spTgt spid="338"/>
                                        </p:tgtEl>
                                        <p:attrNameLst>
                                          <p:attrName>style.visibility</p:attrName>
                                        </p:attrNameLst>
                                      </p:cBhvr>
                                      <p:to>
                                        <p:strVal val="visible"/>
                                      </p:to>
                                    </p:set>
                                    <p:animEffect transition="in" filter="fade">
                                      <p:cBhvr>
                                        <p:cTn id="13" dur="550"/>
                                        <p:tgtEl>
                                          <p:spTgt spid="338"/>
                                        </p:tgtEl>
                                      </p:cBhvr>
                                    </p:animEffect>
                                  </p:childTnLst>
                                </p:cTn>
                              </p:par>
                              <p:par>
                                <p:cTn id="14" presetID="10" presetClass="entr" presetSubtype="0" fill="hold" nodeType="withEffect">
                                  <p:stCondLst>
                                    <p:cond delay="0"/>
                                  </p:stCondLst>
                                  <p:childTnLst>
                                    <p:set>
                                      <p:cBhvr>
                                        <p:cTn id="15" dur="1" fill="hold">
                                          <p:stCondLst>
                                            <p:cond delay="0"/>
                                          </p:stCondLst>
                                        </p:cTn>
                                        <p:tgtEl>
                                          <p:spTgt spid="339"/>
                                        </p:tgtEl>
                                        <p:attrNameLst>
                                          <p:attrName>style.visibility</p:attrName>
                                        </p:attrNameLst>
                                      </p:cBhvr>
                                      <p:to>
                                        <p:strVal val="visible"/>
                                      </p:to>
                                    </p:set>
                                    <p:animEffect transition="in" filter="fade">
                                      <p:cBhvr>
                                        <p:cTn id="16" dur="550"/>
                                        <p:tgtEl>
                                          <p:spTgt spid="339"/>
                                        </p:tgtEl>
                                      </p:cBhvr>
                                    </p:animEffect>
                                  </p:childTnLst>
                                </p:cTn>
                              </p:par>
                              <p:par>
                                <p:cTn id="17" presetID="10" presetClass="entr" presetSubtype="0" fill="hold" nodeType="withEffect">
                                  <p:stCondLst>
                                    <p:cond delay="380"/>
                                  </p:stCondLst>
                                  <p:childTnLst>
                                    <p:set>
                                      <p:cBhvr>
                                        <p:cTn id="18" dur="1" fill="hold">
                                          <p:stCondLst>
                                            <p:cond delay="0"/>
                                          </p:stCondLst>
                                        </p:cTn>
                                        <p:tgtEl>
                                          <p:spTgt spid="340"/>
                                        </p:tgtEl>
                                        <p:attrNameLst>
                                          <p:attrName>style.visibility</p:attrName>
                                        </p:attrNameLst>
                                      </p:cBhvr>
                                      <p:to>
                                        <p:strVal val="visible"/>
                                      </p:to>
                                    </p:set>
                                    <p:animEffect transition="in" filter="fade">
                                      <p:cBhvr>
                                        <p:cTn id="19" dur="550"/>
                                        <p:tgtEl>
                                          <p:spTgt spid="340"/>
                                        </p:tgtEl>
                                      </p:cBhvr>
                                    </p:animEffect>
                                  </p:childTnLst>
                                </p:cTn>
                              </p:par>
                              <p:par>
                                <p:cTn id="20" presetID="10" presetClass="entr" presetSubtype="0" fill="hold" nodeType="withEffect">
                                  <p:stCondLst>
                                    <p:cond delay="380"/>
                                  </p:stCondLst>
                                  <p:childTnLst>
                                    <p:set>
                                      <p:cBhvr>
                                        <p:cTn id="21" dur="1" fill="hold">
                                          <p:stCondLst>
                                            <p:cond delay="0"/>
                                          </p:stCondLst>
                                        </p:cTn>
                                        <p:tgtEl>
                                          <p:spTgt spid="341"/>
                                        </p:tgtEl>
                                        <p:attrNameLst>
                                          <p:attrName>style.visibility</p:attrName>
                                        </p:attrNameLst>
                                      </p:cBhvr>
                                      <p:to>
                                        <p:strVal val="visible"/>
                                      </p:to>
                                    </p:set>
                                    <p:animEffect transition="in" filter="fade">
                                      <p:cBhvr>
                                        <p:cTn id="22" dur="550"/>
                                        <p:tgtEl>
                                          <p:spTgt spid="341"/>
                                        </p:tgtEl>
                                      </p:cBhvr>
                                    </p:animEffect>
                                  </p:childTnLst>
                                </p:cTn>
                              </p:par>
                              <p:par>
                                <p:cTn id="23" presetID="10" presetClass="entr" presetSubtype="0" fill="hold" nodeType="withEffect">
                                  <p:stCondLst>
                                    <p:cond delay="380"/>
                                  </p:stCondLst>
                                  <p:childTnLst>
                                    <p:set>
                                      <p:cBhvr>
                                        <p:cTn id="24" dur="1" fill="hold">
                                          <p:stCondLst>
                                            <p:cond delay="0"/>
                                          </p:stCondLst>
                                        </p:cTn>
                                        <p:tgtEl>
                                          <p:spTgt spid="342"/>
                                        </p:tgtEl>
                                        <p:attrNameLst>
                                          <p:attrName>style.visibility</p:attrName>
                                        </p:attrNameLst>
                                      </p:cBhvr>
                                      <p:to>
                                        <p:strVal val="visible"/>
                                      </p:to>
                                    </p:set>
                                    <p:animEffect transition="in" filter="fade">
                                      <p:cBhvr>
                                        <p:cTn id="25" dur="550"/>
                                        <p:tgtEl>
                                          <p:spTgt spid="342"/>
                                        </p:tgtEl>
                                      </p:cBhvr>
                                    </p:animEffect>
                                  </p:childTnLst>
                                </p:cTn>
                              </p:par>
                              <p:par>
                                <p:cTn id="26" presetID="10" presetClass="entr" presetSubtype="0" fill="hold" nodeType="withEffect">
                                  <p:stCondLst>
                                    <p:cond delay="760"/>
                                  </p:stCondLst>
                                  <p:childTnLst>
                                    <p:set>
                                      <p:cBhvr>
                                        <p:cTn id="27" dur="1" fill="hold">
                                          <p:stCondLst>
                                            <p:cond delay="0"/>
                                          </p:stCondLst>
                                        </p:cTn>
                                        <p:tgtEl>
                                          <p:spTgt spid="343"/>
                                        </p:tgtEl>
                                        <p:attrNameLst>
                                          <p:attrName>style.visibility</p:attrName>
                                        </p:attrNameLst>
                                      </p:cBhvr>
                                      <p:to>
                                        <p:strVal val="visible"/>
                                      </p:to>
                                    </p:set>
                                    <p:animEffect transition="in" filter="fade">
                                      <p:cBhvr>
                                        <p:cTn id="28" dur="550"/>
                                        <p:tgtEl>
                                          <p:spTgt spid="343"/>
                                        </p:tgtEl>
                                      </p:cBhvr>
                                    </p:animEffect>
                                  </p:childTnLst>
                                </p:cTn>
                              </p:par>
                              <p:par>
                                <p:cTn id="29" presetID="10" presetClass="entr" presetSubtype="0" fill="hold" nodeType="withEffect">
                                  <p:stCondLst>
                                    <p:cond delay="760"/>
                                  </p:stCondLst>
                                  <p:childTnLst>
                                    <p:set>
                                      <p:cBhvr>
                                        <p:cTn id="30" dur="1" fill="hold">
                                          <p:stCondLst>
                                            <p:cond delay="0"/>
                                          </p:stCondLst>
                                        </p:cTn>
                                        <p:tgtEl>
                                          <p:spTgt spid="344"/>
                                        </p:tgtEl>
                                        <p:attrNameLst>
                                          <p:attrName>style.visibility</p:attrName>
                                        </p:attrNameLst>
                                      </p:cBhvr>
                                      <p:to>
                                        <p:strVal val="visible"/>
                                      </p:to>
                                    </p:set>
                                    <p:animEffect transition="in" filter="fade">
                                      <p:cBhvr>
                                        <p:cTn id="31" dur="550"/>
                                        <p:tgtEl>
                                          <p:spTgt spid="344"/>
                                        </p:tgtEl>
                                      </p:cBhvr>
                                    </p:animEffect>
                                  </p:childTnLst>
                                </p:cTn>
                              </p:par>
                              <p:par>
                                <p:cTn id="32" presetID="10" presetClass="entr" presetSubtype="0" fill="hold" nodeType="withEffect">
                                  <p:stCondLst>
                                    <p:cond delay="760"/>
                                  </p:stCondLst>
                                  <p:childTnLst>
                                    <p:set>
                                      <p:cBhvr>
                                        <p:cTn id="33" dur="1" fill="hold">
                                          <p:stCondLst>
                                            <p:cond delay="0"/>
                                          </p:stCondLst>
                                        </p:cTn>
                                        <p:tgtEl>
                                          <p:spTgt spid="345"/>
                                        </p:tgtEl>
                                        <p:attrNameLst>
                                          <p:attrName>style.visibility</p:attrName>
                                        </p:attrNameLst>
                                      </p:cBhvr>
                                      <p:to>
                                        <p:strVal val="visible"/>
                                      </p:to>
                                    </p:set>
                                    <p:animEffect transition="in" filter="fade">
                                      <p:cBhvr>
                                        <p:cTn id="34" dur="550"/>
                                        <p:tgtEl>
                                          <p:spTgt spid="345"/>
                                        </p:tgtEl>
                                      </p:cBhvr>
                                    </p:animEffect>
                                  </p:childTnLst>
                                </p:cTn>
                              </p:par>
                              <p:par>
                                <p:cTn id="35" presetID="10" presetClass="entr" presetSubtype="0" fill="hold" nodeType="withEffect">
                                  <p:stCondLst>
                                    <p:cond delay="1140"/>
                                  </p:stCondLst>
                                  <p:childTnLst>
                                    <p:set>
                                      <p:cBhvr>
                                        <p:cTn id="36" dur="1" fill="hold">
                                          <p:stCondLst>
                                            <p:cond delay="0"/>
                                          </p:stCondLst>
                                        </p:cTn>
                                        <p:tgtEl>
                                          <p:spTgt spid="346"/>
                                        </p:tgtEl>
                                        <p:attrNameLst>
                                          <p:attrName>style.visibility</p:attrName>
                                        </p:attrNameLst>
                                      </p:cBhvr>
                                      <p:to>
                                        <p:strVal val="visible"/>
                                      </p:to>
                                    </p:set>
                                    <p:animEffect transition="in" filter="fade">
                                      <p:cBhvr>
                                        <p:cTn id="37" dur="550"/>
                                        <p:tgtEl>
                                          <p:spTgt spid="346"/>
                                        </p:tgtEl>
                                      </p:cBhvr>
                                    </p:animEffect>
                                  </p:childTnLst>
                                </p:cTn>
                              </p:par>
                              <p:par>
                                <p:cTn id="38" presetID="10" presetClass="entr" presetSubtype="0" fill="hold" nodeType="withEffect">
                                  <p:stCondLst>
                                    <p:cond delay="1140"/>
                                  </p:stCondLst>
                                  <p:childTnLst>
                                    <p:set>
                                      <p:cBhvr>
                                        <p:cTn id="39" dur="1" fill="hold">
                                          <p:stCondLst>
                                            <p:cond delay="0"/>
                                          </p:stCondLst>
                                        </p:cTn>
                                        <p:tgtEl>
                                          <p:spTgt spid="347"/>
                                        </p:tgtEl>
                                        <p:attrNameLst>
                                          <p:attrName>style.visibility</p:attrName>
                                        </p:attrNameLst>
                                      </p:cBhvr>
                                      <p:to>
                                        <p:strVal val="visible"/>
                                      </p:to>
                                    </p:set>
                                    <p:animEffect transition="in" filter="fade">
                                      <p:cBhvr>
                                        <p:cTn id="40" dur="550"/>
                                        <p:tgtEl>
                                          <p:spTgt spid="347"/>
                                        </p:tgtEl>
                                      </p:cBhvr>
                                    </p:animEffect>
                                  </p:childTnLst>
                                </p:cTn>
                              </p:par>
                              <p:par>
                                <p:cTn id="41" presetID="10" presetClass="entr" presetSubtype="0" fill="hold" nodeType="withEffect">
                                  <p:stCondLst>
                                    <p:cond delay="1140"/>
                                  </p:stCondLst>
                                  <p:childTnLst>
                                    <p:set>
                                      <p:cBhvr>
                                        <p:cTn id="42" dur="1" fill="hold">
                                          <p:stCondLst>
                                            <p:cond delay="0"/>
                                          </p:stCondLst>
                                        </p:cTn>
                                        <p:tgtEl>
                                          <p:spTgt spid="348"/>
                                        </p:tgtEl>
                                        <p:attrNameLst>
                                          <p:attrName>style.visibility</p:attrName>
                                        </p:attrNameLst>
                                      </p:cBhvr>
                                      <p:to>
                                        <p:strVal val="visible"/>
                                      </p:to>
                                    </p:set>
                                    <p:animEffect transition="in" filter="fade">
                                      <p:cBhvr>
                                        <p:cTn id="43" dur="550"/>
                                        <p:tgtEl>
                                          <p:spTgt spid="348"/>
                                        </p:tgtEl>
                                      </p:cBhvr>
                                    </p:animEffect>
                                  </p:childTnLst>
                                </p:cTn>
                              </p:par>
                              <p:par>
                                <p:cTn id="44" presetID="10" presetClass="entr" presetSubtype="0" fill="hold" nodeType="withEffect">
                                  <p:stCondLst>
                                    <p:cond delay="1140"/>
                                  </p:stCondLst>
                                  <p:childTnLst>
                                    <p:set>
                                      <p:cBhvr>
                                        <p:cTn id="45" dur="1" fill="hold">
                                          <p:stCondLst>
                                            <p:cond delay="0"/>
                                          </p:stCondLst>
                                        </p:cTn>
                                        <p:tgtEl>
                                          <p:spTgt spid="349"/>
                                        </p:tgtEl>
                                        <p:attrNameLst>
                                          <p:attrName>style.visibility</p:attrName>
                                        </p:attrNameLst>
                                      </p:cBhvr>
                                      <p:to>
                                        <p:strVal val="visible"/>
                                      </p:to>
                                    </p:set>
                                    <p:animEffect transition="in" filter="fade">
                                      <p:cBhvr>
                                        <p:cTn id="46" dur="550"/>
                                        <p:tgtEl>
                                          <p:spTgt spid="349"/>
                                        </p:tgtEl>
                                      </p:cBhvr>
                                    </p:animEffect>
                                  </p:childTnLst>
                                </p:cTn>
                              </p:par>
                              <p:par>
                                <p:cTn id="47" presetID="10" presetClass="entr" presetSubtype="0" fill="hold" nodeType="withEffect">
                                  <p:stCondLst>
                                    <p:cond delay="1140"/>
                                  </p:stCondLst>
                                  <p:childTnLst>
                                    <p:set>
                                      <p:cBhvr>
                                        <p:cTn id="48" dur="1" fill="hold">
                                          <p:stCondLst>
                                            <p:cond delay="0"/>
                                          </p:stCondLst>
                                        </p:cTn>
                                        <p:tgtEl>
                                          <p:spTgt spid="350"/>
                                        </p:tgtEl>
                                        <p:attrNameLst>
                                          <p:attrName>style.visibility</p:attrName>
                                        </p:attrNameLst>
                                      </p:cBhvr>
                                      <p:to>
                                        <p:strVal val="visible"/>
                                      </p:to>
                                    </p:set>
                                    <p:animEffect transition="in" filter="fade">
                                      <p:cBhvr>
                                        <p:cTn id="49" dur="550"/>
                                        <p:tgtEl>
                                          <p:spTgt spid="350"/>
                                        </p:tgtEl>
                                      </p:cBhvr>
                                    </p:animEffect>
                                  </p:childTnLst>
                                </p:cTn>
                              </p:par>
                              <p:par>
                                <p:cTn id="50" presetID="10" presetClass="entr" presetSubtype="0" fill="hold" nodeType="withEffect">
                                  <p:stCondLst>
                                    <p:cond delay="1520"/>
                                  </p:stCondLst>
                                  <p:childTnLst>
                                    <p:set>
                                      <p:cBhvr>
                                        <p:cTn id="51" dur="1" fill="hold">
                                          <p:stCondLst>
                                            <p:cond delay="0"/>
                                          </p:stCondLst>
                                        </p:cTn>
                                        <p:tgtEl>
                                          <p:spTgt spid="351"/>
                                        </p:tgtEl>
                                        <p:attrNameLst>
                                          <p:attrName>style.visibility</p:attrName>
                                        </p:attrNameLst>
                                      </p:cBhvr>
                                      <p:to>
                                        <p:strVal val="visible"/>
                                      </p:to>
                                    </p:set>
                                    <p:animEffect transition="in" filter="fade">
                                      <p:cBhvr>
                                        <p:cTn id="52" dur="550"/>
                                        <p:tgtEl>
                                          <p:spTgt spid="351"/>
                                        </p:tgtEl>
                                      </p:cBhvr>
                                    </p:animEffect>
                                  </p:childTnLst>
                                </p:cTn>
                              </p:par>
                              <p:par>
                                <p:cTn id="53" presetID="10" presetClass="entr" presetSubtype="0" fill="hold" nodeType="withEffect">
                                  <p:stCondLst>
                                    <p:cond delay="1520"/>
                                  </p:stCondLst>
                                  <p:childTnLst>
                                    <p:set>
                                      <p:cBhvr>
                                        <p:cTn id="54" dur="1" fill="hold">
                                          <p:stCondLst>
                                            <p:cond delay="0"/>
                                          </p:stCondLst>
                                        </p:cTn>
                                        <p:tgtEl>
                                          <p:spTgt spid="352"/>
                                        </p:tgtEl>
                                        <p:attrNameLst>
                                          <p:attrName>style.visibility</p:attrName>
                                        </p:attrNameLst>
                                      </p:cBhvr>
                                      <p:to>
                                        <p:strVal val="visible"/>
                                      </p:to>
                                    </p:set>
                                    <p:animEffect transition="in" filter="fade">
                                      <p:cBhvr>
                                        <p:cTn id="55" dur="550"/>
                                        <p:tgtEl>
                                          <p:spTgt spid="352"/>
                                        </p:tgtEl>
                                      </p:cBhvr>
                                    </p:animEffect>
                                  </p:childTnLst>
                                </p:cTn>
                              </p:par>
                              <p:par>
                                <p:cTn id="56" presetID="10" presetClass="entr" presetSubtype="0" fill="hold" nodeType="withEffect">
                                  <p:stCondLst>
                                    <p:cond delay="1520"/>
                                  </p:stCondLst>
                                  <p:childTnLst>
                                    <p:set>
                                      <p:cBhvr>
                                        <p:cTn id="57" dur="1" fill="hold">
                                          <p:stCondLst>
                                            <p:cond delay="0"/>
                                          </p:stCondLst>
                                        </p:cTn>
                                        <p:tgtEl>
                                          <p:spTgt spid="353"/>
                                        </p:tgtEl>
                                        <p:attrNameLst>
                                          <p:attrName>style.visibility</p:attrName>
                                        </p:attrNameLst>
                                      </p:cBhvr>
                                      <p:to>
                                        <p:strVal val="visible"/>
                                      </p:to>
                                    </p:set>
                                    <p:animEffect transition="in" filter="fade">
                                      <p:cBhvr>
                                        <p:cTn id="58" dur="550"/>
                                        <p:tgtEl>
                                          <p:spTgt spid="353"/>
                                        </p:tgtEl>
                                      </p:cBhvr>
                                    </p:animEffect>
                                  </p:childTnLst>
                                </p:cTn>
                              </p:par>
                              <p:par>
                                <p:cTn id="59" presetID="10" presetClass="entr" presetSubtype="0" fill="hold" nodeType="withEffect">
                                  <p:stCondLst>
                                    <p:cond delay="1520"/>
                                  </p:stCondLst>
                                  <p:childTnLst>
                                    <p:set>
                                      <p:cBhvr>
                                        <p:cTn id="60" dur="1" fill="hold">
                                          <p:stCondLst>
                                            <p:cond delay="0"/>
                                          </p:stCondLst>
                                        </p:cTn>
                                        <p:tgtEl>
                                          <p:spTgt spid="354"/>
                                        </p:tgtEl>
                                        <p:attrNameLst>
                                          <p:attrName>style.visibility</p:attrName>
                                        </p:attrNameLst>
                                      </p:cBhvr>
                                      <p:to>
                                        <p:strVal val="visible"/>
                                      </p:to>
                                    </p:set>
                                    <p:animEffect transition="in" filter="fade">
                                      <p:cBhvr>
                                        <p:cTn id="61" dur="550"/>
                                        <p:tgtEl>
                                          <p:spTgt spid="354"/>
                                        </p:tgtEl>
                                      </p:cBhvr>
                                    </p:animEffect>
                                  </p:childTnLst>
                                </p:cTn>
                              </p:par>
                              <p:par>
                                <p:cTn id="62" presetID="10" presetClass="entr" presetSubtype="0" fill="hold" nodeType="withEffect">
                                  <p:stCondLst>
                                    <p:cond delay="1520"/>
                                  </p:stCondLst>
                                  <p:childTnLst>
                                    <p:set>
                                      <p:cBhvr>
                                        <p:cTn id="63" dur="1" fill="hold">
                                          <p:stCondLst>
                                            <p:cond delay="0"/>
                                          </p:stCondLst>
                                        </p:cTn>
                                        <p:tgtEl>
                                          <p:spTgt spid="355"/>
                                        </p:tgtEl>
                                        <p:attrNameLst>
                                          <p:attrName>style.visibility</p:attrName>
                                        </p:attrNameLst>
                                      </p:cBhvr>
                                      <p:to>
                                        <p:strVal val="visible"/>
                                      </p:to>
                                    </p:set>
                                    <p:animEffect transition="in" filter="fade">
                                      <p:cBhvr>
                                        <p:cTn id="64" dur="550"/>
                                        <p:tgtEl>
                                          <p:spTgt spid="355"/>
                                        </p:tgtEl>
                                      </p:cBhvr>
                                    </p:animEffect>
                                  </p:childTnLst>
                                </p:cTn>
                              </p:par>
                              <p:par>
                                <p:cTn id="65" presetID="10" presetClass="entr" presetSubtype="0" fill="hold" nodeType="withEffect">
                                  <p:stCondLst>
                                    <p:cond delay="1520"/>
                                  </p:stCondLst>
                                  <p:childTnLst>
                                    <p:set>
                                      <p:cBhvr>
                                        <p:cTn id="66" dur="1" fill="hold">
                                          <p:stCondLst>
                                            <p:cond delay="0"/>
                                          </p:stCondLst>
                                        </p:cTn>
                                        <p:tgtEl>
                                          <p:spTgt spid="356"/>
                                        </p:tgtEl>
                                        <p:attrNameLst>
                                          <p:attrName>style.visibility</p:attrName>
                                        </p:attrNameLst>
                                      </p:cBhvr>
                                      <p:to>
                                        <p:strVal val="visible"/>
                                      </p:to>
                                    </p:set>
                                    <p:animEffect transition="in" filter="fade">
                                      <p:cBhvr>
                                        <p:cTn id="67" dur="550"/>
                                        <p:tgtEl>
                                          <p:spTgt spid="356"/>
                                        </p:tgtEl>
                                      </p:cBhvr>
                                    </p:animEffect>
                                  </p:childTnLst>
                                </p:cTn>
                              </p:par>
                              <p:par>
                                <p:cTn id="68" presetID="10" presetClass="entr" presetSubtype="0" fill="hold" nodeType="withEffect">
                                  <p:stCondLst>
                                    <p:cond delay="1520"/>
                                  </p:stCondLst>
                                  <p:childTnLst>
                                    <p:set>
                                      <p:cBhvr>
                                        <p:cTn id="69" dur="1" fill="hold">
                                          <p:stCondLst>
                                            <p:cond delay="0"/>
                                          </p:stCondLst>
                                        </p:cTn>
                                        <p:tgtEl>
                                          <p:spTgt spid="357"/>
                                        </p:tgtEl>
                                        <p:attrNameLst>
                                          <p:attrName>style.visibility</p:attrName>
                                        </p:attrNameLst>
                                      </p:cBhvr>
                                      <p:to>
                                        <p:strVal val="visible"/>
                                      </p:to>
                                    </p:set>
                                    <p:animEffect transition="in" filter="fade">
                                      <p:cBhvr>
                                        <p:cTn id="70" dur="550"/>
                                        <p:tgtEl>
                                          <p:spTgt spid="357"/>
                                        </p:tgtEl>
                                      </p:cBhvr>
                                    </p:animEffect>
                                  </p:childTnLst>
                                </p:cTn>
                              </p:par>
                              <p:par>
                                <p:cTn id="71" presetID="10" presetClass="entr" presetSubtype="0" fill="hold" nodeType="withEffect">
                                  <p:stCondLst>
                                    <p:cond delay="1520"/>
                                  </p:stCondLst>
                                  <p:childTnLst>
                                    <p:set>
                                      <p:cBhvr>
                                        <p:cTn id="72" dur="1" fill="hold">
                                          <p:stCondLst>
                                            <p:cond delay="0"/>
                                          </p:stCondLst>
                                        </p:cTn>
                                        <p:tgtEl>
                                          <p:spTgt spid="358"/>
                                        </p:tgtEl>
                                        <p:attrNameLst>
                                          <p:attrName>style.visibility</p:attrName>
                                        </p:attrNameLst>
                                      </p:cBhvr>
                                      <p:to>
                                        <p:strVal val="visible"/>
                                      </p:to>
                                    </p:set>
                                    <p:animEffect transition="in" filter="fade">
                                      <p:cBhvr>
                                        <p:cTn id="73" dur="550"/>
                                        <p:tgtEl>
                                          <p:spTgt spid="358"/>
                                        </p:tgtEl>
                                      </p:cBhvr>
                                    </p:animEffect>
                                  </p:childTnLst>
                                </p:cTn>
                              </p:par>
                              <p:par>
                                <p:cTn id="74" presetID="10" presetClass="entr" presetSubtype="0" fill="hold" nodeType="withEffect">
                                  <p:stCondLst>
                                    <p:cond delay="1520"/>
                                  </p:stCondLst>
                                  <p:childTnLst>
                                    <p:set>
                                      <p:cBhvr>
                                        <p:cTn id="75" dur="1" fill="hold">
                                          <p:stCondLst>
                                            <p:cond delay="0"/>
                                          </p:stCondLst>
                                        </p:cTn>
                                        <p:tgtEl>
                                          <p:spTgt spid="359"/>
                                        </p:tgtEl>
                                        <p:attrNameLst>
                                          <p:attrName>style.visibility</p:attrName>
                                        </p:attrNameLst>
                                      </p:cBhvr>
                                      <p:to>
                                        <p:strVal val="visible"/>
                                      </p:to>
                                    </p:set>
                                    <p:animEffect transition="in" filter="fade">
                                      <p:cBhvr>
                                        <p:cTn id="76" dur="550"/>
                                        <p:tgtEl>
                                          <p:spTgt spid="359"/>
                                        </p:tgtEl>
                                      </p:cBhvr>
                                    </p:animEffect>
                                  </p:childTnLst>
                                </p:cTn>
                              </p:par>
                              <p:par>
                                <p:cTn id="77" presetID="10" presetClass="entr" presetSubtype="0" fill="hold" nodeType="withEffect">
                                  <p:stCondLst>
                                    <p:cond delay="1520"/>
                                  </p:stCondLst>
                                  <p:childTnLst>
                                    <p:set>
                                      <p:cBhvr>
                                        <p:cTn id="78" dur="1" fill="hold">
                                          <p:stCondLst>
                                            <p:cond delay="0"/>
                                          </p:stCondLst>
                                        </p:cTn>
                                        <p:tgtEl>
                                          <p:spTgt spid="360"/>
                                        </p:tgtEl>
                                        <p:attrNameLst>
                                          <p:attrName>style.visibility</p:attrName>
                                        </p:attrNameLst>
                                      </p:cBhvr>
                                      <p:to>
                                        <p:strVal val="visible"/>
                                      </p:to>
                                    </p:set>
                                    <p:animEffect transition="in" filter="fade">
                                      <p:cBhvr>
                                        <p:cTn id="79" dur="550"/>
                                        <p:tgtEl>
                                          <p:spTgt spid="360"/>
                                        </p:tgtEl>
                                      </p:cBhvr>
                                    </p:animEffect>
                                  </p:childTnLst>
                                </p:cTn>
                              </p:par>
                              <p:par>
                                <p:cTn id="80" presetID="10" presetClass="entr" presetSubtype="0" fill="hold" nodeType="withEffect">
                                  <p:stCondLst>
                                    <p:cond delay="1520"/>
                                  </p:stCondLst>
                                  <p:childTnLst>
                                    <p:set>
                                      <p:cBhvr>
                                        <p:cTn id="81" dur="1" fill="hold">
                                          <p:stCondLst>
                                            <p:cond delay="0"/>
                                          </p:stCondLst>
                                        </p:cTn>
                                        <p:tgtEl>
                                          <p:spTgt spid="361"/>
                                        </p:tgtEl>
                                        <p:attrNameLst>
                                          <p:attrName>style.visibility</p:attrName>
                                        </p:attrNameLst>
                                      </p:cBhvr>
                                      <p:to>
                                        <p:strVal val="visible"/>
                                      </p:to>
                                    </p:set>
                                    <p:animEffect transition="in" filter="fade">
                                      <p:cBhvr>
                                        <p:cTn id="82" dur="550"/>
                                        <p:tgtEl>
                                          <p:spTgt spid="361"/>
                                        </p:tgtEl>
                                      </p:cBhvr>
                                    </p:animEffect>
                                  </p:childTnLst>
                                </p:cTn>
                              </p:par>
                              <p:par>
                                <p:cTn id="83" presetID="10" presetClass="entr" presetSubtype="0" fill="hold" nodeType="withEffect">
                                  <p:stCondLst>
                                    <p:cond delay="1900"/>
                                  </p:stCondLst>
                                  <p:childTnLst>
                                    <p:set>
                                      <p:cBhvr>
                                        <p:cTn id="84" dur="1" fill="hold">
                                          <p:stCondLst>
                                            <p:cond delay="0"/>
                                          </p:stCondLst>
                                        </p:cTn>
                                        <p:tgtEl>
                                          <p:spTgt spid="362"/>
                                        </p:tgtEl>
                                        <p:attrNameLst>
                                          <p:attrName>style.visibility</p:attrName>
                                        </p:attrNameLst>
                                      </p:cBhvr>
                                      <p:to>
                                        <p:strVal val="visible"/>
                                      </p:to>
                                    </p:set>
                                    <p:animEffect transition="in" filter="fade">
                                      <p:cBhvr>
                                        <p:cTn id="85" dur="550"/>
                                        <p:tgtEl>
                                          <p:spTgt spid="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ulseAI">
  <a:themeElements>
    <a:clrScheme name="PulseAI">
      <a:dk1>
        <a:srgbClr val="EAFBF1"/>
      </a:dk1>
      <a:lt1>
        <a:srgbClr val="050A07"/>
      </a:lt1>
      <a:dk2>
        <a:srgbClr val="39F58E"/>
      </a:dk2>
      <a:lt2>
        <a:srgbClr val="0D1812"/>
      </a:lt2>
      <a:accent1>
        <a:srgbClr val="22E077"/>
      </a:accent1>
      <a:accent2>
        <a:srgbClr val="B5F23D"/>
      </a:accent2>
      <a:accent3>
        <a:srgbClr val="86F3B5"/>
      </a:accent3>
      <a:accent4>
        <a:srgbClr val="F4B942"/>
      </a:accent4>
      <a:accent5>
        <a:srgbClr val="14B8A6"/>
      </a:accent5>
      <a:accent6>
        <a:srgbClr val="84CC16"/>
      </a:accent6>
      <a:hlink>
        <a:srgbClr val="86F3B5"/>
      </a:hlink>
      <a:folHlink>
        <a:srgbClr val="14B8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ulseAI">
  <a:themeElements>
    <a:clrScheme name="PulseAI">
      <a:dk1>
        <a:srgbClr val="EAFBF1"/>
      </a:dk1>
      <a:lt1>
        <a:srgbClr val="050A07"/>
      </a:lt1>
      <a:dk2>
        <a:srgbClr val="39F58E"/>
      </a:dk2>
      <a:lt2>
        <a:srgbClr val="0D1812"/>
      </a:lt2>
      <a:accent1>
        <a:srgbClr val="22E077"/>
      </a:accent1>
      <a:accent2>
        <a:srgbClr val="B5F23D"/>
      </a:accent2>
      <a:accent3>
        <a:srgbClr val="86F3B5"/>
      </a:accent3>
      <a:accent4>
        <a:srgbClr val="F4B942"/>
      </a:accent4>
      <a:accent5>
        <a:srgbClr val="14B8A6"/>
      </a:accent5>
      <a:accent6>
        <a:srgbClr val="84CC16"/>
      </a:accent6>
      <a:hlink>
        <a:srgbClr val="86F3B5"/>
      </a:hlink>
      <a:folHlink>
        <a:srgbClr val="14B8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1639</Words>
  <Application>Microsoft Office PowerPoint</Application>
  <PresentationFormat>Widescreen</PresentationFormat>
  <Paragraphs>183</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PulseAI</vt:lpstr>
      <vt:lpstr>PulseAI</vt:lpstr>
      <vt:lpstr>Patients can't read their own health records</vt:lpstr>
      <vt:lpstr>Meet PulseAI: one copilot, four steps</vt:lpstr>
      <vt:lpstr>Everything the challenge asked for</vt:lpstr>
      <vt:lpstr>System architecture</vt:lpstr>
      <vt:lpstr>APIs and data model</vt:lpstr>
      <vt:lpstr>Tech stack</vt:lpstr>
      <vt:lpstr>Safe, private and honest by design</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Mohammad Toufeeq Shaik</cp:lastModifiedBy>
  <cp:revision>1</cp:revision>
  <dcterms:modified xsi:type="dcterms:W3CDTF">2026-10-09T04:18:33Z</dcterms:modified>
</cp:coreProperties>
</file>